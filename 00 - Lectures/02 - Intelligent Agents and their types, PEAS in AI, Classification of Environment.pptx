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9"/>
  </p:notesMasterIdLst>
  <p:sldIdLst>
    <p:sldId id="256" r:id="rId2"/>
    <p:sldId id="269" r:id="rId3"/>
    <p:sldId id="386" r:id="rId4"/>
    <p:sldId id="387" r:id="rId5"/>
    <p:sldId id="388" r:id="rId6"/>
    <p:sldId id="390" r:id="rId7"/>
    <p:sldId id="389" r:id="rId8"/>
    <p:sldId id="391" r:id="rId9"/>
    <p:sldId id="271"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6" r:id="rId31"/>
    <p:sldId id="293" r:id="rId32"/>
    <p:sldId id="294" r:id="rId33"/>
    <p:sldId id="295" r:id="rId34"/>
    <p:sldId id="297" r:id="rId35"/>
    <p:sldId id="298" r:id="rId36"/>
    <p:sldId id="299" r:id="rId37"/>
    <p:sldId id="362" r:id="rId38"/>
    <p:sldId id="385" r:id="rId39"/>
    <p:sldId id="258" r:id="rId40"/>
    <p:sldId id="375" r:id="rId41"/>
    <p:sldId id="376" r:id="rId42"/>
    <p:sldId id="377" r:id="rId43"/>
    <p:sldId id="260" r:id="rId44"/>
    <p:sldId id="324" r:id="rId45"/>
    <p:sldId id="628" r:id="rId46"/>
    <p:sldId id="348" r:id="rId47"/>
    <p:sldId id="349" r:id="rId48"/>
    <p:sldId id="353" r:id="rId49"/>
    <p:sldId id="352" r:id="rId50"/>
    <p:sldId id="380" r:id="rId51"/>
    <p:sldId id="370" r:id="rId52"/>
    <p:sldId id="357" r:id="rId53"/>
    <p:sldId id="359" r:id="rId54"/>
    <p:sldId id="360" r:id="rId55"/>
    <p:sldId id="381" r:id="rId56"/>
    <p:sldId id="382" r:id="rId57"/>
    <p:sldId id="363" r:id="rId58"/>
    <p:sldId id="364" r:id="rId59"/>
    <p:sldId id="366" r:id="rId60"/>
    <p:sldId id="378" r:id="rId61"/>
    <p:sldId id="263" r:id="rId62"/>
    <p:sldId id="392" r:id="rId63"/>
    <p:sldId id="383" r:id="rId64"/>
    <p:sldId id="372" r:id="rId65"/>
    <p:sldId id="626" r:id="rId66"/>
    <p:sldId id="627" r:id="rId67"/>
    <p:sldId id="629" r:id="rId68"/>
    <p:sldId id="630" r:id="rId69"/>
    <p:sldId id="631" r:id="rId70"/>
    <p:sldId id="632" r:id="rId71"/>
    <p:sldId id="633" r:id="rId72"/>
    <p:sldId id="634" r:id="rId73"/>
    <p:sldId id="635" r:id="rId74"/>
    <p:sldId id="636" r:id="rId75"/>
    <p:sldId id="367" r:id="rId76"/>
    <p:sldId id="621" r:id="rId77"/>
    <p:sldId id="625"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E4D4"/>
    <a:srgbClr val="B2B3AD"/>
    <a:srgbClr val="96978D"/>
    <a:srgbClr val="A4A59D"/>
    <a:srgbClr val="C6C7C1"/>
    <a:srgbClr val="BEBE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5" autoAdjust="0"/>
    <p:restoredTop sz="96649" autoAdjust="0"/>
  </p:normalViewPr>
  <p:slideViewPr>
    <p:cSldViewPr snapToGrid="0">
      <p:cViewPr varScale="1">
        <p:scale>
          <a:sx n="103" d="100"/>
          <a:sy n="103" d="100"/>
        </p:scale>
        <p:origin x="9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967043-1ED9-4280-B30D-13F4B4DE3247}"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C4BD96-1AF7-4450-99A7-A00EE4A958F9}" type="slidenum">
              <a:rPr lang="en-US" smtClean="0"/>
              <a:t>‹#›</a:t>
            </a:fld>
            <a:endParaRPr lang="en-US"/>
          </a:p>
        </p:txBody>
      </p:sp>
    </p:spTree>
    <p:extLst>
      <p:ext uri="{BB962C8B-B14F-4D97-AF65-F5344CB8AC3E}">
        <p14:creationId xmlns:p14="http://schemas.microsoft.com/office/powerpoint/2010/main" val="3623921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 </a:t>
            </a:r>
            <a:r>
              <a:rPr lang="en-US" dirty="0"/>
              <a:t>Agent function (the decision-making logic)</a:t>
            </a:r>
          </a:p>
          <a:p>
            <a:r>
              <a:rPr lang="en-US" b="1" dirty="0"/>
              <a:t>P*</a:t>
            </a:r>
            <a:r>
              <a:rPr lang="en-US" dirty="0"/>
              <a:t>Percept history (all past observations of the agent)</a:t>
            </a:r>
          </a:p>
          <a:p>
            <a:r>
              <a:rPr lang="en-US" b="1" dirty="0" err="1"/>
              <a:t>A</a:t>
            </a:r>
            <a:r>
              <a:rPr lang="en-US" dirty="0" err="1"/>
              <a:t>Action</a:t>
            </a:r>
            <a:r>
              <a:rPr lang="en-US" dirty="0"/>
              <a:t> (the response the agent takes)</a:t>
            </a:r>
          </a:p>
          <a:p>
            <a:endParaRPr lang="en-US" dirty="0"/>
          </a:p>
          <a:p>
            <a:r>
              <a:rPr lang="en-US" dirty="0"/>
              <a:t>The equation </a:t>
            </a:r>
            <a:r>
              <a:rPr lang="en-US" b="1" dirty="0"/>
              <a:t>f : P* → A</a:t>
            </a:r>
            <a:r>
              <a:rPr lang="en-US" dirty="0"/>
              <a:t> describes how an </a:t>
            </a:r>
            <a:r>
              <a:rPr lang="en-US" b="1" dirty="0"/>
              <a:t>AI agent functions</a:t>
            </a:r>
            <a:r>
              <a:rPr lang="en-US" dirty="0"/>
              <a:t> in decision-making.</a:t>
            </a:r>
          </a:p>
          <a:p>
            <a:r>
              <a:rPr lang="en-US" dirty="0"/>
              <a:t>The </a:t>
            </a:r>
            <a:r>
              <a:rPr lang="en-US" b="1" dirty="0"/>
              <a:t>agent function (f)</a:t>
            </a:r>
            <a:r>
              <a:rPr lang="en-US" dirty="0"/>
              <a:t> takes the </a:t>
            </a:r>
            <a:r>
              <a:rPr lang="en-US" b="1" dirty="0"/>
              <a:t>history of percepts (P*)</a:t>
            </a:r>
            <a:r>
              <a:rPr lang="en-US" dirty="0"/>
              <a:t> as </a:t>
            </a:r>
            <a:r>
              <a:rPr lang="en-US" dirty="0" err="1"/>
              <a:t>input.It</a:t>
            </a:r>
            <a:r>
              <a:rPr lang="en-US" dirty="0"/>
              <a:t> then decides on the </a:t>
            </a:r>
            <a:r>
              <a:rPr lang="en-US" b="1" dirty="0"/>
              <a:t>best action (A)</a:t>
            </a:r>
            <a:r>
              <a:rPr lang="en-US" dirty="0"/>
              <a:t> to </a:t>
            </a:r>
            <a:r>
              <a:rPr lang="en-US" dirty="0" err="1"/>
              <a:t>take.The</a:t>
            </a:r>
            <a:r>
              <a:rPr lang="en-US" dirty="0"/>
              <a:t> agent does </a:t>
            </a:r>
            <a:r>
              <a:rPr lang="en-US" b="1" dirty="0"/>
              <a:t>not just react to the current state</a:t>
            </a:r>
            <a:r>
              <a:rPr lang="en-US" dirty="0"/>
              <a:t> but considers </a:t>
            </a:r>
            <a:r>
              <a:rPr lang="en-US" b="1" dirty="0"/>
              <a:t>past experiences (P*)</a:t>
            </a:r>
            <a:r>
              <a:rPr lang="en-US" dirty="0"/>
              <a:t> to improve decision-making.</a:t>
            </a:r>
          </a:p>
          <a:p>
            <a:endParaRPr lang="en-US" dirty="0"/>
          </a:p>
          <a:p>
            <a:r>
              <a:rPr lang="en-US" b="1" dirty="0"/>
              <a:t>Example 2: Self-Driving Car (Tesla Autopilot)</a:t>
            </a:r>
          </a:p>
          <a:p>
            <a:pPr>
              <a:buFont typeface="Arial" panose="020B0604020202020204" pitchFamily="34" charset="0"/>
              <a:buChar char="•"/>
            </a:pPr>
            <a:r>
              <a:rPr lang="en-US" b="1" dirty="0"/>
              <a:t>Percept history (P*)</a:t>
            </a:r>
            <a:r>
              <a:rPr lang="en-US" dirty="0"/>
              <a:t> = Camera &amp; sensor data from past driving sessions.</a:t>
            </a:r>
          </a:p>
          <a:p>
            <a:pPr>
              <a:buFont typeface="Arial" panose="020B0604020202020204" pitchFamily="34" charset="0"/>
              <a:buChar char="•"/>
            </a:pPr>
            <a:r>
              <a:rPr lang="en-US" b="1" dirty="0"/>
              <a:t>Agent function (f)</a:t>
            </a:r>
            <a:r>
              <a:rPr lang="en-US" dirty="0"/>
              <a:t> = AI decision-making algorithm (neural network).</a:t>
            </a:r>
          </a:p>
          <a:p>
            <a:pPr>
              <a:buFont typeface="Arial" panose="020B0604020202020204" pitchFamily="34" charset="0"/>
              <a:buChar char="•"/>
            </a:pPr>
            <a:r>
              <a:rPr lang="en-US" b="1" dirty="0"/>
              <a:t>Action (A)</a:t>
            </a:r>
            <a:r>
              <a:rPr lang="en-US" dirty="0"/>
              <a:t> = Adjust speed, turn, or stop.</a:t>
            </a:r>
          </a:p>
          <a:p>
            <a:endParaRPr lang="en-US" dirty="0"/>
          </a:p>
        </p:txBody>
      </p:sp>
      <p:sp>
        <p:nvSpPr>
          <p:cNvPr id="4" name="Slide Number Placeholder 3"/>
          <p:cNvSpPr>
            <a:spLocks noGrp="1"/>
          </p:cNvSpPr>
          <p:nvPr>
            <p:ph type="sldNum" sz="quarter" idx="5"/>
          </p:nvPr>
        </p:nvSpPr>
        <p:spPr/>
        <p:txBody>
          <a:bodyPr/>
          <a:lstStyle/>
          <a:p>
            <a:fld id="{352FC938-4A78-4A4A-87D7-E2AAD9215F5E}" type="slidenum">
              <a:rPr lang="en-US" smtClean="0"/>
              <a:t>39</a:t>
            </a:fld>
            <a:endParaRPr lang="en-US"/>
          </a:p>
        </p:txBody>
      </p:sp>
    </p:spTree>
    <p:extLst>
      <p:ext uri="{BB962C8B-B14F-4D97-AF65-F5344CB8AC3E}">
        <p14:creationId xmlns:p14="http://schemas.microsoft.com/office/powerpoint/2010/main" val="873504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Prior Knowledge</a:t>
            </a:r>
            <a:r>
              <a:rPr lang="en-US" dirty="0"/>
              <a:t> – Information that is </a:t>
            </a:r>
            <a:r>
              <a:rPr lang="en-US" b="1" dirty="0"/>
              <a:t>pre-programmed</a:t>
            </a:r>
            <a:r>
              <a:rPr lang="en-US" dirty="0"/>
              <a:t> into the AI.</a:t>
            </a:r>
            <a:br>
              <a:rPr lang="en-US" dirty="0"/>
            </a:br>
            <a:r>
              <a:rPr lang="en-US" b="1" dirty="0"/>
              <a:t>Past Experience</a:t>
            </a:r>
            <a:r>
              <a:rPr lang="en-US" dirty="0"/>
              <a:t> – Information that the AI </a:t>
            </a:r>
            <a:r>
              <a:rPr lang="en-US" b="1" dirty="0"/>
              <a:t>learns</a:t>
            </a:r>
            <a:r>
              <a:rPr lang="en-US" dirty="0"/>
              <a:t> from its environment over time.</a:t>
            </a:r>
          </a:p>
          <a:p>
            <a:r>
              <a:rPr lang="en-US" dirty="0"/>
              <a:t>A self-driving car </a:t>
            </a:r>
            <a:r>
              <a:rPr lang="en-US" b="1" dirty="0"/>
              <a:t>knows the rules of the road</a:t>
            </a:r>
            <a:r>
              <a:rPr lang="en-US" dirty="0"/>
              <a:t> before driving.</a:t>
            </a:r>
            <a:br>
              <a:rPr lang="en-US" dirty="0"/>
            </a:br>
            <a:r>
              <a:rPr lang="en-US" dirty="0"/>
              <a:t>A chess-playing AI </a:t>
            </a:r>
            <a:r>
              <a:rPr lang="en-US" b="1" dirty="0"/>
              <a:t>knows the rules of chess</a:t>
            </a:r>
            <a:r>
              <a:rPr lang="en-US" dirty="0"/>
              <a:t> before it starts playing.</a:t>
            </a:r>
            <a:br>
              <a:rPr lang="en-US" dirty="0"/>
            </a:br>
            <a:r>
              <a:rPr lang="en-US" dirty="0"/>
              <a:t>A robot </a:t>
            </a:r>
            <a:r>
              <a:rPr lang="en-US" b="1" dirty="0"/>
              <a:t>knows object categories</a:t>
            </a:r>
            <a:r>
              <a:rPr lang="en-US" dirty="0"/>
              <a:t> (e.g., what is a door, table, human).</a:t>
            </a:r>
          </a:p>
          <a:p>
            <a:endParaRPr lang="en-US" dirty="0"/>
          </a:p>
          <a:p>
            <a:r>
              <a:rPr lang="en-US" dirty="0"/>
              <a:t>A self-driving car </a:t>
            </a:r>
            <a:r>
              <a:rPr lang="en-US" b="1" dirty="0"/>
              <a:t>learns from past mistakes</a:t>
            </a:r>
            <a:r>
              <a:rPr lang="en-US" dirty="0"/>
              <a:t> (e.g., braking too hard).</a:t>
            </a:r>
            <a:br>
              <a:rPr lang="en-US" dirty="0"/>
            </a:br>
            <a:r>
              <a:rPr lang="en-US" dirty="0"/>
              <a:t>A chatbot </a:t>
            </a:r>
            <a:r>
              <a:rPr lang="en-US" b="1" dirty="0"/>
              <a:t>learns new slang words</a:t>
            </a:r>
            <a:r>
              <a:rPr lang="en-US" dirty="0"/>
              <a:t> from user interactions.</a:t>
            </a:r>
            <a:br>
              <a:rPr lang="en-US" dirty="0"/>
            </a:br>
            <a:r>
              <a:rPr lang="en-US" dirty="0"/>
              <a:t>A robot </a:t>
            </a:r>
            <a:r>
              <a:rPr lang="en-US" b="1" dirty="0"/>
              <a:t>adjusts how much force to use</a:t>
            </a:r>
            <a:r>
              <a:rPr lang="en-US" dirty="0"/>
              <a:t> when picking up objects.</a:t>
            </a:r>
          </a:p>
        </p:txBody>
      </p:sp>
      <p:sp>
        <p:nvSpPr>
          <p:cNvPr id="4" name="Slide Number Placeholder 3"/>
          <p:cNvSpPr>
            <a:spLocks noGrp="1"/>
          </p:cNvSpPr>
          <p:nvPr>
            <p:ph type="sldNum" sz="quarter" idx="5"/>
          </p:nvPr>
        </p:nvSpPr>
        <p:spPr/>
        <p:txBody>
          <a:bodyPr/>
          <a:lstStyle/>
          <a:p>
            <a:fld id="{352FC938-4A78-4A4A-87D7-E2AAD9215F5E}" type="slidenum">
              <a:rPr lang="en-US" smtClean="0"/>
              <a:t>42</a:t>
            </a:fld>
            <a:endParaRPr lang="en-US"/>
          </a:p>
        </p:txBody>
      </p:sp>
    </p:spTree>
    <p:extLst>
      <p:ext uri="{BB962C8B-B14F-4D97-AF65-F5344CB8AC3E}">
        <p14:creationId xmlns:p14="http://schemas.microsoft.com/office/powerpoint/2010/main" val="145361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54689AE-CB4D-5E97-1D4C-63AB686A07C3}"/>
              </a:ext>
            </a:extLst>
          </p:cNvPr>
          <p:cNvSpPr/>
          <p:nvPr userDrawn="1"/>
        </p:nvSpPr>
        <p:spPr>
          <a:xfrm>
            <a:off x="0" y="-42532"/>
            <a:ext cx="12192000" cy="690053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2" name="Title 1">
            <a:extLst>
              <a:ext uri="{FF2B5EF4-FFF2-40B4-BE49-F238E27FC236}">
                <a16:creationId xmlns:a16="http://schemas.microsoft.com/office/drawing/2014/main" id="{474873A6-FC85-F129-0FF3-6D9468FF2ADC}"/>
              </a:ext>
            </a:extLst>
          </p:cNvPr>
          <p:cNvSpPr>
            <a:spLocks noGrp="1"/>
          </p:cNvSpPr>
          <p:nvPr>
            <p:ph type="ctrTitle" hasCustomPrompt="1"/>
          </p:nvPr>
        </p:nvSpPr>
        <p:spPr>
          <a:xfrm>
            <a:off x="1156515" y="2208190"/>
            <a:ext cx="10259568" cy="1305404"/>
          </a:xfrm>
        </p:spPr>
        <p:txBody>
          <a:bodyPr anchor="b"/>
          <a:lstStyle>
            <a:lvl1pPr algn="ctr">
              <a:defRPr sz="6000" b="1">
                <a:solidFill>
                  <a:schemeClr val="accent1">
                    <a:lumMod val="75000"/>
                    <a:lumOff val="25000"/>
                  </a:schemeClr>
                </a:solidFill>
              </a:defRPr>
            </a:lvl1pPr>
          </a:lstStyle>
          <a:p>
            <a:r>
              <a:rPr lang="en-US" dirty="0"/>
              <a:t>CS302 – Artificial Intelligence</a:t>
            </a:r>
          </a:p>
        </p:txBody>
      </p:sp>
      <p:sp>
        <p:nvSpPr>
          <p:cNvPr id="3" name="Subtitle 2">
            <a:extLst>
              <a:ext uri="{FF2B5EF4-FFF2-40B4-BE49-F238E27FC236}">
                <a16:creationId xmlns:a16="http://schemas.microsoft.com/office/drawing/2014/main" id="{B986E857-2B66-8433-D469-E0F15F210421}"/>
              </a:ext>
            </a:extLst>
          </p:cNvPr>
          <p:cNvSpPr>
            <a:spLocks noGrp="1"/>
          </p:cNvSpPr>
          <p:nvPr>
            <p:ph type="subTitle" idx="1"/>
          </p:nvPr>
        </p:nvSpPr>
        <p:spPr>
          <a:xfrm>
            <a:off x="1156515" y="3602038"/>
            <a:ext cx="1025956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194660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EF40D-520F-F4CA-0576-5338E0573BB8}"/>
              </a:ext>
            </a:extLst>
          </p:cNvPr>
          <p:cNvSpPr>
            <a:spLocks noGrp="1"/>
          </p:cNvSpPr>
          <p:nvPr>
            <p:ph type="title"/>
          </p:nvPr>
        </p:nvSpPr>
        <p:spPr>
          <a:xfrm>
            <a:off x="287765" y="33251"/>
            <a:ext cx="11381518" cy="820694"/>
          </a:xfrm>
        </p:spPr>
        <p:txBody>
          <a:bodyPr/>
          <a:lstStyle>
            <a:lvl1pPr>
              <a:defRPr b="1">
                <a:solidFill>
                  <a:schemeClr val="accent1">
                    <a:lumMod val="75000"/>
                    <a:lumOff val="2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C33DA2AB-11BE-1B22-FF80-605EED1A19B9}"/>
              </a:ext>
            </a:extLst>
          </p:cNvPr>
          <p:cNvSpPr>
            <a:spLocks noGrp="1"/>
          </p:cNvSpPr>
          <p:nvPr>
            <p:ph idx="1"/>
          </p:nvPr>
        </p:nvSpPr>
        <p:spPr>
          <a:xfrm>
            <a:off x="287766" y="960121"/>
            <a:ext cx="11751834" cy="5715887"/>
          </a:xfrm>
        </p:spPr>
        <p:txBody>
          <a:bodyPr/>
          <a:lstStyle>
            <a:lvl1pPr algn="just">
              <a:defRPr>
                <a:solidFill>
                  <a:schemeClr val="tx1"/>
                </a:solidFill>
                <a:latin typeface="+mj-lt"/>
              </a:defRPr>
            </a:lvl1pPr>
            <a:lvl2pPr algn="just">
              <a:defRPr>
                <a:solidFill>
                  <a:schemeClr val="tx1"/>
                </a:solidFill>
                <a:latin typeface="+mj-lt"/>
              </a:defRPr>
            </a:lvl2pPr>
            <a:lvl3pPr algn="just">
              <a:defRPr>
                <a:solidFill>
                  <a:schemeClr val="tx1"/>
                </a:solidFill>
                <a:latin typeface="+mj-lt"/>
              </a:defRPr>
            </a:lvl3pPr>
            <a:lvl4pPr algn="just">
              <a:defRPr>
                <a:solidFill>
                  <a:schemeClr val="tx1"/>
                </a:solidFill>
                <a:latin typeface="+mj-lt"/>
              </a:defRPr>
            </a:lvl4pPr>
            <a:lvl5pPr algn="just">
              <a:defRPr>
                <a:solidFill>
                  <a:schemeClr val="tx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4817B780-5025-987F-3DC3-184DB53C7341}"/>
              </a:ext>
            </a:extLst>
          </p:cNvPr>
          <p:cNvSpPr>
            <a:spLocks noGrp="1"/>
          </p:cNvSpPr>
          <p:nvPr>
            <p:ph type="sldNum" sz="quarter" idx="4"/>
          </p:nvPr>
        </p:nvSpPr>
        <p:spPr>
          <a:xfrm>
            <a:off x="10319823" y="6445378"/>
            <a:ext cx="1689100" cy="365125"/>
          </a:xfrm>
          <a:prstGeom prst="rect">
            <a:avLst/>
          </a:prstGeom>
        </p:spPr>
        <p:txBody>
          <a:bodyPr vert="horz" lIns="91440" tIns="45720" rIns="91440" bIns="45720" rtlCol="0" anchor="ctr"/>
          <a:lstStyle>
            <a:lvl1pPr algn="r">
              <a:defRPr sz="1800" b="1">
                <a:solidFill>
                  <a:schemeClr val="accent1">
                    <a:lumMod val="75000"/>
                    <a:lumOff val="25000"/>
                  </a:schemeClr>
                </a:solidFill>
              </a:defRPr>
            </a:lvl1pPr>
          </a:lstStyle>
          <a:p>
            <a:fld id="{7472CE09-311C-4CDB-87AD-5FE14EBCB3AD}" type="slidenum">
              <a:rPr lang="en-US" smtClean="0"/>
              <a:pPr/>
              <a:t>‹#›</a:t>
            </a:fld>
            <a:endParaRPr lang="en-US" dirty="0"/>
          </a:p>
        </p:txBody>
      </p:sp>
    </p:spTree>
    <p:extLst>
      <p:ext uri="{BB962C8B-B14F-4D97-AF65-F5344CB8AC3E}">
        <p14:creationId xmlns:p14="http://schemas.microsoft.com/office/powerpoint/2010/main" val="32519525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9390B-285F-2C66-D3FE-5B823F0AEC1A}"/>
              </a:ext>
            </a:extLst>
          </p:cNvPr>
          <p:cNvSpPr>
            <a:spLocks noGrp="1"/>
          </p:cNvSpPr>
          <p:nvPr>
            <p:ph type="title"/>
          </p:nvPr>
        </p:nvSpPr>
        <p:spPr>
          <a:xfrm>
            <a:off x="831850" y="1709738"/>
            <a:ext cx="10515600" cy="2586037"/>
          </a:xfrm>
        </p:spPr>
        <p:txBody>
          <a:bodyPr anchor="b"/>
          <a:lstStyle>
            <a:lvl1pPr algn="ct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DA37D06B-72EC-43BE-409D-39B6E53EBF48}"/>
              </a:ext>
            </a:extLst>
          </p:cNvPr>
          <p:cNvSpPr>
            <a:spLocks noGrp="1"/>
          </p:cNvSpPr>
          <p:nvPr>
            <p:ph type="body" idx="1"/>
          </p:nvPr>
        </p:nvSpPr>
        <p:spPr>
          <a:xfrm>
            <a:off x="831850" y="4362451"/>
            <a:ext cx="10515600" cy="1727200"/>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204F5279-CD73-19B5-AEA6-B78C3CC59E90}"/>
              </a:ext>
            </a:extLst>
          </p:cNvPr>
          <p:cNvSpPr>
            <a:spLocks noGrp="1"/>
          </p:cNvSpPr>
          <p:nvPr>
            <p:ph type="sldNum" sz="quarter" idx="12"/>
          </p:nvPr>
        </p:nvSpPr>
        <p:spPr>
          <a:xfrm>
            <a:off x="10319823" y="6480890"/>
            <a:ext cx="1689100" cy="365125"/>
          </a:xfrm>
          <a:prstGeom prst="rect">
            <a:avLst/>
          </a:prstGeom>
        </p:spPr>
        <p:txBody>
          <a:bodyPr/>
          <a:lstStyle/>
          <a:p>
            <a:fld id="{7472CE09-311C-4CDB-87AD-5FE14EBCB3AD}" type="slidenum">
              <a:rPr lang="en-US" smtClean="0"/>
              <a:t>‹#›</a:t>
            </a:fld>
            <a:endParaRPr lang="en-US"/>
          </a:p>
        </p:txBody>
      </p:sp>
    </p:spTree>
    <p:extLst>
      <p:ext uri="{BB962C8B-B14F-4D97-AF65-F5344CB8AC3E}">
        <p14:creationId xmlns:p14="http://schemas.microsoft.com/office/powerpoint/2010/main" val="2737883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74FB-C9E5-C168-20A6-B3138D436B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2E0BE-046F-1656-A145-BBACA25D71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CC35C7-5AD0-4BB9-3A77-57B8F6E980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214E76BB-C4E6-01DD-0010-DFAB60E04243}"/>
              </a:ext>
            </a:extLst>
          </p:cNvPr>
          <p:cNvSpPr>
            <a:spLocks noGrp="1"/>
          </p:cNvSpPr>
          <p:nvPr>
            <p:ph type="sldNum" sz="quarter" idx="12"/>
          </p:nvPr>
        </p:nvSpPr>
        <p:spPr>
          <a:xfrm>
            <a:off x="10319823" y="6480890"/>
            <a:ext cx="1689100" cy="365125"/>
          </a:xfrm>
          <a:prstGeom prst="rect">
            <a:avLst/>
          </a:prstGeom>
        </p:spPr>
        <p:txBody>
          <a:bodyPr/>
          <a:lstStyle>
            <a:lvl1pPr>
              <a:defRPr>
                <a:solidFill>
                  <a:schemeClr val="accent1">
                    <a:lumMod val="75000"/>
                    <a:lumOff val="25000"/>
                  </a:schemeClr>
                </a:solidFill>
              </a:defRPr>
            </a:lvl1pPr>
          </a:lstStyle>
          <a:p>
            <a:fld id="{7472CE09-311C-4CDB-87AD-5FE14EBCB3AD}" type="slidenum">
              <a:rPr lang="en-US" smtClean="0"/>
              <a:pPr/>
              <a:t>‹#›</a:t>
            </a:fld>
            <a:endParaRPr lang="en-US"/>
          </a:p>
        </p:txBody>
      </p:sp>
    </p:spTree>
    <p:extLst>
      <p:ext uri="{BB962C8B-B14F-4D97-AF65-F5344CB8AC3E}">
        <p14:creationId xmlns:p14="http://schemas.microsoft.com/office/powerpoint/2010/main" val="3122793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C54BE-9621-56F0-9219-A17957FDF0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343CC7-D7C2-023B-1C8F-090430ACA0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C24881-EEE8-DDD3-EDE0-54CB2733B2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F64512-393A-A3D4-FBDE-1188EEFE48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53AABB-DAFA-7136-A2A0-006C345DB1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BEA6C1CE-5C88-9011-ACE6-158D2F0C1BC9}"/>
              </a:ext>
            </a:extLst>
          </p:cNvPr>
          <p:cNvSpPr>
            <a:spLocks noGrp="1"/>
          </p:cNvSpPr>
          <p:nvPr>
            <p:ph type="sldNum" sz="quarter" idx="12"/>
          </p:nvPr>
        </p:nvSpPr>
        <p:spPr>
          <a:xfrm>
            <a:off x="10319823" y="6480890"/>
            <a:ext cx="1689100" cy="365125"/>
          </a:xfrm>
          <a:prstGeom prst="rect">
            <a:avLst/>
          </a:prstGeom>
        </p:spPr>
        <p:txBody>
          <a:bodyPr/>
          <a:lstStyle/>
          <a:p>
            <a:fld id="{7472CE09-311C-4CDB-87AD-5FE14EBCB3AD}" type="slidenum">
              <a:rPr lang="en-US" smtClean="0"/>
              <a:t>‹#›</a:t>
            </a:fld>
            <a:endParaRPr lang="en-US"/>
          </a:p>
        </p:txBody>
      </p:sp>
    </p:spTree>
    <p:extLst>
      <p:ext uri="{BB962C8B-B14F-4D97-AF65-F5344CB8AC3E}">
        <p14:creationId xmlns:p14="http://schemas.microsoft.com/office/powerpoint/2010/main" val="1763663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BE0DF-359C-3772-3B71-EFDA2F53A59A}"/>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03212C9-60ED-12F0-F460-F845501CD978}"/>
              </a:ext>
            </a:extLst>
          </p:cNvPr>
          <p:cNvSpPr>
            <a:spLocks noGrp="1"/>
          </p:cNvSpPr>
          <p:nvPr>
            <p:ph type="sldNum" sz="quarter" idx="12"/>
          </p:nvPr>
        </p:nvSpPr>
        <p:spPr>
          <a:xfrm>
            <a:off x="10319823" y="6480890"/>
            <a:ext cx="1689100" cy="365125"/>
          </a:xfrm>
          <a:prstGeom prst="rect">
            <a:avLst/>
          </a:prstGeom>
        </p:spPr>
        <p:txBody>
          <a:bodyPr/>
          <a:lstStyle/>
          <a:p>
            <a:fld id="{7472CE09-311C-4CDB-87AD-5FE14EBCB3AD}" type="slidenum">
              <a:rPr lang="en-US" smtClean="0"/>
              <a:t>‹#›</a:t>
            </a:fld>
            <a:endParaRPr lang="en-US"/>
          </a:p>
        </p:txBody>
      </p:sp>
    </p:spTree>
    <p:extLst>
      <p:ext uri="{BB962C8B-B14F-4D97-AF65-F5344CB8AC3E}">
        <p14:creationId xmlns:p14="http://schemas.microsoft.com/office/powerpoint/2010/main" val="66249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D2C46D-2B95-949D-3D28-C145FC36D55B}"/>
              </a:ext>
            </a:extLst>
          </p:cNvPr>
          <p:cNvSpPr>
            <a:spLocks noGrp="1"/>
          </p:cNvSpPr>
          <p:nvPr>
            <p:ph type="sldNum" sz="quarter" idx="12"/>
          </p:nvPr>
        </p:nvSpPr>
        <p:spPr>
          <a:xfrm>
            <a:off x="10319823" y="6480890"/>
            <a:ext cx="1689100" cy="365125"/>
          </a:xfrm>
          <a:prstGeom prst="rect">
            <a:avLst/>
          </a:prstGeom>
        </p:spPr>
        <p:txBody>
          <a:bodyPr/>
          <a:lstStyle/>
          <a:p>
            <a:fld id="{7472CE09-311C-4CDB-87AD-5FE14EBCB3AD}" type="slidenum">
              <a:rPr lang="en-US" smtClean="0"/>
              <a:t>‹#›</a:t>
            </a:fld>
            <a:endParaRPr lang="en-US"/>
          </a:p>
        </p:txBody>
      </p:sp>
    </p:spTree>
    <p:extLst>
      <p:ext uri="{BB962C8B-B14F-4D97-AF65-F5344CB8AC3E}">
        <p14:creationId xmlns:p14="http://schemas.microsoft.com/office/powerpoint/2010/main" val="2649054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04F23-B588-F794-09EC-A2398E2BBA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0556CA-F0FE-7F30-B301-68E86B42D5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25B6BF-FC9D-7271-45F2-8A2CDC471C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55451AB9-EA21-649F-D191-F1AC7A8763D0}"/>
              </a:ext>
            </a:extLst>
          </p:cNvPr>
          <p:cNvSpPr>
            <a:spLocks noGrp="1"/>
          </p:cNvSpPr>
          <p:nvPr>
            <p:ph type="sldNum" sz="quarter" idx="12"/>
          </p:nvPr>
        </p:nvSpPr>
        <p:spPr>
          <a:xfrm>
            <a:off x="10319823" y="6480890"/>
            <a:ext cx="1689100" cy="365125"/>
          </a:xfrm>
          <a:prstGeom prst="rect">
            <a:avLst/>
          </a:prstGeom>
        </p:spPr>
        <p:txBody>
          <a:bodyPr/>
          <a:lstStyle/>
          <a:p>
            <a:fld id="{7472CE09-311C-4CDB-87AD-5FE14EBCB3AD}" type="slidenum">
              <a:rPr lang="en-US" smtClean="0"/>
              <a:t>‹#›</a:t>
            </a:fld>
            <a:endParaRPr lang="en-US"/>
          </a:p>
        </p:txBody>
      </p:sp>
    </p:spTree>
    <p:extLst>
      <p:ext uri="{BB962C8B-B14F-4D97-AF65-F5344CB8AC3E}">
        <p14:creationId xmlns:p14="http://schemas.microsoft.com/office/powerpoint/2010/main" val="831399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9EF64-BD0E-7FFD-41EF-96D6A2913B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D307B4-313F-A6E9-69DA-57E1B9E03E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4F3271-8CA8-9B7C-8ED5-D3E0D8F23F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28AF880D-EF92-559D-6033-0C6E972C912B}"/>
              </a:ext>
            </a:extLst>
          </p:cNvPr>
          <p:cNvSpPr>
            <a:spLocks noGrp="1"/>
          </p:cNvSpPr>
          <p:nvPr>
            <p:ph type="sldNum" sz="quarter" idx="12"/>
          </p:nvPr>
        </p:nvSpPr>
        <p:spPr>
          <a:xfrm>
            <a:off x="10319823" y="6480890"/>
            <a:ext cx="1689100" cy="365125"/>
          </a:xfrm>
          <a:prstGeom prst="rect">
            <a:avLst/>
          </a:prstGeom>
        </p:spPr>
        <p:txBody>
          <a:bodyPr/>
          <a:lstStyle/>
          <a:p>
            <a:fld id="{7472CE09-311C-4CDB-87AD-5FE14EBCB3AD}" type="slidenum">
              <a:rPr lang="en-US" smtClean="0"/>
              <a:t>‹#›</a:t>
            </a:fld>
            <a:endParaRPr lang="en-US"/>
          </a:p>
        </p:txBody>
      </p:sp>
    </p:spTree>
    <p:extLst>
      <p:ext uri="{BB962C8B-B14F-4D97-AF65-F5344CB8AC3E}">
        <p14:creationId xmlns:p14="http://schemas.microsoft.com/office/powerpoint/2010/main" val="1623769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8D9B-387D-38BF-CFF6-74C54DBC19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EFC8C8-5343-9FD0-1205-5ED3586DAE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FB401AF-A25D-1B2E-85CC-A8223D7F084A}"/>
              </a:ext>
            </a:extLst>
          </p:cNvPr>
          <p:cNvSpPr>
            <a:spLocks noGrp="1"/>
          </p:cNvSpPr>
          <p:nvPr>
            <p:ph type="sldNum" sz="quarter" idx="12"/>
          </p:nvPr>
        </p:nvSpPr>
        <p:spPr>
          <a:xfrm>
            <a:off x="10319823" y="6480890"/>
            <a:ext cx="1689100" cy="365125"/>
          </a:xfrm>
          <a:prstGeom prst="rect">
            <a:avLst/>
          </a:prstGeom>
        </p:spPr>
        <p:txBody>
          <a:bodyPr/>
          <a:lstStyle/>
          <a:p>
            <a:fld id="{7472CE09-311C-4CDB-87AD-5FE14EBCB3AD}" type="slidenum">
              <a:rPr lang="en-US" smtClean="0"/>
              <a:t>‹#›</a:t>
            </a:fld>
            <a:endParaRPr lang="en-US"/>
          </a:p>
        </p:txBody>
      </p:sp>
    </p:spTree>
    <p:extLst>
      <p:ext uri="{BB962C8B-B14F-4D97-AF65-F5344CB8AC3E}">
        <p14:creationId xmlns:p14="http://schemas.microsoft.com/office/powerpoint/2010/main" val="348603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6F6999-1A20-3F30-1A01-EF7DEE430D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51003C-3203-B1B0-D7FA-247447BB07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3ED57813-20CF-6AD1-51DD-95ACB0B130AE}"/>
              </a:ext>
            </a:extLst>
          </p:cNvPr>
          <p:cNvSpPr>
            <a:spLocks noGrp="1"/>
          </p:cNvSpPr>
          <p:nvPr>
            <p:ph type="sldNum" sz="quarter" idx="12"/>
          </p:nvPr>
        </p:nvSpPr>
        <p:spPr>
          <a:xfrm>
            <a:off x="10319823" y="6480890"/>
            <a:ext cx="1689100" cy="365125"/>
          </a:xfrm>
          <a:prstGeom prst="rect">
            <a:avLst/>
          </a:prstGeom>
        </p:spPr>
        <p:txBody>
          <a:bodyPr/>
          <a:lstStyle/>
          <a:p>
            <a:fld id="{7472CE09-311C-4CDB-87AD-5FE14EBCB3AD}" type="slidenum">
              <a:rPr lang="en-US" smtClean="0"/>
              <a:t>‹#›</a:t>
            </a:fld>
            <a:endParaRPr lang="en-US"/>
          </a:p>
        </p:txBody>
      </p:sp>
    </p:spTree>
    <p:extLst>
      <p:ext uri="{BB962C8B-B14F-4D97-AF65-F5344CB8AC3E}">
        <p14:creationId xmlns:p14="http://schemas.microsoft.com/office/powerpoint/2010/main" val="1074064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26000" r="-26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527C1B2-D306-5234-FCB6-417DA2E74BB8}"/>
              </a:ext>
            </a:extLst>
          </p:cNvPr>
          <p:cNvSpPr/>
          <p:nvPr userDrawn="1"/>
        </p:nvSpPr>
        <p:spPr>
          <a:xfrm>
            <a:off x="0" y="6366"/>
            <a:ext cx="12188949" cy="6883533"/>
          </a:xfrm>
          <a:prstGeom prst="rect">
            <a:avLst/>
          </a:prstGeom>
          <a:gradFill flip="none" rotWithShape="1">
            <a:gsLst>
              <a:gs pos="0">
                <a:schemeClr val="bg1">
                  <a:lumMod val="50000"/>
                  <a:alpha val="92000"/>
                </a:schemeClr>
              </a:gs>
              <a:gs pos="20000">
                <a:schemeClr val="bg1">
                  <a:lumMod val="75000"/>
                  <a:alpha val="92000"/>
                </a:schemeClr>
              </a:gs>
              <a:gs pos="100000">
                <a:schemeClr val="bg1">
                  <a:lumMod val="90000"/>
                  <a:alpha val="92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2AECCBC0-7F92-F92F-3AA1-0BDB8B916101}"/>
              </a:ext>
            </a:extLst>
          </p:cNvPr>
          <p:cNvSpPr>
            <a:spLocks noGrp="1"/>
          </p:cNvSpPr>
          <p:nvPr>
            <p:ph type="body" idx="1"/>
          </p:nvPr>
        </p:nvSpPr>
        <p:spPr>
          <a:xfrm>
            <a:off x="264741" y="994521"/>
            <a:ext cx="11817767" cy="5690363"/>
          </a:xfrm>
          <a:prstGeom prst="rect">
            <a:avLst/>
          </a:prstGeom>
        </p:spPr>
        <p:txBody>
          <a:bodyPr vert="horz" lIns="91440" tIns="45720" rIns="91440" bIns="45720" rtlCol="0">
            <a:normAutofit/>
          </a:bodyPr>
          <a:lstStyle/>
          <a:p>
            <a:pPr lvl="0"/>
            <a:r>
              <a:rPr lang="en-US" dirty="0"/>
              <a:t>Click to edit Master text </a:t>
            </a:r>
            <a:r>
              <a:rPr lang="en-US" dirty="0" err="1"/>
              <a:t>fksdfkljaslkfjlkasjflkajslfkjalskf</a:t>
            </a:r>
            <a:r>
              <a:rPr lang="en-US" dirty="0"/>
              <a:t> </a:t>
            </a:r>
            <a:r>
              <a:rPr lang="en-US" dirty="0" err="1"/>
              <a:t>jas</a:t>
            </a:r>
            <a:r>
              <a:rPr lang="en-US" dirty="0"/>
              <a:t> </a:t>
            </a:r>
            <a:r>
              <a:rPr lang="en-US" dirty="0" err="1"/>
              <a:t>fkljasl</a:t>
            </a:r>
            <a:r>
              <a:rPr lang="en-US" dirty="0"/>
              <a:t> </a:t>
            </a:r>
            <a:r>
              <a:rPr lang="en-US" dirty="0" err="1"/>
              <a:t>fjlas</a:t>
            </a:r>
            <a:r>
              <a:rPr lang="en-US" dirty="0"/>
              <a:t> </a:t>
            </a:r>
            <a:r>
              <a:rPr lang="en-US" dirty="0" err="1"/>
              <a:t>flkajsfjjaslfjalskfjlasjflsajlfjaslfjl</a:t>
            </a:r>
            <a:endParaRPr lang="en-US" dirty="0"/>
          </a:p>
          <a:p>
            <a:pPr lvl="0"/>
            <a:r>
              <a:rPr lang="en-US" dirty="0"/>
              <a:t>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44C389EA-4E88-4DB2-DE6D-8FD6A4839D49}"/>
              </a:ext>
            </a:extLst>
          </p:cNvPr>
          <p:cNvSpPr/>
          <p:nvPr userDrawn="1"/>
        </p:nvSpPr>
        <p:spPr>
          <a:xfrm>
            <a:off x="10633" y="-12512"/>
            <a:ext cx="12192000" cy="905228"/>
          </a:xfrm>
          <a:prstGeom prst="rect">
            <a:avLst/>
          </a:prstGeom>
          <a:gradFill>
            <a:gsLst>
              <a:gs pos="0">
                <a:schemeClr val="bg1">
                  <a:lumMod val="50000"/>
                </a:schemeClr>
              </a:gs>
              <a:gs pos="30000">
                <a:schemeClr val="bg1">
                  <a:lumMod val="75000"/>
                </a:schemeClr>
              </a:gs>
              <a:gs pos="100000">
                <a:schemeClr val="bg1">
                  <a:lumMod val="90000"/>
                </a:schemeClr>
              </a:gs>
            </a:gsLst>
            <a:lin ang="10800000" scaled="1"/>
          </a:gradFill>
          <a:ln w="285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9B68E77-43C7-C229-9E42-88482BF4F690}"/>
              </a:ext>
            </a:extLst>
          </p:cNvPr>
          <p:cNvSpPr>
            <a:spLocks noGrp="1"/>
          </p:cNvSpPr>
          <p:nvPr>
            <p:ph type="sldNum" sz="quarter" idx="4"/>
          </p:nvPr>
        </p:nvSpPr>
        <p:spPr>
          <a:xfrm>
            <a:off x="10319823" y="6480890"/>
            <a:ext cx="1689100" cy="365125"/>
          </a:xfrm>
          <a:prstGeom prst="rect">
            <a:avLst/>
          </a:prstGeom>
        </p:spPr>
        <p:txBody>
          <a:bodyPr vert="horz" lIns="91440" tIns="45720" rIns="91440" bIns="45720" rtlCol="0" anchor="ctr"/>
          <a:lstStyle>
            <a:lvl1pPr algn="r">
              <a:defRPr sz="1200">
                <a:solidFill>
                  <a:schemeClr val="accent1">
                    <a:lumMod val="75000"/>
                    <a:lumOff val="25000"/>
                  </a:schemeClr>
                </a:solidFill>
              </a:defRPr>
            </a:lvl1pPr>
          </a:lstStyle>
          <a:p>
            <a:fld id="{7472CE09-311C-4CDB-87AD-5FE14EBCB3AD}" type="slidenum">
              <a:rPr lang="en-US" smtClean="0"/>
              <a:pPr/>
              <a:t>‹#›</a:t>
            </a:fld>
            <a:endParaRPr lang="en-US" dirty="0"/>
          </a:p>
        </p:txBody>
      </p:sp>
      <p:pic>
        <p:nvPicPr>
          <p:cNvPr id="11" name="Picture 10">
            <a:extLst>
              <a:ext uri="{FF2B5EF4-FFF2-40B4-BE49-F238E27FC236}">
                <a16:creationId xmlns:a16="http://schemas.microsoft.com/office/drawing/2014/main" id="{71AA29F4-108E-4774-317D-15F8F3E82F0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141475" y="-25532"/>
            <a:ext cx="1047475" cy="1049167"/>
          </a:xfrm>
          <a:prstGeom prst="rect">
            <a:avLst/>
          </a:prstGeom>
        </p:spPr>
      </p:pic>
      <p:sp>
        <p:nvSpPr>
          <p:cNvPr id="10" name="Rectangle 9">
            <a:extLst>
              <a:ext uri="{FF2B5EF4-FFF2-40B4-BE49-F238E27FC236}">
                <a16:creationId xmlns:a16="http://schemas.microsoft.com/office/drawing/2014/main" id="{FBC85BD5-EE8B-11F4-28D8-9421929526E2}"/>
              </a:ext>
            </a:extLst>
          </p:cNvPr>
          <p:cNvSpPr/>
          <p:nvPr userDrawn="1"/>
        </p:nvSpPr>
        <p:spPr>
          <a:xfrm>
            <a:off x="11461072" y="6459624"/>
            <a:ext cx="621437" cy="365125"/>
          </a:xfrm>
          <a:prstGeom prst="rect">
            <a:avLst/>
          </a:prstGeom>
          <a:solidFill>
            <a:schemeClr val="bg1">
              <a:lumMod val="75000"/>
            </a:schemeClr>
          </a:solidFill>
        </p:spPr>
        <p:txBody>
          <a:bodyPr/>
          <a:lstStyle/>
          <a:p>
            <a:pPr lvl="0"/>
            <a:endParaRPr lang="en-US" sz="1600" b="0" dirty="0">
              <a:solidFill>
                <a:schemeClr val="bg2">
                  <a:lumMod val="50000"/>
                </a:schemeClr>
              </a:solidFill>
            </a:endParaRPr>
          </a:p>
        </p:txBody>
      </p:sp>
      <p:sp>
        <p:nvSpPr>
          <p:cNvPr id="2" name="Title Placeholder 1">
            <a:extLst>
              <a:ext uri="{FF2B5EF4-FFF2-40B4-BE49-F238E27FC236}">
                <a16:creationId xmlns:a16="http://schemas.microsoft.com/office/drawing/2014/main" id="{7101503D-3365-9FDA-1D27-9F09309E3978}"/>
              </a:ext>
            </a:extLst>
          </p:cNvPr>
          <p:cNvSpPr>
            <a:spLocks noGrp="1"/>
          </p:cNvSpPr>
          <p:nvPr>
            <p:ph type="title"/>
          </p:nvPr>
        </p:nvSpPr>
        <p:spPr>
          <a:xfrm>
            <a:off x="268639" y="47830"/>
            <a:ext cx="11503151" cy="873330"/>
          </a:xfrm>
          <a:prstGeom prst="rect">
            <a:avLst/>
          </a:prstGeom>
        </p:spPr>
        <p:txBody>
          <a:bodyPr vert="horz" lIns="91440" tIns="45720" rIns="91440" bIns="45720" rtlCol="0" anchor="ctr">
            <a:normAutofit/>
          </a:bodyPr>
          <a:lstStyle/>
          <a:p>
            <a:r>
              <a:rPr lang="en-US" dirty="0"/>
              <a:t>Click to edit Master title style</a:t>
            </a:r>
          </a:p>
        </p:txBody>
      </p:sp>
      <p:sp>
        <p:nvSpPr>
          <p:cNvPr id="4" name="Rectangle 3">
            <a:extLst>
              <a:ext uri="{FF2B5EF4-FFF2-40B4-BE49-F238E27FC236}">
                <a16:creationId xmlns:a16="http://schemas.microsoft.com/office/drawing/2014/main" id="{BB090BF7-2D25-BFDB-733C-742A7A37279C}"/>
              </a:ext>
            </a:extLst>
          </p:cNvPr>
          <p:cNvSpPr/>
          <p:nvPr userDrawn="1"/>
        </p:nvSpPr>
        <p:spPr>
          <a:xfrm>
            <a:off x="0" y="6366"/>
            <a:ext cx="264741" cy="6870684"/>
          </a:xfrm>
          <a:prstGeom prst="rect">
            <a:avLst/>
          </a:prstGeom>
          <a:gradFill>
            <a:gsLst>
              <a:gs pos="0">
                <a:schemeClr val="bg1">
                  <a:lumMod val="50000"/>
                </a:schemeClr>
              </a:gs>
              <a:gs pos="66000">
                <a:schemeClr val="bg1">
                  <a:lumMod val="75000"/>
                </a:schemeClr>
              </a:gs>
              <a:gs pos="100000">
                <a:schemeClr val="bg1">
                  <a:lumMod val="9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4">
            <a:extLst>
              <a:ext uri="{FF2B5EF4-FFF2-40B4-BE49-F238E27FC236}">
                <a16:creationId xmlns:a16="http://schemas.microsoft.com/office/drawing/2014/main" id="{48CC72BD-F9D4-1C23-2FA6-E96748298632}"/>
              </a:ext>
            </a:extLst>
          </p:cNvPr>
          <p:cNvSpPr txBox="1">
            <a:spLocks/>
          </p:cNvSpPr>
          <p:nvPr userDrawn="1"/>
        </p:nvSpPr>
        <p:spPr>
          <a:xfrm>
            <a:off x="0" y="6464095"/>
            <a:ext cx="2183907" cy="365125"/>
          </a:xfrm>
          <a:prstGeom prst="rect">
            <a:avLst/>
          </a:prstGeom>
          <a:solidFill>
            <a:schemeClr val="bg1">
              <a:lumMod val="75000"/>
            </a:schemeClr>
          </a:solidFill>
        </p:spPr>
        <p:txBody>
          <a:bodyPr/>
          <a:lstStyle>
            <a:defPPr>
              <a:defRPr lang="en-US"/>
            </a:defPPr>
            <a:lvl1pPr marL="0" algn="l" defTabSz="914400" rtl="0" eaLnBrk="1" latinLnBrk="0" hangingPunct="1">
              <a:defRPr sz="1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bg2">
                    <a:lumMod val="50000"/>
                  </a:schemeClr>
                </a:solidFill>
              </a:rPr>
              <a:t>Artificial Intelligence</a:t>
            </a:r>
          </a:p>
        </p:txBody>
      </p:sp>
    </p:spTree>
    <p:extLst>
      <p:ext uri="{BB962C8B-B14F-4D97-AF65-F5344CB8AC3E}">
        <p14:creationId xmlns:p14="http://schemas.microsoft.com/office/powerpoint/2010/main" val="1832812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chemeClr val="accent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5.svg"/></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2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7.svg"/><Relationship Id="rId5" Type="http://schemas.openxmlformats.org/officeDocument/2006/relationships/image" Target="../media/image9.sv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3.svg"/></Relationships>
</file>

<file path=ppt/slides/_rels/slide2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9.svg"/></Relationships>
</file>

<file path=ppt/slides/_rels/slide2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9.svg"/></Relationships>
</file>

<file path=ppt/slides/_rels/slide2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9.svg"/></Relationships>
</file>

<file path=ppt/slides/_rels/slide2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9.svg"/></Relationships>
</file>

<file path=ppt/slides/_rels/slide2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10" Type="http://schemas.openxmlformats.org/officeDocument/2006/relationships/image" Target="../media/image100.png"/><Relationship Id="rId4" Type="http://schemas.openxmlformats.org/officeDocument/2006/relationships/image" Target="../media/image10.png"/><Relationship Id="rId9" Type="http://schemas.openxmlformats.org/officeDocument/2006/relationships/image" Target="../media/image19.svg"/></Relationships>
</file>

<file path=ppt/slides/_rels/slide2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9.svg"/></Relationships>
</file>

<file path=ppt/slides/_rels/slide3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3.sv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1.svg"/><Relationship Id="rId5" Type="http://schemas.openxmlformats.org/officeDocument/2006/relationships/image" Target="../media/image11.svg"/><Relationship Id="rId10" Type="http://schemas.openxmlformats.org/officeDocument/2006/relationships/image" Target="../media/image20.png"/><Relationship Id="rId4" Type="http://schemas.openxmlformats.org/officeDocument/2006/relationships/image" Target="../media/image10.png"/><Relationship Id="rId9" Type="http://schemas.openxmlformats.org/officeDocument/2006/relationships/image" Target="../media/image19.svg"/></Relationships>
</file>

<file path=ppt/slides/_rels/slide3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3.sv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3.sv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3.sv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2" Type="http://schemas.openxmlformats.org/officeDocument/2006/relationships/hyperlink" Target="http://www.jstor.org/stable/2251299"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3.sv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wmf"/><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78D8-39C5-136D-7DE7-C372254E5784}"/>
              </a:ext>
            </a:extLst>
          </p:cNvPr>
          <p:cNvSpPr>
            <a:spLocks noGrp="1"/>
          </p:cNvSpPr>
          <p:nvPr>
            <p:ph type="ctrTitle"/>
          </p:nvPr>
        </p:nvSpPr>
        <p:spPr/>
        <p:txBody>
          <a:bodyPr>
            <a:normAutofit fontScale="90000"/>
          </a:bodyPr>
          <a:lstStyle/>
          <a:p>
            <a:r>
              <a:rPr lang="en-US" dirty="0"/>
              <a:t>CS312</a:t>
            </a:r>
            <a:br>
              <a:rPr lang="en-US" dirty="0"/>
            </a:br>
            <a:r>
              <a:rPr lang="en-US" dirty="0"/>
              <a:t>Artificial Intelligence</a:t>
            </a:r>
          </a:p>
        </p:txBody>
      </p:sp>
      <p:sp>
        <p:nvSpPr>
          <p:cNvPr id="3" name="Subtitle 2">
            <a:extLst>
              <a:ext uri="{FF2B5EF4-FFF2-40B4-BE49-F238E27FC236}">
                <a16:creationId xmlns:a16="http://schemas.microsoft.com/office/drawing/2014/main" id="{96CAE1AE-E1E7-EFE4-AB97-134DB712701E}"/>
              </a:ext>
            </a:extLst>
          </p:cNvPr>
          <p:cNvSpPr>
            <a:spLocks noGrp="1"/>
          </p:cNvSpPr>
          <p:nvPr>
            <p:ph type="subTitle" idx="1"/>
          </p:nvPr>
        </p:nvSpPr>
        <p:spPr>
          <a:xfrm>
            <a:off x="2943225" y="4814596"/>
            <a:ext cx="9144000" cy="1873541"/>
          </a:xfrm>
        </p:spPr>
        <p:txBody>
          <a:bodyPr>
            <a:normAutofit/>
          </a:bodyPr>
          <a:lstStyle/>
          <a:p>
            <a:pPr algn="r"/>
            <a:r>
              <a:rPr lang="en-US" b="1" dirty="0">
                <a:highlight>
                  <a:srgbClr val="00FFFF"/>
                </a:highlight>
              </a:rPr>
              <a:t>Lecture  #  02</a:t>
            </a:r>
          </a:p>
          <a:p>
            <a:pPr algn="r"/>
            <a:r>
              <a:rPr lang="en-US" b="1" dirty="0"/>
              <a:t>HITEC University, Taxila</a:t>
            </a:r>
          </a:p>
          <a:p>
            <a:pPr algn="r"/>
            <a:r>
              <a:rPr lang="en-US" b="1" dirty="0"/>
              <a:t>Mr. Mubashir Iqbal</a:t>
            </a:r>
          </a:p>
          <a:p>
            <a:pPr algn="r"/>
            <a:r>
              <a:rPr lang="en-US" b="1" dirty="0"/>
              <a:t>Fall-2025</a:t>
            </a:r>
          </a:p>
        </p:txBody>
      </p:sp>
    </p:spTree>
    <p:extLst>
      <p:ext uri="{BB962C8B-B14F-4D97-AF65-F5344CB8AC3E}">
        <p14:creationId xmlns:p14="http://schemas.microsoft.com/office/powerpoint/2010/main" val="3931721149"/>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509572" y="748242"/>
            <a:ext cx="7172857" cy="1591733"/>
          </a:xfrm>
          <a:prstGeom prst="rect">
            <a:avLst/>
          </a:prstGeom>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sz="6400" b="1" dirty="0">
              <a:solidFill>
                <a:schemeClr val="accent2">
                  <a:lumMod val="50000"/>
                </a:schemeClr>
              </a:solidFill>
              <a:latin typeface="+mn-lt"/>
            </a:endParaRPr>
          </a:p>
        </p:txBody>
      </p:sp>
      <p:sp>
        <p:nvSpPr>
          <p:cNvPr id="4" name="Subtitle 2"/>
          <p:cNvSpPr txBox="1">
            <a:spLocks/>
          </p:cNvSpPr>
          <p:nvPr/>
        </p:nvSpPr>
        <p:spPr>
          <a:xfrm>
            <a:off x="3048000" y="2401359"/>
            <a:ext cx="6096000" cy="1103841"/>
          </a:xfrm>
          <a:prstGeom prst="rect">
            <a:avLst/>
          </a:prstGeom>
        </p:spPr>
        <p:txBody>
          <a:bodyPr>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buNone/>
            </a:pPr>
            <a:endParaRPr lang="en-US" sz="3200" dirty="0">
              <a:solidFill>
                <a:schemeClr val="accent2">
                  <a:lumMod val="50000"/>
                </a:schemeClr>
              </a:solidFill>
            </a:endParaRPr>
          </a:p>
        </p:txBody>
      </p:sp>
      <p:sp>
        <p:nvSpPr>
          <p:cNvPr id="6" name="Title 5">
            <a:extLst>
              <a:ext uri="{FF2B5EF4-FFF2-40B4-BE49-F238E27FC236}">
                <a16:creationId xmlns:a16="http://schemas.microsoft.com/office/drawing/2014/main" id="{E6F78A32-B60D-72BD-7C89-222806A34415}"/>
              </a:ext>
            </a:extLst>
          </p:cNvPr>
          <p:cNvSpPr>
            <a:spLocks noGrp="1"/>
          </p:cNvSpPr>
          <p:nvPr>
            <p:ph type="ctrTitle"/>
          </p:nvPr>
        </p:nvSpPr>
        <p:spPr/>
        <p:txBody>
          <a:bodyPr>
            <a:normAutofit/>
          </a:bodyPr>
          <a:lstStyle/>
          <a:p>
            <a:r>
              <a:rPr lang="en-US" dirty="0"/>
              <a:t>Alan M. Turing</a:t>
            </a:r>
          </a:p>
        </p:txBody>
      </p:sp>
      <p:sp>
        <p:nvSpPr>
          <p:cNvPr id="7" name="Subtitle 6">
            <a:extLst>
              <a:ext uri="{FF2B5EF4-FFF2-40B4-BE49-F238E27FC236}">
                <a16:creationId xmlns:a16="http://schemas.microsoft.com/office/drawing/2014/main" id="{E2E48006-FA4C-006E-0128-49953BF24765}"/>
              </a:ext>
            </a:extLst>
          </p:cNvPr>
          <p:cNvSpPr>
            <a:spLocks noGrp="1"/>
          </p:cNvSpPr>
          <p:nvPr>
            <p:ph type="subTitle" idx="1"/>
          </p:nvPr>
        </p:nvSpPr>
        <p:spPr/>
        <p:txBody>
          <a:bodyPr/>
          <a:lstStyle/>
          <a:p>
            <a:r>
              <a:rPr lang="en-US" dirty="0"/>
              <a:t>1912-1954</a:t>
            </a:r>
          </a:p>
        </p:txBody>
      </p:sp>
    </p:spTree>
    <p:extLst>
      <p:ext uri="{BB962C8B-B14F-4D97-AF65-F5344CB8AC3E}">
        <p14:creationId xmlns:p14="http://schemas.microsoft.com/office/powerpoint/2010/main" val="2899647057"/>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9DBEC-0D36-927A-7DC5-8621868AF113}"/>
              </a:ext>
            </a:extLst>
          </p:cNvPr>
          <p:cNvSpPr>
            <a:spLocks noGrp="1"/>
          </p:cNvSpPr>
          <p:nvPr>
            <p:ph type="title"/>
          </p:nvPr>
        </p:nvSpPr>
        <p:spPr/>
        <p:txBody>
          <a:bodyPr/>
          <a:lstStyle/>
          <a:p>
            <a:r>
              <a:rPr lang="en-GB" dirty="0"/>
              <a:t>Turing Test – Measuring Machine Intelligence</a:t>
            </a:r>
            <a:endParaRPr lang="en-US" dirty="0"/>
          </a:p>
        </p:txBody>
      </p:sp>
      <p:sp>
        <p:nvSpPr>
          <p:cNvPr id="3" name="Content Placeholder 2">
            <a:extLst>
              <a:ext uri="{FF2B5EF4-FFF2-40B4-BE49-F238E27FC236}">
                <a16:creationId xmlns:a16="http://schemas.microsoft.com/office/drawing/2014/main" id="{41B2302C-EC44-B7EE-3422-6DDBA195B4C1}"/>
              </a:ext>
            </a:extLst>
          </p:cNvPr>
          <p:cNvSpPr>
            <a:spLocks noGrp="1"/>
          </p:cNvSpPr>
          <p:nvPr>
            <p:ph idx="1"/>
          </p:nvPr>
        </p:nvSpPr>
        <p:spPr/>
        <p:txBody>
          <a:bodyPr/>
          <a:lstStyle/>
          <a:p>
            <a:pPr marL="0" indent="0">
              <a:buNone/>
            </a:pPr>
            <a:r>
              <a:rPr lang="en-GB" dirty="0">
                <a:highlight>
                  <a:srgbClr val="00FFFF"/>
                </a:highlight>
              </a:rPr>
              <a:t>Scientist &amp; Year</a:t>
            </a:r>
          </a:p>
          <a:p>
            <a:r>
              <a:rPr lang="en-GB" b="1" dirty="0"/>
              <a:t>Proposed by:</a:t>
            </a:r>
            <a:r>
              <a:rPr lang="en-GB" dirty="0"/>
              <a:t> </a:t>
            </a:r>
            <a:r>
              <a:rPr lang="en-GB" i="1" dirty="0"/>
              <a:t>Alan Mathison Turing</a:t>
            </a:r>
            <a:r>
              <a:rPr lang="en-GB" dirty="0"/>
              <a:t> (British Mathematician and Computer Scientist)</a:t>
            </a:r>
          </a:p>
          <a:p>
            <a:r>
              <a:rPr lang="en-GB" b="1" dirty="0"/>
              <a:t>Year:</a:t>
            </a:r>
            <a:r>
              <a:rPr lang="en-GB" dirty="0"/>
              <a:t> </a:t>
            </a:r>
            <a:r>
              <a:rPr lang="en-GB" i="1" dirty="0"/>
              <a:t>1950</a:t>
            </a:r>
            <a:endParaRPr lang="en-GB" dirty="0"/>
          </a:p>
          <a:p>
            <a:r>
              <a:rPr lang="en-GB" b="1" dirty="0"/>
              <a:t>Introduced in Paper:</a:t>
            </a:r>
            <a:r>
              <a:rPr lang="en-GB" dirty="0"/>
              <a:t> </a:t>
            </a:r>
            <a:r>
              <a:rPr lang="en-GB" i="1" dirty="0"/>
              <a:t>“</a:t>
            </a:r>
            <a:r>
              <a:rPr lang="en-GB" i="1" u="sng" dirty="0"/>
              <a:t>Computing Machinery and Intelligence</a:t>
            </a:r>
            <a:r>
              <a:rPr lang="en-GB" i="1" dirty="0"/>
              <a:t>”</a:t>
            </a:r>
            <a:r>
              <a:rPr lang="en-GB" dirty="0"/>
              <a:t> published in the </a:t>
            </a:r>
            <a:r>
              <a:rPr lang="en-GB" u="sng" dirty="0"/>
              <a:t>journal Mind</a:t>
            </a:r>
            <a:r>
              <a:rPr lang="en-GB" dirty="0"/>
              <a:t>.</a:t>
            </a:r>
          </a:p>
          <a:p>
            <a:r>
              <a:rPr lang="en-GB" b="1" dirty="0"/>
              <a:t>Famous Question:</a:t>
            </a:r>
            <a:r>
              <a:rPr lang="en-GB" dirty="0"/>
              <a:t> “Can machines think?”</a:t>
            </a:r>
          </a:p>
          <a:p>
            <a:endParaRPr lang="en-GB" dirty="0"/>
          </a:p>
        </p:txBody>
      </p:sp>
      <p:sp>
        <p:nvSpPr>
          <p:cNvPr id="4" name="Slide Number Placeholder 3">
            <a:extLst>
              <a:ext uri="{FF2B5EF4-FFF2-40B4-BE49-F238E27FC236}">
                <a16:creationId xmlns:a16="http://schemas.microsoft.com/office/drawing/2014/main" id="{37E44B57-00AD-41C4-84E8-96E71819BDDF}"/>
              </a:ext>
            </a:extLst>
          </p:cNvPr>
          <p:cNvSpPr>
            <a:spLocks noGrp="1"/>
          </p:cNvSpPr>
          <p:nvPr>
            <p:ph type="sldNum" sz="quarter" idx="4"/>
          </p:nvPr>
        </p:nvSpPr>
        <p:spPr/>
        <p:txBody>
          <a:bodyPr/>
          <a:lstStyle/>
          <a:p>
            <a:fld id="{7472CE09-311C-4CDB-87AD-5FE14EBCB3AD}" type="slidenum">
              <a:rPr lang="en-US" smtClean="0"/>
              <a:pPr/>
              <a:t>3</a:t>
            </a:fld>
            <a:endParaRPr lang="en-US" dirty="0"/>
          </a:p>
        </p:txBody>
      </p:sp>
    </p:spTree>
    <p:extLst>
      <p:ext uri="{BB962C8B-B14F-4D97-AF65-F5344CB8AC3E}">
        <p14:creationId xmlns:p14="http://schemas.microsoft.com/office/powerpoint/2010/main" val="2038134391"/>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EAFEF-4184-FC8A-1DBC-E4A5076E5155}"/>
              </a:ext>
            </a:extLst>
          </p:cNvPr>
          <p:cNvSpPr>
            <a:spLocks noGrp="1"/>
          </p:cNvSpPr>
          <p:nvPr>
            <p:ph type="title"/>
          </p:nvPr>
        </p:nvSpPr>
        <p:spPr/>
        <p:txBody>
          <a:bodyPr/>
          <a:lstStyle/>
          <a:p>
            <a:r>
              <a:rPr lang="en-GB" dirty="0"/>
              <a:t>Turing Test – </a:t>
            </a:r>
            <a:r>
              <a:rPr lang="en-US" dirty="0"/>
              <a:t>Definition</a:t>
            </a:r>
          </a:p>
        </p:txBody>
      </p:sp>
      <p:sp>
        <p:nvSpPr>
          <p:cNvPr id="3" name="Content Placeholder 2">
            <a:extLst>
              <a:ext uri="{FF2B5EF4-FFF2-40B4-BE49-F238E27FC236}">
                <a16:creationId xmlns:a16="http://schemas.microsoft.com/office/drawing/2014/main" id="{9CE78E1B-91F6-3742-A3C7-B036AE03BBC8}"/>
              </a:ext>
            </a:extLst>
          </p:cNvPr>
          <p:cNvSpPr>
            <a:spLocks noGrp="1"/>
          </p:cNvSpPr>
          <p:nvPr>
            <p:ph idx="1"/>
          </p:nvPr>
        </p:nvSpPr>
        <p:spPr/>
        <p:txBody>
          <a:bodyPr/>
          <a:lstStyle/>
          <a:p>
            <a:endParaRPr lang="en-GB" dirty="0"/>
          </a:p>
          <a:p>
            <a:r>
              <a:rPr lang="en-GB" dirty="0"/>
              <a:t>The Turing Test is a method to evaluate a machine’s ability to show human-like intelligence.</a:t>
            </a:r>
          </a:p>
          <a:p>
            <a:endParaRPr lang="en-GB" dirty="0"/>
          </a:p>
          <a:p>
            <a:r>
              <a:rPr lang="en-GB" dirty="0"/>
              <a:t>A machine passes the test if it can convince a human evaluator that it is also human through conversation — meaning the evaluator cannot reliably distinguish between the machine and a real human.</a:t>
            </a:r>
            <a:endParaRPr lang="en-US" dirty="0"/>
          </a:p>
        </p:txBody>
      </p:sp>
      <p:sp>
        <p:nvSpPr>
          <p:cNvPr id="4" name="Slide Number Placeholder 3">
            <a:extLst>
              <a:ext uri="{FF2B5EF4-FFF2-40B4-BE49-F238E27FC236}">
                <a16:creationId xmlns:a16="http://schemas.microsoft.com/office/drawing/2014/main" id="{D1988D53-02E3-90D6-7D38-93F4A37AF540}"/>
              </a:ext>
            </a:extLst>
          </p:cNvPr>
          <p:cNvSpPr>
            <a:spLocks noGrp="1"/>
          </p:cNvSpPr>
          <p:nvPr>
            <p:ph type="sldNum" sz="quarter" idx="4"/>
          </p:nvPr>
        </p:nvSpPr>
        <p:spPr/>
        <p:txBody>
          <a:bodyPr/>
          <a:lstStyle/>
          <a:p>
            <a:fld id="{7472CE09-311C-4CDB-87AD-5FE14EBCB3AD}" type="slidenum">
              <a:rPr lang="en-US" smtClean="0"/>
              <a:pPr/>
              <a:t>4</a:t>
            </a:fld>
            <a:endParaRPr lang="en-US" dirty="0"/>
          </a:p>
        </p:txBody>
      </p:sp>
    </p:spTree>
    <p:extLst>
      <p:ext uri="{BB962C8B-B14F-4D97-AF65-F5344CB8AC3E}">
        <p14:creationId xmlns:p14="http://schemas.microsoft.com/office/powerpoint/2010/main" val="357111822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49CA8-A278-7213-FE04-B9034C10A222}"/>
              </a:ext>
            </a:extLst>
          </p:cNvPr>
          <p:cNvSpPr>
            <a:spLocks noGrp="1"/>
          </p:cNvSpPr>
          <p:nvPr>
            <p:ph type="title"/>
          </p:nvPr>
        </p:nvSpPr>
        <p:spPr/>
        <p:txBody>
          <a:bodyPr/>
          <a:lstStyle/>
          <a:p>
            <a:r>
              <a:rPr lang="en-GB" dirty="0"/>
              <a:t>Turing Test – </a:t>
            </a:r>
            <a:r>
              <a:rPr lang="en-US" dirty="0"/>
              <a:t>How It Works (Process)</a:t>
            </a:r>
          </a:p>
        </p:txBody>
      </p:sp>
      <p:sp>
        <p:nvSpPr>
          <p:cNvPr id="3" name="Content Placeholder 2">
            <a:extLst>
              <a:ext uri="{FF2B5EF4-FFF2-40B4-BE49-F238E27FC236}">
                <a16:creationId xmlns:a16="http://schemas.microsoft.com/office/drawing/2014/main" id="{7C7C828A-BE63-EC9F-8C1F-343BDECF3B20}"/>
              </a:ext>
            </a:extLst>
          </p:cNvPr>
          <p:cNvSpPr>
            <a:spLocks noGrp="1"/>
          </p:cNvSpPr>
          <p:nvPr>
            <p:ph idx="1"/>
          </p:nvPr>
        </p:nvSpPr>
        <p:spPr/>
        <p:txBody>
          <a:bodyPr>
            <a:normAutofit/>
          </a:bodyPr>
          <a:lstStyle/>
          <a:p>
            <a:pPr marL="0" indent="0">
              <a:buNone/>
            </a:pPr>
            <a:r>
              <a:rPr lang="en-GB" b="1" dirty="0"/>
              <a:t>Three participants:</a:t>
            </a:r>
          </a:p>
          <a:p>
            <a:pPr lvl="1"/>
            <a:r>
              <a:rPr lang="en-GB" dirty="0"/>
              <a:t>A Human Judge</a:t>
            </a:r>
          </a:p>
          <a:p>
            <a:pPr lvl="1"/>
            <a:r>
              <a:rPr lang="en-GB" dirty="0"/>
              <a:t>A Human Respondent</a:t>
            </a:r>
          </a:p>
          <a:p>
            <a:pPr lvl="1"/>
            <a:r>
              <a:rPr lang="en-GB" dirty="0"/>
              <a:t>A Machine (AI Program)</a:t>
            </a:r>
          </a:p>
          <a:p>
            <a:pPr marL="0" indent="0">
              <a:buNone/>
            </a:pPr>
            <a:r>
              <a:rPr lang="en-GB" b="1" dirty="0"/>
              <a:t>Interaction setup:</a:t>
            </a:r>
          </a:p>
          <a:p>
            <a:pPr marL="457200" lvl="1" indent="0">
              <a:buNone/>
            </a:pPr>
            <a:r>
              <a:rPr lang="en-GB" dirty="0"/>
              <a:t>The judge communicates with both the human and the machine through text (keyboard/screen) — so voice or appearance does not influence judgment.</a:t>
            </a:r>
          </a:p>
          <a:p>
            <a:pPr marL="0" indent="0">
              <a:buNone/>
            </a:pPr>
            <a:r>
              <a:rPr lang="en-GB" b="1" dirty="0"/>
              <a:t>Goal:</a:t>
            </a:r>
          </a:p>
          <a:p>
            <a:pPr marL="457200" lvl="1" indent="0">
              <a:buNone/>
            </a:pPr>
            <a:r>
              <a:rPr lang="en-GB" dirty="0"/>
              <a:t>The judge asks any questions (about general knowledge, opinions, feelings, etc.) to determine which participant is human.</a:t>
            </a:r>
          </a:p>
          <a:p>
            <a:pPr marL="0" indent="0">
              <a:buNone/>
            </a:pPr>
            <a:r>
              <a:rPr lang="en-GB" b="1" dirty="0"/>
              <a:t>Machine’s Objective:</a:t>
            </a:r>
          </a:p>
          <a:p>
            <a:pPr marL="457200" lvl="1" indent="0">
              <a:buNone/>
            </a:pPr>
            <a:r>
              <a:rPr lang="en-GB" dirty="0">
                <a:highlight>
                  <a:srgbClr val="00FFFF"/>
                </a:highlight>
              </a:rPr>
              <a:t>To respond intelligently and naturally enough that the judge mistakes it for a human.</a:t>
            </a:r>
            <a:endParaRPr lang="en-US" dirty="0">
              <a:highlight>
                <a:srgbClr val="00FFFF"/>
              </a:highlight>
            </a:endParaRPr>
          </a:p>
        </p:txBody>
      </p:sp>
      <p:sp>
        <p:nvSpPr>
          <p:cNvPr id="4" name="Slide Number Placeholder 3">
            <a:extLst>
              <a:ext uri="{FF2B5EF4-FFF2-40B4-BE49-F238E27FC236}">
                <a16:creationId xmlns:a16="http://schemas.microsoft.com/office/drawing/2014/main" id="{29D84DC7-F782-8126-0BF9-3780ECBD1346}"/>
              </a:ext>
            </a:extLst>
          </p:cNvPr>
          <p:cNvSpPr>
            <a:spLocks noGrp="1"/>
          </p:cNvSpPr>
          <p:nvPr>
            <p:ph type="sldNum" sz="quarter" idx="4"/>
          </p:nvPr>
        </p:nvSpPr>
        <p:spPr/>
        <p:txBody>
          <a:bodyPr/>
          <a:lstStyle/>
          <a:p>
            <a:fld id="{7472CE09-311C-4CDB-87AD-5FE14EBCB3AD}" type="slidenum">
              <a:rPr lang="en-US" smtClean="0"/>
              <a:pPr/>
              <a:t>5</a:t>
            </a:fld>
            <a:endParaRPr lang="en-US" dirty="0"/>
          </a:p>
        </p:txBody>
      </p:sp>
    </p:spTree>
    <p:extLst>
      <p:ext uri="{BB962C8B-B14F-4D97-AF65-F5344CB8AC3E}">
        <p14:creationId xmlns:p14="http://schemas.microsoft.com/office/powerpoint/2010/main" val="560081366"/>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493A4-FEF7-73EB-59A2-4F1647478A2D}"/>
              </a:ext>
            </a:extLst>
          </p:cNvPr>
          <p:cNvSpPr>
            <a:spLocks noGrp="1"/>
          </p:cNvSpPr>
          <p:nvPr>
            <p:ph type="title"/>
          </p:nvPr>
        </p:nvSpPr>
        <p:spPr/>
        <p:txBody>
          <a:bodyPr/>
          <a:lstStyle/>
          <a:p>
            <a:r>
              <a:rPr lang="en-US" dirty="0"/>
              <a:t>Science Fiction Movie Example</a:t>
            </a:r>
          </a:p>
        </p:txBody>
      </p:sp>
      <p:sp>
        <p:nvSpPr>
          <p:cNvPr id="3" name="Content Placeholder 2">
            <a:extLst>
              <a:ext uri="{FF2B5EF4-FFF2-40B4-BE49-F238E27FC236}">
                <a16:creationId xmlns:a16="http://schemas.microsoft.com/office/drawing/2014/main" id="{DCA5159F-7F26-CAD6-C9DA-B302A272F066}"/>
              </a:ext>
            </a:extLst>
          </p:cNvPr>
          <p:cNvSpPr>
            <a:spLocks noGrp="1"/>
          </p:cNvSpPr>
          <p:nvPr>
            <p:ph idx="1"/>
          </p:nvPr>
        </p:nvSpPr>
        <p:spPr>
          <a:xfrm>
            <a:off x="287766" y="960121"/>
            <a:ext cx="7755222" cy="5478779"/>
          </a:xfrm>
        </p:spPr>
        <p:txBody>
          <a:bodyPr/>
          <a:lstStyle/>
          <a:p>
            <a:pPr marL="0" indent="0">
              <a:buNone/>
            </a:pPr>
            <a:r>
              <a:rPr lang="en-GB" b="1" dirty="0"/>
              <a:t>“Ex Machina” (2015)</a:t>
            </a:r>
            <a:endParaRPr lang="en-GB" dirty="0"/>
          </a:p>
          <a:p>
            <a:pPr lvl="1"/>
            <a:r>
              <a:rPr lang="en-GB" dirty="0"/>
              <a:t>A realistic portrayal of the </a:t>
            </a:r>
            <a:r>
              <a:rPr lang="en-GB" b="1" dirty="0"/>
              <a:t>Turing Test concept</a:t>
            </a:r>
            <a:r>
              <a:rPr lang="en-GB" dirty="0"/>
              <a:t>.</a:t>
            </a:r>
          </a:p>
          <a:p>
            <a:pPr lvl="1"/>
            <a:r>
              <a:rPr lang="en-GB" dirty="0"/>
              <a:t>A scientist designs a humanoid robot named </a:t>
            </a:r>
            <a:r>
              <a:rPr lang="en-GB" b="1" dirty="0"/>
              <a:t>Ava</a:t>
            </a:r>
            <a:r>
              <a:rPr lang="en-GB" dirty="0"/>
              <a:t>, and a human is asked to test if Ava can truly </a:t>
            </a:r>
            <a:r>
              <a:rPr lang="en-GB" b="1" dirty="0"/>
              <a:t>think and feel like a human</a:t>
            </a:r>
            <a:r>
              <a:rPr lang="en-GB" dirty="0"/>
              <a:t>.</a:t>
            </a:r>
          </a:p>
          <a:p>
            <a:pPr lvl="1"/>
            <a:r>
              <a:rPr lang="en-GB" dirty="0"/>
              <a:t>The film explores </a:t>
            </a:r>
            <a:r>
              <a:rPr lang="en-GB" b="1" dirty="0"/>
              <a:t>consciousness, deception, and self-awareness</a:t>
            </a:r>
            <a:r>
              <a:rPr lang="en-GB" dirty="0"/>
              <a:t> — all core themes of the Turing Test.</a:t>
            </a:r>
          </a:p>
          <a:p>
            <a:pPr marL="457200" lvl="1" indent="0">
              <a:buNone/>
            </a:pPr>
            <a:endParaRPr lang="en-GB" dirty="0"/>
          </a:p>
          <a:p>
            <a:r>
              <a:rPr lang="en-GB" i="1" dirty="0"/>
              <a:t>Blade Runner 2049</a:t>
            </a:r>
          </a:p>
          <a:p>
            <a:endParaRPr lang="en-GB" dirty="0"/>
          </a:p>
          <a:p>
            <a:r>
              <a:rPr lang="en-GB" i="1" dirty="0"/>
              <a:t>Her (2013)</a:t>
            </a:r>
            <a:r>
              <a:rPr lang="en-GB" dirty="0"/>
              <a:t> – explores emotional intelligence of AI.</a:t>
            </a:r>
          </a:p>
          <a:p>
            <a:endParaRPr lang="en-US" dirty="0"/>
          </a:p>
        </p:txBody>
      </p:sp>
      <p:sp>
        <p:nvSpPr>
          <p:cNvPr id="4" name="Slide Number Placeholder 3">
            <a:extLst>
              <a:ext uri="{FF2B5EF4-FFF2-40B4-BE49-F238E27FC236}">
                <a16:creationId xmlns:a16="http://schemas.microsoft.com/office/drawing/2014/main" id="{C35D06C2-B313-1754-B0BE-98097A6A87C1}"/>
              </a:ext>
            </a:extLst>
          </p:cNvPr>
          <p:cNvSpPr>
            <a:spLocks noGrp="1"/>
          </p:cNvSpPr>
          <p:nvPr>
            <p:ph type="sldNum" sz="quarter" idx="4"/>
          </p:nvPr>
        </p:nvSpPr>
        <p:spPr/>
        <p:txBody>
          <a:bodyPr/>
          <a:lstStyle/>
          <a:p>
            <a:fld id="{7472CE09-311C-4CDB-87AD-5FE14EBCB3AD}" type="slidenum">
              <a:rPr lang="en-US" smtClean="0"/>
              <a:pPr/>
              <a:t>6</a:t>
            </a:fld>
            <a:endParaRPr lang="en-US" dirty="0"/>
          </a:p>
        </p:txBody>
      </p:sp>
      <p:pic>
        <p:nvPicPr>
          <p:cNvPr id="4098" name="Picture 2" descr="Ex Machina (DVD) : Alicia Vikander, Domhnall Gleeson, Oscar Isaac, Corey  Johnson, Alex Garland: Amazon.com.au: Movies &amp; TV">
            <a:extLst>
              <a:ext uri="{FF2B5EF4-FFF2-40B4-BE49-F238E27FC236}">
                <a16:creationId xmlns:a16="http://schemas.microsoft.com/office/drawing/2014/main" id="{108C3683-C0D3-B802-2DC8-692DB058AA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7091" y="853945"/>
            <a:ext cx="2732732" cy="393104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Blade Runner 2049 Review - Is the New Blade Runner Good?">
            <a:extLst>
              <a:ext uri="{FF2B5EF4-FFF2-40B4-BE49-F238E27FC236}">
                <a16:creationId xmlns:a16="http://schemas.microsoft.com/office/drawing/2014/main" id="{C0E6F255-17BE-8A47-EE39-7E7153114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0268" y="4647228"/>
            <a:ext cx="3897086" cy="2192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36674"/>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5EC2-6628-85CC-7E5A-68A19D04B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B5213-2F2E-D094-DEED-E396C11B0F86}"/>
              </a:ext>
            </a:extLst>
          </p:cNvPr>
          <p:cNvSpPr>
            <a:spLocks noGrp="1"/>
          </p:cNvSpPr>
          <p:nvPr>
            <p:ph type="title"/>
          </p:nvPr>
        </p:nvSpPr>
        <p:spPr/>
        <p:txBody>
          <a:bodyPr/>
          <a:lstStyle/>
          <a:p>
            <a:r>
              <a:rPr lang="en-GB" dirty="0"/>
              <a:t>Turing Test</a:t>
            </a:r>
            <a:endParaRPr lang="en-US" dirty="0"/>
          </a:p>
        </p:txBody>
      </p:sp>
      <p:sp>
        <p:nvSpPr>
          <p:cNvPr id="3" name="Content Placeholder 2">
            <a:extLst>
              <a:ext uri="{FF2B5EF4-FFF2-40B4-BE49-F238E27FC236}">
                <a16:creationId xmlns:a16="http://schemas.microsoft.com/office/drawing/2014/main" id="{88E07979-8CEE-863D-D0B0-7089A81D89E1}"/>
              </a:ext>
            </a:extLst>
          </p:cNvPr>
          <p:cNvSpPr>
            <a:spLocks noGrp="1"/>
          </p:cNvSpPr>
          <p:nvPr>
            <p:ph idx="1"/>
          </p:nvPr>
        </p:nvSpPr>
        <p:spPr/>
        <p:txBody>
          <a:bodyPr>
            <a:normAutofit fontScale="92500" lnSpcReduction="10000"/>
          </a:bodyPr>
          <a:lstStyle/>
          <a:p>
            <a:pPr marL="0" indent="0">
              <a:buNone/>
            </a:pPr>
            <a:r>
              <a:rPr lang="en-GB" b="1" dirty="0">
                <a:highlight>
                  <a:srgbClr val="00FFFF"/>
                </a:highlight>
              </a:rPr>
              <a:t>Evaluation Criteria</a:t>
            </a:r>
          </a:p>
          <a:p>
            <a:r>
              <a:rPr lang="en-GB" dirty="0"/>
              <a:t>If the </a:t>
            </a:r>
            <a:r>
              <a:rPr lang="en-GB" b="1" dirty="0"/>
              <a:t>machine can fool the human</a:t>
            </a:r>
            <a:r>
              <a:rPr lang="en-GB" dirty="0"/>
              <a:t> in </a:t>
            </a:r>
            <a:r>
              <a:rPr lang="en-GB" b="1" dirty="0"/>
              <a:t>more than </a:t>
            </a:r>
            <a:r>
              <a:rPr lang="en-GB" b="1" dirty="0">
                <a:highlight>
                  <a:srgbClr val="00FFFF"/>
                </a:highlight>
              </a:rPr>
              <a:t>30%</a:t>
            </a:r>
            <a:r>
              <a:rPr lang="en-GB" b="1" dirty="0"/>
              <a:t> of the trials</a:t>
            </a:r>
            <a:r>
              <a:rPr lang="en-GB" dirty="0"/>
              <a:t>, it is considered to have </a:t>
            </a:r>
            <a:r>
              <a:rPr lang="en-GB" b="1" dirty="0"/>
              <a:t>passed the Turing Test</a:t>
            </a:r>
            <a:r>
              <a:rPr lang="en-GB" dirty="0"/>
              <a:t>.</a:t>
            </a:r>
          </a:p>
          <a:p>
            <a:r>
              <a:rPr lang="en-GB" dirty="0"/>
              <a:t>The focus is on </a:t>
            </a:r>
            <a:r>
              <a:rPr lang="en-GB" b="1" dirty="0" err="1">
                <a:highlight>
                  <a:srgbClr val="00FFFF"/>
                </a:highlight>
              </a:rPr>
              <a:t>behavioral</a:t>
            </a:r>
            <a:r>
              <a:rPr lang="en-GB" b="1" dirty="0">
                <a:highlight>
                  <a:srgbClr val="00FFFF"/>
                </a:highlight>
              </a:rPr>
              <a:t> intelligence</a:t>
            </a:r>
            <a:r>
              <a:rPr lang="en-GB" dirty="0"/>
              <a:t>, not how the machine works internally.</a:t>
            </a:r>
          </a:p>
          <a:p>
            <a:r>
              <a:rPr lang="en-GB" dirty="0"/>
              <a:t>Evaluation is </a:t>
            </a:r>
            <a:r>
              <a:rPr lang="en-GB" b="1" dirty="0"/>
              <a:t>subjective</a:t>
            </a:r>
            <a:r>
              <a:rPr lang="en-GB" dirty="0"/>
              <a:t>, based on how “human-like” the responses appear.</a:t>
            </a:r>
            <a:br>
              <a:rPr lang="en-GB" dirty="0"/>
            </a:br>
            <a:endParaRPr lang="en-GB" dirty="0"/>
          </a:p>
          <a:p>
            <a:pPr marL="0" indent="0">
              <a:buNone/>
            </a:pPr>
            <a:r>
              <a:rPr lang="en-GB" b="1" dirty="0">
                <a:highlight>
                  <a:srgbClr val="00FFFF"/>
                </a:highlight>
              </a:rPr>
              <a:t>Example Questions in a Turing Test</a:t>
            </a:r>
          </a:p>
          <a:p>
            <a:r>
              <a:rPr lang="en-GB" dirty="0"/>
              <a:t>“What’s your </a:t>
            </a:r>
            <a:r>
              <a:rPr lang="en-GB" dirty="0" err="1"/>
              <a:t>favorite</a:t>
            </a:r>
            <a:r>
              <a:rPr lang="en-GB" dirty="0"/>
              <a:t> food?”</a:t>
            </a:r>
          </a:p>
          <a:p>
            <a:r>
              <a:rPr lang="en-GB" dirty="0"/>
              <a:t>“How do you feel about the weather today?”</a:t>
            </a:r>
          </a:p>
          <a:p>
            <a:r>
              <a:rPr lang="en-GB" dirty="0"/>
              <a:t>“Can you tell me a joke?”</a:t>
            </a:r>
          </a:p>
          <a:p>
            <a:pPr marL="0" indent="0">
              <a:buNone/>
            </a:pPr>
            <a:endParaRPr lang="en-GB" dirty="0"/>
          </a:p>
          <a:p>
            <a:pPr marL="0" indent="0">
              <a:buNone/>
            </a:pPr>
            <a:r>
              <a:rPr lang="en-GB" dirty="0"/>
              <a:t>The AI’s ability to give </a:t>
            </a:r>
            <a:r>
              <a:rPr lang="en-GB" b="1" dirty="0"/>
              <a:t>natural, emotional, and context-aware answers</a:t>
            </a:r>
            <a:r>
              <a:rPr lang="en-GB" dirty="0"/>
              <a:t> is what determines success.</a:t>
            </a:r>
          </a:p>
          <a:p>
            <a:endParaRPr lang="en-US" dirty="0"/>
          </a:p>
        </p:txBody>
      </p:sp>
      <p:sp>
        <p:nvSpPr>
          <p:cNvPr id="4" name="Slide Number Placeholder 3">
            <a:extLst>
              <a:ext uri="{FF2B5EF4-FFF2-40B4-BE49-F238E27FC236}">
                <a16:creationId xmlns:a16="http://schemas.microsoft.com/office/drawing/2014/main" id="{3DC6B102-050F-E654-06AB-18F25173416C}"/>
              </a:ext>
            </a:extLst>
          </p:cNvPr>
          <p:cNvSpPr>
            <a:spLocks noGrp="1"/>
          </p:cNvSpPr>
          <p:nvPr>
            <p:ph type="sldNum" sz="quarter" idx="4"/>
          </p:nvPr>
        </p:nvSpPr>
        <p:spPr/>
        <p:txBody>
          <a:bodyPr/>
          <a:lstStyle/>
          <a:p>
            <a:fld id="{7472CE09-311C-4CDB-87AD-5FE14EBCB3AD}" type="slidenum">
              <a:rPr lang="en-US" smtClean="0"/>
              <a:pPr/>
              <a:t>7</a:t>
            </a:fld>
            <a:endParaRPr lang="en-US" dirty="0"/>
          </a:p>
        </p:txBody>
      </p:sp>
    </p:spTree>
    <p:extLst>
      <p:ext uri="{BB962C8B-B14F-4D97-AF65-F5344CB8AC3E}">
        <p14:creationId xmlns:p14="http://schemas.microsoft.com/office/powerpoint/2010/main" val="3262755324"/>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he Imitation Game - Film in streaming: scopri dove vederlo online">
            <a:extLst>
              <a:ext uri="{FF2B5EF4-FFF2-40B4-BE49-F238E27FC236}">
                <a16:creationId xmlns:a16="http://schemas.microsoft.com/office/drawing/2014/main" id="{18FA8135-484D-1997-89A7-DAA271541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9342" y="960121"/>
            <a:ext cx="3844892" cy="57778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92A4B3D-1FBF-A4EA-9D1A-F9DCC433BB55}"/>
              </a:ext>
            </a:extLst>
          </p:cNvPr>
          <p:cNvSpPr>
            <a:spLocks noGrp="1"/>
          </p:cNvSpPr>
          <p:nvPr>
            <p:ph type="title"/>
          </p:nvPr>
        </p:nvSpPr>
        <p:spPr/>
        <p:txBody>
          <a:bodyPr>
            <a:normAutofit/>
          </a:bodyPr>
          <a:lstStyle/>
          <a:p>
            <a:r>
              <a:rPr lang="en-US" dirty="0">
                <a:solidFill>
                  <a:schemeClr val="bg2">
                    <a:lumMod val="25000"/>
                  </a:schemeClr>
                </a:solidFill>
              </a:rPr>
              <a:t>The Imitation Game </a:t>
            </a:r>
            <a:endParaRPr lang="en-US" dirty="0"/>
          </a:p>
        </p:txBody>
      </p:sp>
      <p:sp>
        <p:nvSpPr>
          <p:cNvPr id="3" name="Content Placeholder 2">
            <a:extLst>
              <a:ext uri="{FF2B5EF4-FFF2-40B4-BE49-F238E27FC236}">
                <a16:creationId xmlns:a16="http://schemas.microsoft.com/office/drawing/2014/main" id="{B07923B5-0DEA-FD9B-CF65-1A8836731AC8}"/>
              </a:ext>
            </a:extLst>
          </p:cNvPr>
          <p:cNvSpPr>
            <a:spLocks noGrp="1"/>
          </p:cNvSpPr>
          <p:nvPr>
            <p:ph idx="1"/>
          </p:nvPr>
        </p:nvSpPr>
        <p:spPr>
          <a:xfrm>
            <a:off x="287766" y="960121"/>
            <a:ext cx="7503295" cy="5478779"/>
          </a:xfrm>
        </p:spPr>
        <p:txBody>
          <a:bodyPr>
            <a:normAutofit/>
          </a:bodyPr>
          <a:lstStyle/>
          <a:p>
            <a:pPr marL="0" indent="0">
              <a:buNone/>
            </a:pPr>
            <a:r>
              <a:rPr lang="en-US" b="1" dirty="0">
                <a:solidFill>
                  <a:schemeClr val="bg2">
                    <a:lumMod val="25000"/>
                  </a:schemeClr>
                </a:solidFill>
                <a:highlight>
                  <a:srgbClr val="00FFFF"/>
                </a:highlight>
              </a:rPr>
              <a:t>Reverse Engineering of Enigma</a:t>
            </a:r>
            <a:endParaRPr lang="en-GB" b="1" dirty="0">
              <a:highlight>
                <a:srgbClr val="00FFFF"/>
              </a:highlight>
            </a:endParaRPr>
          </a:p>
          <a:p>
            <a:pPr marL="0" indent="0">
              <a:buNone/>
            </a:pPr>
            <a:r>
              <a:rPr lang="en-GB" dirty="0"/>
              <a:t>In 1939, newly created British intelligence agency MI6 recruits Cambridge mathematics Alan Turing to crack Nazi codes, including </a:t>
            </a:r>
            <a:r>
              <a:rPr lang="en-GB" b="1" u="sng" dirty="0"/>
              <a:t>Enigma</a:t>
            </a:r>
            <a:r>
              <a:rPr lang="en-GB" dirty="0"/>
              <a:t> -- which cryptanalysts had thought unbreakable. </a:t>
            </a:r>
          </a:p>
          <a:p>
            <a:pPr marL="0" indent="0">
              <a:buNone/>
            </a:pPr>
            <a:endParaRPr lang="en-GB" dirty="0"/>
          </a:p>
          <a:p>
            <a:pPr marL="0" indent="0">
              <a:buNone/>
            </a:pPr>
            <a:r>
              <a:rPr lang="en-GB" dirty="0"/>
              <a:t>Turing's team, including Joan Clarke (Keira Knightley), </a:t>
            </a:r>
            <a:r>
              <a:rPr lang="en-GB" dirty="0" err="1"/>
              <a:t>analyze</a:t>
            </a:r>
            <a:r>
              <a:rPr lang="en-GB" dirty="0"/>
              <a:t> Enigma messages while he builds a machine to </a:t>
            </a:r>
            <a:r>
              <a:rPr lang="en-GB" b="1" dirty="0"/>
              <a:t>decipher</a:t>
            </a:r>
            <a:r>
              <a:rPr lang="en-GB" dirty="0"/>
              <a:t> them. </a:t>
            </a:r>
          </a:p>
          <a:p>
            <a:pPr marL="0" indent="0">
              <a:buNone/>
            </a:pPr>
            <a:endParaRPr lang="en-GB" dirty="0"/>
          </a:p>
          <a:p>
            <a:pPr marL="0" indent="0">
              <a:buNone/>
            </a:pPr>
            <a:r>
              <a:rPr lang="en-GB" dirty="0"/>
              <a:t>Turing and team finally succeed and become heroes.</a:t>
            </a:r>
            <a:endParaRPr lang="en-US" dirty="0"/>
          </a:p>
        </p:txBody>
      </p:sp>
      <p:sp>
        <p:nvSpPr>
          <p:cNvPr id="4" name="Slide Number Placeholder 3">
            <a:extLst>
              <a:ext uri="{FF2B5EF4-FFF2-40B4-BE49-F238E27FC236}">
                <a16:creationId xmlns:a16="http://schemas.microsoft.com/office/drawing/2014/main" id="{8CBE3148-7914-F10E-395B-09ED031BC95C}"/>
              </a:ext>
            </a:extLst>
          </p:cNvPr>
          <p:cNvSpPr>
            <a:spLocks noGrp="1"/>
          </p:cNvSpPr>
          <p:nvPr>
            <p:ph type="sldNum" sz="quarter" idx="4"/>
          </p:nvPr>
        </p:nvSpPr>
        <p:spPr/>
        <p:txBody>
          <a:bodyPr/>
          <a:lstStyle/>
          <a:p>
            <a:fld id="{7472CE09-311C-4CDB-87AD-5FE14EBCB3AD}" type="slidenum">
              <a:rPr lang="en-US" smtClean="0"/>
              <a:pPr/>
              <a:t>8</a:t>
            </a:fld>
            <a:endParaRPr lang="en-US" dirty="0"/>
          </a:p>
        </p:txBody>
      </p:sp>
    </p:spTree>
    <p:extLst>
      <p:ext uri="{BB962C8B-B14F-4D97-AF65-F5344CB8AC3E}">
        <p14:creationId xmlns:p14="http://schemas.microsoft.com/office/powerpoint/2010/main" val="351718455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509572" y="748242"/>
            <a:ext cx="7172857" cy="1591733"/>
          </a:xfrm>
          <a:prstGeom prst="rect">
            <a:avLst/>
          </a:prstGeom>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sz="6400" b="1" dirty="0">
                <a:solidFill>
                  <a:schemeClr val="accent2">
                    <a:lumMod val="50000"/>
                  </a:schemeClr>
                </a:solidFill>
                <a:latin typeface="+mn-lt"/>
              </a:rPr>
              <a:t>Alan M. Turing</a:t>
            </a:r>
          </a:p>
        </p:txBody>
      </p:sp>
      <p:sp>
        <p:nvSpPr>
          <p:cNvPr id="4" name="Subtitle 2"/>
          <p:cNvSpPr txBox="1">
            <a:spLocks/>
          </p:cNvSpPr>
          <p:nvPr/>
        </p:nvSpPr>
        <p:spPr>
          <a:xfrm>
            <a:off x="176463" y="2401359"/>
            <a:ext cx="11847095" cy="4147831"/>
          </a:xfrm>
          <a:prstGeom prst="rect">
            <a:avLst/>
          </a:prstGeom>
        </p:spPr>
        <p:txBody>
          <a:bodyPr>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buNone/>
            </a:pPr>
            <a:r>
              <a:rPr lang="en-US" sz="4800" dirty="0">
                <a:solidFill>
                  <a:schemeClr val="accent2">
                    <a:lumMod val="50000"/>
                  </a:schemeClr>
                </a:solidFill>
              </a:rPr>
              <a:t>“Computing Machinery and Intelligence” 1950</a:t>
            </a:r>
          </a:p>
          <a:p>
            <a:pPr marL="0" indent="0" algn="ctr">
              <a:buNone/>
            </a:pPr>
            <a:endParaRPr lang="en-US" sz="3200" dirty="0">
              <a:solidFill>
                <a:schemeClr val="accent2">
                  <a:lumMod val="50000"/>
                </a:schemeClr>
              </a:solidFill>
            </a:endParaRPr>
          </a:p>
          <a:p>
            <a:pPr marL="0" indent="0" algn="ctr">
              <a:buNone/>
            </a:pPr>
            <a:endParaRPr lang="en-US" sz="3200" dirty="0">
              <a:solidFill>
                <a:schemeClr val="accent2">
                  <a:lumMod val="50000"/>
                </a:schemeClr>
              </a:solidFill>
            </a:endParaRPr>
          </a:p>
          <a:p>
            <a:pPr marL="0" indent="0" algn="ctr">
              <a:buNone/>
            </a:pPr>
            <a:endParaRPr lang="en-US" sz="3200" dirty="0">
              <a:solidFill>
                <a:schemeClr val="accent2">
                  <a:lumMod val="50000"/>
                </a:schemeClr>
              </a:solidFill>
            </a:endParaRPr>
          </a:p>
          <a:p>
            <a:pPr marL="0" indent="0" algn="ctr">
              <a:buNone/>
            </a:pPr>
            <a:endParaRPr lang="en-US" sz="3200" dirty="0">
              <a:solidFill>
                <a:schemeClr val="accent2">
                  <a:lumMod val="50000"/>
                </a:schemeClr>
              </a:solidFill>
            </a:endParaRPr>
          </a:p>
          <a:p>
            <a:pPr marL="0" indent="0">
              <a:buNone/>
            </a:pPr>
            <a:r>
              <a:rPr lang="en-US" sz="1600" dirty="0">
                <a:solidFill>
                  <a:schemeClr val="accent2">
                    <a:lumMod val="50000"/>
                  </a:schemeClr>
                </a:solidFill>
              </a:rPr>
              <a:t>Mind; A Quarterly Review of Psychology and Philosophy</a:t>
            </a:r>
          </a:p>
          <a:p>
            <a:pPr marL="0" indent="0">
              <a:buNone/>
            </a:pPr>
            <a:r>
              <a:rPr lang="en-US" sz="1600" dirty="0">
                <a:solidFill>
                  <a:schemeClr val="accent2">
                    <a:lumMod val="50000"/>
                  </a:schemeClr>
                </a:solidFill>
              </a:rPr>
              <a:t>Volume 59, Number 236, pp 433 – 460</a:t>
            </a:r>
          </a:p>
        </p:txBody>
      </p:sp>
      <p:sp>
        <p:nvSpPr>
          <p:cNvPr id="13" name="TextBox 12">
            <a:extLst>
              <a:ext uri="{FF2B5EF4-FFF2-40B4-BE49-F238E27FC236}">
                <a16:creationId xmlns:a16="http://schemas.microsoft.com/office/drawing/2014/main" id="{65EBFECA-59A0-AA99-C8AA-4C086981C719}"/>
              </a:ext>
            </a:extLst>
          </p:cNvPr>
          <p:cNvSpPr txBox="1"/>
          <p:nvPr/>
        </p:nvSpPr>
        <p:spPr>
          <a:xfrm>
            <a:off x="3030894" y="3429000"/>
            <a:ext cx="6130212" cy="923330"/>
          </a:xfrm>
          <a:prstGeom prst="rect">
            <a:avLst/>
          </a:prstGeom>
          <a:noFill/>
        </p:spPr>
        <p:txBody>
          <a:bodyPr wrap="square">
            <a:spAutoFit/>
          </a:bodyPr>
          <a:lstStyle/>
          <a:p>
            <a:pPr marL="0" indent="0" algn="ctr">
              <a:buNone/>
            </a:pPr>
            <a:r>
              <a:rPr lang="en-US" sz="1800" dirty="0">
                <a:solidFill>
                  <a:schemeClr val="accent2">
                    <a:lumMod val="50000"/>
                  </a:schemeClr>
                </a:solidFill>
              </a:rPr>
              <a:t>Cryptography</a:t>
            </a:r>
          </a:p>
          <a:p>
            <a:pPr marL="0" indent="0" algn="ctr">
              <a:buNone/>
            </a:pPr>
            <a:r>
              <a:rPr lang="en-US" sz="1800" dirty="0">
                <a:solidFill>
                  <a:schemeClr val="accent2">
                    <a:lumMod val="50000"/>
                  </a:schemeClr>
                </a:solidFill>
              </a:rPr>
              <a:t>“Enigma”</a:t>
            </a:r>
          </a:p>
          <a:p>
            <a:pPr marL="0" indent="0" algn="ctr">
              <a:buNone/>
            </a:pPr>
            <a:r>
              <a:rPr lang="en-US" sz="1800" dirty="0">
                <a:solidFill>
                  <a:schemeClr val="accent2">
                    <a:lumMod val="50000"/>
                  </a:schemeClr>
                </a:solidFill>
              </a:rPr>
              <a:t>Mathematician</a:t>
            </a:r>
          </a:p>
        </p:txBody>
      </p:sp>
    </p:spTree>
    <p:extLst>
      <p:ext uri="{BB962C8B-B14F-4D97-AF65-F5344CB8AC3E}">
        <p14:creationId xmlns:p14="http://schemas.microsoft.com/office/powerpoint/2010/main" val="757247463"/>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endParaRPr lang="en-US" sz="6400" b="1" dirty="0">
              <a:solidFill>
                <a:schemeClr val="bg2">
                  <a:lumMod val="25000"/>
                </a:schemeClr>
              </a:solidFill>
              <a:latin typeface="+mn-lt"/>
            </a:endParaRP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12" name="Subtitle 2"/>
          <p:cNvSpPr txBox="1">
            <a:spLocks/>
          </p:cNvSpPr>
          <p:nvPr/>
        </p:nvSpPr>
        <p:spPr>
          <a:xfrm>
            <a:off x="4413242" y="2449690"/>
            <a:ext cx="3217740" cy="1806648"/>
          </a:xfrm>
          <a:prstGeom prst="rect">
            <a:avLst/>
          </a:prstGeom>
        </p:spPr>
        <p:txBody>
          <a:bodyPr wrap="none">
            <a:sp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buNone/>
            </a:pPr>
            <a:r>
              <a:rPr lang="en-US" sz="3200" dirty="0">
                <a:solidFill>
                  <a:schemeClr val="accent2">
                    <a:lumMod val="50000"/>
                  </a:schemeClr>
                </a:solidFill>
              </a:rPr>
              <a:t>Imagine a game</a:t>
            </a:r>
          </a:p>
          <a:p>
            <a:pPr marL="0" indent="0" algn="ctr">
              <a:buNone/>
            </a:pPr>
            <a:r>
              <a:rPr lang="en-US" sz="3200" dirty="0">
                <a:solidFill>
                  <a:schemeClr val="accent2">
                    <a:lumMod val="50000"/>
                  </a:schemeClr>
                </a:solidFill>
              </a:rPr>
              <a:t>played by 3</a:t>
            </a:r>
          </a:p>
          <a:p>
            <a:pPr marL="0" indent="0" algn="ctr">
              <a:buNone/>
            </a:pPr>
            <a:r>
              <a:rPr lang="en-US" sz="3200" dirty="0">
                <a:solidFill>
                  <a:schemeClr val="accent2">
                    <a:lumMod val="50000"/>
                  </a:schemeClr>
                </a:solidFill>
              </a:rPr>
              <a:t>people.</a:t>
            </a:r>
          </a:p>
        </p:txBody>
      </p:sp>
      <p:sp>
        <p:nvSpPr>
          <p:cNvPr id="7" name="Slide Number Placeholder 6">
            <a:extLst>
              <a:ext uri="{FF2B5EF4-FFF2-40B4-BE49-F238E27FC236}">
                <a16:creationId xmlns:a16="http://schemas.microsoft.com/office/drawing/2014/main" id="{B6E0F3BF-F00D-34DC-6793-998611E6B341}"/>
              </a:ext>
            </a:extLst>
          </p:cNvPr>
          <p:cNvSpPr>
            <a:spLocks noGrp="1"/>
          </p:cNvSpPr>
          <p:nvPr>
            <p:ph type="sldNum" sz="quarter" idx="4"/>
          </p:nvPr>
        </p:nvSpPr>
        <p:spPr/>
        <p:txBody>
          <a:bodyPr/>
          <a:lstStyle/>
          <a:p>
            <a:fld id="{7472CE09-311C-4CDB-87AD-5FE14EBCB3AD}" type="slidenum">
              <a:rPr lang="en-US" smtClean="0"/>
              <a:pPr/>
              <a:t>10</a:t>
            </a:fld>
            <a:endParaRPr lang="en-US" dirty="0"/>
          </a:p>
        </p:txBody>
      </p:sp>
    </p:spTree>
    <p:extLst>
      <p:ext uri="{BB962C8B-B14F-4D97-AF65-F5344CB8AC3E}">
        <p14:creationId xmlns:p14="http://schemas.microsoft.com/office/powerpoint/2010/main" val="72053073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Slide Number Placeholder 11">
            <a:extLst>
              <a:ext uri="{FF2B5EF4-FFF2-40B4-BE49-F238E27FC236}">
                <a16:creationId xmlns:a16="http://schemas.microsoft.com/office/drawing/2014/main" id="{A9E249C7-62D7-91B6-267C-8E9BC220ADCC}"/>
              </a:ext>
            </a:extLst>
          </p:cNvPr>
          <p:cNvSpPr>
            <a:spLocks noGrp="1"/>
          </p:cNvSpPr>
          <p:nvPr>
            <p:ph type="sldNum" sz="quarter" idx="12"/>
          </p:nvPr>
        </p:nvSpPr>
        <p:spPr/>
        <p:txBody>
          <a:bodyPr/>
          <a:lstStyle/>
          <a:p>
            <a:fld id="{7472CE09-311C-4CDB-87AD-5FE14EBCB3AD}" type="slidenum">
              <a:rPr lang="en-US" smtClean="0"/>
              <a:t>11</a:t>
            </a:fld>
            <a:endParaRPr lang="en-US"/>
          </a:p>
        </p:txBody>
      </p:sp>
    </p:spTree>
    <p:extLst>
      <p:ext uri="{BB962C8B-B14F-4D97-AF65-F5344CB8AC3E}">
        <p14:creationId xmlns:p14="http://schemas.microsoft.com/office/powerpoint/2010/main" val="1905768916"/>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2" name="Slide Number Placeholder 11">
            <a:extLst>
              <a:ext uri="{FF2B5EF4-FFF2-40B4-BE49-F238E27FC236}">
                <a16:creationId xmlns:a16="http://schemas.microsoft.com/office/drawing/2014/main" id="{DFD3B64B-7D27-83E3-8D2E-39D8792463C0}"/>
              </a:ext>
            </a:extLst>
          </p:cNvPr>
          <p:cNvSpPr>
            <a:spLocks noGrp="1"/>
          </p:cNvSpPr>
          <p:nvPr>
            <p:ph type="sldNum" sz="quarter" idx="12"/>
          </p:nvPr>
        </p:nvSpPr>
        <p:spPr/>
        <p:txBody>
          <a:bodyPr/>
          <a:lstStyle/>
          <a:p>
            <a:fld id="{7472CE09-311C-4CDB-87AD-5FE14EBCB3AD}" type="slidenum">
              <a:rPr lang="en-US" smtClean="0"/>
              <a:t>12</a:t>
            </a:fld>
            <a:endParaRPr lang="en-US"/>
          </a:p>
        </p:txBody>
      </p:sp>
    </p:spTree>
    <p:extLst>
      <p:ext uri="{BB962C8B-B14F-4D97-AF65-F5344CB8AC3E}">
        <p14:creationId xmlns:p14="http://schemas.microsoft.com/office/powerpoint/2010/main" val="4258216880"/>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8" name="Graphic 17" descr="Smart Phone"/>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2106065"/>
            <a:ext cx="609600" cy="609600"/>
          </a:xfrm>
          <a:prstGeom prst="rect">
            <a:avLst/>
          </a:prstGeom>
          <a:effectLst>
            <a:outerShdw blurRad="50800" dist="38100" dir="2700000" algn="tl" rotWithShape="0">
              <a:prstClr val="black">
                <a:alpha val="40000"/>
              </a:prstClr>
            </a:outerShdw>
          </a:effectLst>
        </p:spPr>
      </p:pic>
      <p:pic>
        <p:nvPicPr>
          <p:cNvPr id="19" name="Graphic 18" descr="Smart Phone"/>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125804"/>
            <a:ext cx="609600" cy="609600"/>
          </a:xfrm>
          <a:prstGeom prst="rect">
            <a:avLst/>
          </a:prstGeom>
          <a:effectLst>
            <a:outerShdw blurRad="50800" dist="38100" dir="2700000" algn="tl" rotWithShape="0">
              <a:prstClr val="black">
                <a:alpha val="40000"/>
              </a:prstClr>
            </a:outerShdw>
          </a:effectLst>
        </p:spPr>
      </p:pic>
      <p:pic>
        <p:nvPicPr>
          <p:cNvPr id="21" name="Graphic 20" descr="Smart Phone"/>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2" name="Slide Number Placeholder 11">
            <a:extLst>
              <a:ext uri="{FF2B5EF4-FFF2-40B4-BE49-F238E27FC236}">
                <a16:creationId xmlns:a16="http://schemas.microsoft.com/office/drawing/2014/main" id="{E6C3AC12-8619-AE84-C078-767D70610F32}"/>
              </a:ext>
            </a:extLst>
          </p:cNvPr>
          <p:cNvSpPr>
            <a:spLocks noGrp="1"/>
          </p:cNvSpPr>
          <p:nvPr>
            <p:ph type="sldNum" sz="quarter" idx="12"/>
          </p:nvPr>
        </p:nvSpPr>
        <p:spPr/>
        <p:txBody>
          <a:bodyPr/>
          <a:lstStyle/>
          <a:p>
            <a:fld id="{7472CE09-311C-4CDB-87AD-5FE14EBCB3AD}" type="slidenum">
              <a:rPr lang="en-US" smtClean="0"/>
              <a:t>13</a:t>
            </a:fld>
            <a:endParaRPr lang="en-US"/>
          </a:p>
        </p:txBody>
      </p:sp>
    </p:spTree>
    <p:extLst>
      <p:ext uri="{BB962C8B-B14F-4D97-AF65-F5344CB8AC3E}">
        <p14:creationId xmlns:p14="http://schemas.microsoft.com/office/powerpoint/2010/main" val="3846677535"/>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2" name="Thought Bubble: Cloud 11"/>
          <p:cNvSpPr/>
          <p:nvPr/>
        </p:nvSpPr>
        <p:spPr>
          <a:xfrm flipH="1">
            <a:off x="384783" y="805987"/>
            <a:ext cx="2188876"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I must convince the interrogator that I am a woman.</a:t>
            </a:r>
          </a:p>
        </p:txBody>
      </p:sp>
      <p:sp>
        <p:nvSpPr>
          <p:cNvPr id="13" name="Slide Number Placeholder 12">
            <a:extLst>
              <a:ext uri="{FF2B5EF4-FFF2-40B4-BE49-F238E27FC236}">
                <a16:creationId xmlns:a16="http://schemas.microsoft.com/office/drawing/2014/main" id="{94CE0CDF-F743-0374-D009-2B26432191C7}"/>
              </a:ext>
            </a:extLst>
          </p:cNvPr>
          <p:cNvSpPr>
            <a:spLocks noGrp="1"/>
          </p:cNvSpPr>
          <p:nvPr>
            <p:ph type="sldNum" sz="quarter" idx="12"/>
          </p:nvPr>
        </p:nvSpPr>
        <p:spPr/>
        <p:txBody>
          <a:bodyPr/>
          <a:lstStyle/>
          <a:p>
            <a:fld id="{7472CE09-311C-4CDB-87AD-5FE14EBCB3AD}" type="slidenum">
              <a:rPr lang="en-US" smtClean="0"/>
              <a:t>14</a:t>
            </a:fld>
            <a:endParaRPr lang="en-US"/>
          </a:p>
        </p:txBody>
      </p:sp>
    </p:spTree>
    <p:extLst>
      <p:ext uri="{BB962C8B-B14F-4D97-AF65-F5344CB8AC3E}">
        <p14:creationId xmlns:p14="http://schemas.microsoft.com/office/powerpoint/2010/main" val="955730954"/>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3" name="Speech Bubble: Oval 12"/>
          <p:cNvSpPr/>
          <p:nvPr/>
        </p:nvSpPr>
        <p:spPr>
          <a:xfrm flipH="1">
            <a:off x="1179806" y="925649"/>
            <a:ext cx="1119761" cy="799830"/>
          </a:xfrm>
          <a:prstGeom prst="wedgeEllipseCallout">
            <a:avLst>
              <a:gd name="adj1" fmla="val -82223"/>
              <a:gd name="adj2" fmla="val 82500"/>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I’m a woman!</a:t>
            </a:r>
          </a:p>
        </p:txBody>
      </p:sp>
      <p:sp>
        <p:nvSpPr>
          <p:cNvPr id="12" name="Slide Number Placeholder 11">
            <a:extLst>
              <a:ext uri="{FF2B5EF4-FFF2-40B4-BE49-F238E27FC236}">
                <a16:creationId xmlns:a16="http://schemas.microsoft.com/office/drawing/2014/main" id="{53BF7C60-F1A4-2AF3-68A6-0ED2A43A9086}"/>
              </a:ext>
            </a:extLst>
          </p:cNvPr>
          <p:cNvSpPr>
            <a:spLocks noGrp="1"/>
          </p:cNvSpPr>
          <p:nvPr>
            <p:ph type="sldNum" sz="quarter" idx="12"/>
          </p:nvPr>
        </p:nvSpPr>
        <p:spPr/>
        <p:txBody>
          <a:bodyPr/>
          <a:lstStyle/>
          <a:p>
            <a:fld id="{7472CE09-311C-4CDB-87AD-5FE14EBCB3AD}" type="slidenum">
              <a:rPr lang="en-US" smtClean="0"/>
              <a:t>15</a:t>
            </a:fld>
            <a:endParaRPr lang="en-US"/>
          </a:p>
        </p:txBody>
      </p:sp>
    </p:spTree>
    <p:extLst>
      <p:ext uri="{BB962C8B-B14F-4D97-AF65-F5344CB8AC3E}">
        <p14:creationId xmlns:p14="http://schemas.microsoft.com/office/powerpoint/2010/main" val="3720210423"/>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9" name="Thought Bubble: Cloud 18"/>
          <p:cNvSpPr/>
          <p:nvPr/>
        </p:nvSpPr>
        <p:spPr>
          <a:xfrm flipH="1">
            <a:off x="384783" y="2895138"/>
            <a:ext cx="2188876"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woman.</a:t>
            </a:r>
          </a:p>
        </p:txBody>
      </p:sp>
      <p:sp>
        <p:nvSpPr>
          <p:cNvPr id="12" name="Slide Number Placeholder 11">
            <a:extLst>
              <a:ext uri="{FF2B5EF4-FFF2-40B4-BE49-F238E27FC236}">
                <a16:creationId xmlns:a16="http://schemas.microsoft.com/office/drawing/2014/main" id="{CBE5162B-9BD8-31C0-0E7E-272F50C34F32}"/>
              </a:ext>
            </a:extLst>
          </p:cNvPr>
          <p:cNvSpPr>
            <a:spLocks noGrp="1"/>
          </p:cNvSpPr>
          <p:nvPr>
            <p:ph type="sldNum" sz="quarter" idx="12"/>
          </p:nvPr>
        </p:nvSpPr>
        <p:spPr/>
        <p:txBody>
          <a:bodyPr/>
          <a:lstStyle/>
          <a:p>
            <a:fld id="{7472CE09-311C-4CDB-87AD-5FE14EBCB3AD}" type="slidenum">
              <a:rPr lang="en-US" smtClean="0"/>
              <a:t>16</a:t>
            </a:fld>
            <a:endParaRPr lang="en-US"/>
          </a:p>
        </p:txBody>
      </p:sp>
    </p:spTree>
    <p:extLst>
      <p:ext uri="{BB962C8B-B14F-4D97-AF65-F5344CB8AC3E}">
        <p14:creationId xmlns:p14="http://schemas.microsoft.com/office/powerpoint/2010/main" val="2951617145"/>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8" name="Speech Bubble: Oval 17"/>
          <p:cNvSpPr/>
          <p:nvPr/>
        </p:nvSpPr>
        <p:spPr>
          <a:xfrm flipH="1">
            <a:off x="1073883" y="2999256"/>
            <a:ext cx="1119761" cy="799830"/>
          </a:xfrm>
          <a:prstGeom prst="wedgeEllipseCallout">
            <a:avLst>
              <a:gd name="adj1" fmla="val -82223"/>
              <a:gd name="adj2" fmla="val 82500"/>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I’m a woman!</a:t>
            </a:r>
          </a:p>
        </p:txBody>
      </p:sp>
      <p:sp>
        <p:nvSpPr>
          <p:cNvPr id="12" name="Slide Number Placeholder 11">
            <a:extLst>
              <a:ext uri="{FF2B5EF4-FFF2-40B4-BE49-F238E27FC236}">
                <a16:creationId xmlns:a16="http://schemas.microsoft.com/office/drawing/2014/main" id="{7F3AD97E-04DE-8435-10B9-3BD76CD88B70}"/>
              </a:ext>
            </a:extLst>
          </p:cNvPr>
          <p:cNvSpPr>
            <a:spLocks noGrp="1"/>
          </p:cNvSpPr>
          <p:nvPr>
            <p:ph type="sldNum" sz="quarter" idx="12"/>
          </p:nvPr>
        </p:nvSpPr>
        <p:spPr/>
        <p:txBody>
          <a:bodyPr/>
          <a:lstStyle/>
          <a:p>
            <a:fld id="{7472CE09-311C-4CDB-87AD-5FE14EBCB3AD}" type="slidenum">
              <a:rPr lang="en-US" smtClean="0"/>
              <a:t>17</a:t>
            </a:fld>
            <a:endParaRPr lang="en-US"/>
          </a:p>
        </p:txBody>
      </p:sp>
    </p:spTree>
    <p:extLst>
      <p:ext uri="{BB962C8B-B14F-4D97-AF65-F5344CB8AC3E}">
        <p14:creationId xmlns:p14="http://schemas.microsoft.com/office/powerpoint/2010/main" val="2744641932"/>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cxnSp>
        <p:nvCxnSpPr>
          <p:cNvPr id="13" name="Connector: Curved 12"/>
          <p:cNvCxnSpPr>
            <a:cxnSpLocks/>
            <a:stCxn id="17" idx="1"/>
            <a:endCxn id="15" idx="3"/>
          </p:cNvCxnSpPr>
          <p:nvPr/>
        </p:nvCxnSpPr>
        <p:spPr>
          <a:xfrm rot="10800000">
            <a:off x="4066834" y="2417047"/>
            <a:ext cx="3500987" cy="1176015"/>
          </a:xfrm>
          <a:prstGeom prst="curvedConnector3">
            <a:avLst/>
          </a:prstGeom>
          <a:ln w="127000">
            <a:solidFill>
              <a:srgbClr val="00B05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5859363" y="2647511"/>
            <a:ext cx="205626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Ask any question</a:t>
            </a:r>
          </a:p>
        </p:txBody>
      </p:sp>
      <p:sp>
        <p:nvSpPr>
          <p:cNvPr id="12" name="Slide Number Placeholder 11">
            <a:extLst>
              <a:ext uri="{FF2B5EF4-FFF2-40B4-BE49-F238E27FC236}">
                <a16:creationId xmlns:a16="http://schemas.microsoft.com/office/drawing/2014/main" id="{9574A325-DD67-46B8-E701-DCF08904A6D4}"/>
              </a:ext>
            </a:extLst>
          </p:cNvPr>
          <p:cNvSpPr>
            <a:spLocks noGrp="1"/>
          </p:cNvSpPr>
          <p:nvPr>
            <p:ph type="sldNum" sz="quarter" idx="12"/>
          </p:nvPr>
        </p:nvSpPr>
        <p:spPr/>
        <p:txBody>
          <a:bodyPr/>
          <a:lstStyle/>
          <a:p>
            <a:fld id="{7472CE09-311C-4CDB-87AD-5FE14EBCB3AD}" type="slidenum">
              <a:rPr lang="en-US" smtClean="0"/>
              <a:t>18</a:t>
            </a:fld>
            <a:endParaRPr lang="en-US"/>
          </a:p>
        </p:txBody>
      </p:sp>
    </p:spTree>
    <p:extLst>
      <p:ext uri="{BB962C8B-B14F-4D97-AF65-F5344CB8AC3E}">
        <p14:creationId xmlns:p14="http://schemas.microsoft.com/office/powerpoint/2010/main" val="794518919"/>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cxnSp>
        <p:nvCxnSpPr>
          <p:cNvPr id="13" name="Connector: Curved 12"/>
          <p:cNvCxnSpPr>
            <a:cxnSpLocks/>
            <a:stCxn id="15" idx="3"/>
            <a:endCxn id="17" idx="1"/>
          </p:cNvCxnSpPr>
          <p:nvPr/>
        </p:nvCxnSpPr>
        <p:spPr>
          <a:xfrm>
            <a:off x="4066834" y="2417047"/>
            <a:ext cx="3500987" cy="1176015"/>
          </a:xfrm>
          <a:prstGeom prst="curvedConnector3">
            <a:avLst/>
          </a:prstGeom>
          <a:ln w="127000">
            <a:solidFill>
              <a:schemeClr val="accent5">
                <a:lumMod val="75000"/>
              </a:schemeClr>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5038072" y="2068233"/>
            <a:ext cx="2440796"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Allowed any answer.</a:t>
            </a:r>
          </a:p>
        </p:txBody>
      </p:sp>
      <p:sp>
        <p:nvSpPr>
          <p:cNvPr id="12" name="Slide Number Placeholder 11">
            <a:extLst>
              <a:ext uri="{FF2B5EF4-FFF2-40B4-BE49-F238E27FC236}">
                <a16:creationId xmlns:a16="http://schemas.microsoft.com/office/drawing/2014/main" id="{C1DF49BE-C588-64A9-8C9A-F8AD6EB81B49}"/>
              </a:ext>
            </a:extLst>
          </p:cNvPr>
          <p:cNvSpPr>
            <a:spLocks noGrp="1"/>
          </p:cNvSpPr>
          <p:nvPr>
            <p:ph type="sldNum" sz="quarter" idx="12"/>
          </p:nvPr>
        </p:nvSpPr>
        <p:spPr/>
        <p:txBody>
          <a:bodyPr/>
          <a:lstStyle/>
          <a:p>
            <a:fld id="{7472CE09-311C-4CDB-87AD-5FE14EBCB3AD}" type="slidenum">
              <a:rPr lang="en-US" smtClean="0"/>
              <a:t>19</a:t>
            </a:fld>
            <a:endParaRPr lang="en-US"/>
          </a:p>
        </p:txBody>
      </p:sp>
    </p:spTree>
    <p:extLst>
      <p:ext uri="{BB962C8B-B14F-4D97-AF65-F5344CB8AC3E}">
        <p14:creationId xmlns:p14="http://schemas.microsoft.com/office/powerpoint/2010/main" val="3217848421"/>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cxnSp>
        <p:nvCxnSpPr>
          <p:cNvPr id="13" name="Connector: Curved 12"/>
          <p:cNvCxnSpPr>
            <a:cxnSpLocks/>
            <a:stCxn id="17" idx="1"/>
            <a:endCxn id="16" idx="3"/>
          </p:cNvCxnSpPr>
          <p:nvPr/>
        </p:nvCxnSpPr>
        <p:spPr>
          <a:xfrm rot="10800000" flipV="1">
            <a:off x="4036127" y="3593061"/>
            <a:ext cx="3531695" cy="732454"/>
          </a:xfrm>
          <a:prstGeom prst="curvedConnector3">
            <a:avLst/>
          </a:prstGeom>
          <a:ln w="127000">
            <a:solidFill>
              <a:srgbClr val="00B05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5124858" y="3288261"/>
            <a:ext cx="205626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Ask any question</a:t>
            </a:r>
          </a:p>
        </p:txBody>
      </p:sp>
      <p:sp>
        <p:nvSpPr>
          <p:cNvPr id="12" name="Slide Number Placeholder 11">
            <a:extLst>
              <a:ext uri="{FF2B5EF4-FFF2-40B4-BE49-F238E27FC236}">
                <a16:creationId xmlns:a16="http://schemas.microsoft.com/office/drawing/2014/main" id="{7785F436-8B85-84EF-2A0F-F4B3B00C71A2}"/>
              </a:ext>
            </a:extLst>
          </p:cNvPr>
          <p:cNvSpPr>
            <a:spLocks noGrp="1"/>
          </p:cNvSpPr>
          <p:nvPr>
            <p:ph type="sldNum" sz="quarter" idx="12"/>
          </p:nvPr>
        </p:nvSpPr>
        <p:spPr/>
        <p:txBody>
          <a:bodyPr/>
          <a:lstStyle/>
          <a:p>
            <a:fld id="{7472CE09-311C-4CDB-87AD-5FE14EBCB3AD}" type="slidenum">
              <a:rPr lang="en-US" smtClean="0"/>
              <a:t>20</a:t>
            </a:fld>
            <a:endParaRPr lang="en-US"/>
          </a:p>
        </p:txBody>
      </p:sp>
    </p:spTree>
    <p:extLst>
      <p:ext uri="{BB962C8B-B14F-4D97-AF65-F5344CB8AC3E}">
        <p14:creationId xmlns:p14="http://schemas.microsoft.com/office/powerpoint/2010/main" val="619800090"/>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cxnSp>
        <p:nvCxnSpPr>
          <p:cNvPr id="13" name="Connector: Curved 12"/>
          <p:cNvCxnSpPr>
            <a:cxnSpLocks/>
            <a:stCxn id="16" idx="3"/>
            <a:endCxn id="17" idx="1"/>
          </p:cNvCxnSpPr>
          <p:nvPr/>
        </p:nvCxnSpPr>
        <p:spPr>
          <a:xfrm flipV="1">
            <a:off x="4036126" y="3593062"/>
            <a:ext cx="3531695" cy="732454"/>
          </a:xfrm>
          <a:prstGeom prst="curvedConnector3">
            <a:avLst/>
          </a:prstGeom>
          <a:ln w="127000">
            <a:solidFill>
              <a:schemeClr val="accent2">
                <a:lumMod val="75000"/>
              </a:schemeClr>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4666260" y="3242282"/>
            <a:ext cx="2440796"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Allowed any answer.</a:t>
            </a:r>
          </a:p>
        </p:txBody>
      </p:sp>
      <p:sp>
        <p:nvSpPr>
          <p:cNvPr id="12" name="Slide Number Placeholder 11">
            <a:extLst>
              <a:ext uri="{FF2B5EF4-FFF2-40B4-BE49-F238E27FC236}">
                <a16:creationId xmlns:a16="http://schemas.microsoft.com/office/drawing/2014/main" id="{ED270B7B-F467-B3AB-1BBB-B94905E7A737}"/>
              </a:ext>
            </a:extLst>
          </p:cNvPr>
          <p:cNvSpPr>
            <a:spLocks noGrp="1"/>
          </p:cNvSpPr>
          <p:nvPr>
            <p:ph type="sldNum" sz="quarter" idx="12"/>
          </p:nvPr>
        </p:nvSpPr>
        <p:spPr/>
        <p:txBody>
          <a:bodyPr/>
          <a:lstStyle/>
          <a:p>
            <a:fld id="{7472CE09-311C-4CDB-87AD-5FE14EBCB3AD}" type="slidenum">
              <a:rPr lang="en-US" smtClean="0"/>
              <a:t>21</a:t>
            </a:fld>
            <a:endParaRPr lang="en-US"/>
          </a:p>
        </p:txBody>
      </p:sp>
    </p:spTree>
    <p:extLst>
      <p:ext uri="{BB962C8B-B14F-4D97-AF65-F5344CB8AC3E}">
        <p14:creationId xmlns:p14="http://schemas.microsoft.com/office/powerpoint/2010/main" val="1001679412"/>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2" name="Group 1"/>
          <p:cNvGrpSpPr/>
          <p:nvPr/>
        </p:nvGrpSpPr>
        <p:grpSpPr>
          <a:xfrm>
            <a:off x="2299568" y="1578494"/>
            <a:ext cx="1431758" cy="3975445"/>
            <a:chOff x="3100435" y="1567640"/>
            <a:chExt cx="2147637" cy="5963168"/>
          </a:xfrm>
          <a:effectLst>
            <a:outerShdw blurRad="50800" dist="38100" dir="2700000" algn="tl" rotWithShape="0">
              <a:prstClr val="black">
                <a:alpha val="40000"/>
              </a:prstClr>
            </a:outerShdw>
          </a:effectLst>
        </p:grpSpPr>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0435" y="1567640"/>
              <a:ext cx="2147637" cy="2147637"/>
            </a:xfrm>
            <a:prstGeom prst="rect">
              <a:avLst/>
            </a:prstGeom>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0435" y="4813687"/>
              <a:ext cx="2147637" cy="2147637"/>
            </a:xfrm>
            <a:prstGeom prst="rect">
              <a:avLst/>
            </a:prstGeom>
          </p:spPr>
        </p:pic>
        <p:sp>
          <p:nvSpPr>
            <p:cNvPr id="9" name="Rectangle 8"/>
            <p:cNvSpPr/>
            <p:nvPr/>
          </p:nvSpPr>
          <p:spPr>
            <a:xfrm>
              <a:off x="3747694" y="3775436"/>
              <a:ext cx="988733" cy="569484"/>
            </a:xfrm>
            <a:prstGeom prst="rect">
              <a:avLst/>
            </a:prstGeom>
          </p:spPr>
          <p:txBody>
            <a:bodyPr wrap="none">
              <a:spAutoFit/>
            </a:bodyPr>
            <a:lstStyle/>
            <a:p>
              <a:r>
                <a:rPr lang="en-US" sz="1867" dirty="0"/>
                <a:t>Man</a:t>
              </a:r>
            </a:p>
          </p:txBody>
        </p:sp>
        <p:sp>
          <p:nvSpPr>
            <p:cNvPr id="10" name="Rectangle 9"/>
            <p:cNvSpPr/>
            <p:nvPr/>
          </p:nvSpPr>
          <p:spPr>
            <a:xfrm>
              <a:off x="3511572" y="6961324"/>
              <a:ext cx="1516761" cy="569484"/>
            </a:xfrm>
            <a:prstGeom prst="rect">
              <a:avLst/>
            </a:prstGeom>
          </p:spPr>
          <p:txBody>
            <a:bodyPr wrap="none">
              <a:spAutoFit/>
            </a:bodyPr>
            <a:lstStyle/>
            <a:p>
              <a:r>
                <a:rPr lang="en-US" sz="1867" dirty="0"/>
                <a:t>Woman</a:t>
              </a:r>
            </a:p>
          </p:txBody>
        </p:sp>
      </p:gr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8" name="Rectangle 17"/>
          <p:cNvSpPr/>
          <p:nvPr/>
        </p:nvSpPr>
        <p:spPr>
          <a:xfrm>
            <a:off x="5087065" y="2373033"/>
            <a:ext cx="2485873" cy="666977"/>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Deception is allowed</a:t>
            </a:r>
          </a:p>
          <a:p>
            <a:r>
              <a:rPr lang="en-US" sz="1867" dirty="0"/>
              <a:t>by everyone.</a:t>
            </a:r>
          </a:p>
        </p:txBody>
      </p:sp>
      <p:cxnSp>
        <p:nvCxnSpPr>
          <p:cNvPr id="19" name="Connector: Curved 18"/>
          <p:cNvCxnSpPr>
            <a:cxnSpLocks/>
            <a:stCxn id="18" idx="1"/>
            <a:endCxn id="15" idx="3"/>
          </p:cNvCxnSpPr>
          <p:nvPr/>
        </p:nvCxnSpPr>
        <p:spPr>
          <a:xfrm rot="10800000">
            <a:off x="4066834" y="2417046"/>
            <a:ext cx="1020231" cy="274023"/>
          </a:xfrm>
          <a:prstGeom prst="curvedConnector3">
            <a:avLst>
              <a:gd name="adj1" fmla="val 50000"/>
            </a:avLst>
          </a:prstGeom>
          <a:ln w="127000">
            <a:solidFill>
              <a:schemeClr val="accent5">
                <a:lumMod val="75000"/>
              </a:schemeClr>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Connector: Curved 19"/>
          <p:cNvCxnSpPr>
            <a:cxnSpLocks/>
            <a:stCxn id="18" idx="2"/>
            <a:endCxn id="16" idx="3"/>
          </p:cNvCxnSpPr>
          <p:nvPr/>
        </p:nvCxnSpPr>
        <p:spPr>
          <a:xfrm rot="5400000">
            <a:off x="4438623" y="2606609"/>
            <a:ext cx="1316411" cy="2121403"/>
          </a:xfrm>
          <a:prstGeom prst="curvedConnector2">
            <a:avLst/>
          </a:prstGeom>
          <a:ln w="127000">
            <a:solidFill>
              <a:schemeClr val="accent2">
                <a:lumMod val="75000"/>
              </a:schemeClr>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3" name="Connector: Curved 22"/>
          <p:cNvCxnSpPr>
            <a:cxnSpLocks/>
            <a:stCxn id="18" idx="3"/>
            <a:endCxn id="17" idx="0"/>
          </p:cNvCxnSpPr>
          <p:nvPr/>
        </p:nvCxnSpPr>
        <p:spPr>
          <a:xfrm>
            <a:off x="7227993" y="2691069"/>
            <a:ext cx="644628" cy="597193"/>
          </a:xfrm>
          <a:prstGeom prst="curvedConnector2">
            <a:avLst/>
          </a:prstGeom>
          <a:ln w="127000">
            <a:solidFill>
              <a:schemeClr val="accent6">
                <a:lumMod val="75000"/>
              </a:schemeClr>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F059CEC1-C1F4-C5CC-E560-B98D19928E8D}"/>
              </a:ext>
            </a:extLst>
          </p:cNvPr>
          <p:cNvSpPr>
            <a:spLocks noGrp="1"/>
          </p:cNvSpPr>
          <p:nvPr>
            <p:ph type="sldNum" sz="quarter" idx="12"/>
          </p:nvPr>
        </p:nvSpPr>
        <p:spPr/>
        <p:txBody>
          <a:bodyPr/>
          <a:lstStyle/>
          <a:p>
            <a:fld id="{7472CE09-311C-4CDB-87AD-5FE14EBCB3AD}" type="slidenum">
              <a:rPr lang="en-US" smtClean="0"/>
              <a:t>22</a:t>
            </a:fld>
            <a:endParaRPr lang="en-US"/>
          </a:p>
        </p:txBody>
      </p:sp>
    </p:spTree>
    <p:extLst>
      <p:ext uri="{BB962C8B-B14F-4D97-AF65-F5344CB8AC3E}">
        <p14:creationId xmlns:p14="http://schemas.microsoft.com/office/powerpoint/2010/main" val="1727898614"/>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9568" y="1578494"/>
            <a:ext cx="1431758" cy="1431758"/>
          </a:xfrm>
          <a:prstGeom prst="rect">
            <a:avLst/>
          </a:prstGeom>
          <a:effectLst>
            <a:outerShdw blurRad="50800" dist="38100" dir="2700000" algn="tl" rotWithShape="0">
              <a:prstClr val="black">
                <a:alpha val="40000"/>
              </a:prstClr>
            </a:outerShdw>
          </a:effectLst>
        </p:spPr>
      </p:pic>
      <p:pic>
        <p:nvPicPr>
          <p:cNvPr id="6" name="Graphic 5" descr="Woman"/>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99568" y="3742525"/>
            <a:ext cx="1431758" cy="1431758"/>
          </a:xfrm>
          <a:prstGeom prst="rect">
            <a:avLst/>
          </a:prstGeom>
          <a:effectLst>
            <a:outerShdw blurRad="50800" dist="38100" dir="2700000" algn="tl" rotWithShape="0">
              <a:prstClr val="black">
                <a:alpha val="40000"/>
              </a:prstClr>
            </a:outerShdw>
          </a:effectLst>
        </p:spPr>
      </p:pic>
      <p:sp>
        <p:nvSpPr>
          <p:cNvPr id="9" name="Rectangle 8"/>
          <p:cNvSpPr/>
          <p:nvPr/>
        </p:nvSpPr>
        <p:spPr>
          <a:xfrm>
            <a:off x="2731074" y="3050357"/>
            <a:ext cx="659155"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Man</a:t>
            </a:r>
          </a:p>
        </p:txBody>
      </p:sp>
      <p:sp>
        <p:nvSpPr>
          <p:cNvPr id="10" name="Rectangle 9"/>
          <p:cNvSpPr/>
          <p:nvPr/>
        </p:nvSpPr>
        <p:spPr>
          <a:xfrm>
            <a:off x="2573659" y="5174283"/>
            <a:ext cx="1011174"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Woman</a:t>
            </a:r>
          </a:p>
        </p:txBody>
      </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pic>
        <p:nvPicPr>
          <p:cNvPr id="13" name="Graphic 12" descr="Close"/>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315673" y="3803707"/>
            <a:ext cx="1309395" cy="1309395"/>
          </a:xfrm>
          <a:prstGeom prst="rect">
            <a:avLst/>
          </a:prstGeom>
          <a:effectLst>
            <a:outerShdw blurRad="50800" dist="38100" dir="2700000" algn="tl" rotWithShape="0">
              <a:prstClr val="black">
                <a:alpha val="40000"/>
              </a:prstClr>
            </a:outerShdw>
          </a:effectLst>
        </p:spPr>
      </p:pic>
      <p:sp>
        <p:nvSpPr>
          <p:cNvPr id="21" name="Subtitle 2"/>
          <p:cNvSpPr txBox="1">
            <a:spLocks/>
          </p:cNvSpPr>
          <p:nvPr/>
        </p:nvSpPr>
        <p:spPr>
          <a:xfrm>
            <a:off x="4344635" y="2449690"/>
            <a:ext cx="3354957" cy="1171090"/>
          </a:xfrm>
          <a:prstGeom prst="rect">
            <a:avLst/>
          </a:prstGeom>
        </p:spPr>
        <p:txBody>
          <a:bodyPr wrap="none">
            <a:sp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buNone/>
            </a:pPr>
            <a:r>
              <a:rPr lang="en-US" sz="3200" dirty="0">
                <a:solidFill>
                  <a:schemeClr val="accent2">
                    <a:lumMod val="50000"/>
                  </a:schemeClr>
                </a:solidFill>
              </a:rPr>
              <a:t>Now replace one</a:t>
            </a:r>
          </a:p>
          <a:p>
            <a:pPr marL="0" indent="0" algn="ctr">
              <a:buNone/>
            </a:pPr>
            <a:r>
              <a:rPr lang="en-US" sz="3200" dirty="0">
                <a:solidFill>
                  <a:schemeClr val="accent2">
                    <a:lumMod val="50000"/>
                  </a:schemeClr>
                </a:solidFill>
              </a:rPr>
              <a:t>person …</a:t>
            </a:r>
          </a:p>
        </p:txBody>
      </p:sp>
      <p:sp>
        <p:nvSpPr>
          <p:cNvPr id="2" name="Slide Number Placeholder 1">
            <a:extLst>
              <a:ext uri="{FF2B5EF4-FFF2-40B4-BE49-F238E27FC236}">
                <a16:creationId xmlns:a16="http://schemas.microsoft.com/office/drawing/2014/main" id="{A1B37C2E-5914-44CE-2E70-7217BDEB29F5}"/>
              </a:ext>
            </a:extLst>
          </p:cNvPr>
          <p:cNvSpPr>
            <a:spLocks noGrp="1"/>
          </p:cNvSpPr>
          <p:nvPr>
            <p:ph type="sldNum" sz="quarter" idx="12"/>
          </p:nvPr>
        </p:nvSpPr>
        <p:spPr/>
        <p:txBody>
          <a:bodyPr/>
          <a:lstStyle/>
          <a:p>
            <a:fld id="{7472CE09-311C-4CDB-87AD-5FE14EBCB3AD}" type="slidenum">
              <a:rPr lang="en-US" smtClean="0"/>
              <a:t>23</a:t>
            </a:fld>
            <a:endParaRPr lang="en-US"/>
          </a:p>
        </p:txBody>
      </p:sp>
    </p:spTree>
    <p:extLst>
      <p:ext uri="{BB962C8B-B14F-4D97-AF65-F5344CB8AC3E}">
        <p14:creationId xmlns:p14="http://schemas.microsoft.com/office/powerpoint/2010/main" val="754716489"/>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9568" y="1578494"/>
            <a:ext cx="1431758" cy="1431758"/>
          </a:xfrm>
          <a:prstGeom prst="rect">
            <a:avLst/>
          </a:prstGeom>
          <a:effectLst>
            <a:outerShdw blurRad="50800" dist="38100" dir="2700000" algn="tl" rotWithShape="0">
              <a:prstClr val="black">
                <a:alpha val="40000"/>
              </a:prstClr>
            </a:outerShdw>
          </a:effectLst>
        </p:spPr>
      </p:pic>
      <p:sp>
        <p:nvSpPr>
          <p:cNvPr id="9" name="Rectangle 8"/>
          <p:cNvSpPr/>
          <p:nvPr/>
        </p:nvSpPr>
        <p:spPr>
          <a:xfrm>
            <a:off x="2600162" y="3022467"/>
            <a:ext cx="96051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Human</a:t>
            </a:r>
          </a:p>
        </p:txBody>
      </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pic>
        <p:nvPicPr>
          <p:cNvPr id="12" name="Graphic 11" descr="Compu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21127" y="3675604"/>
            <a:ext cx="1232099" cy="1232099"/>
          </a:xfrm>
          <a:prstGeom prst="rect">
            <a:avLst/>
          </a:prstGeom>
          <a:effectLst>
            <a:outerShdw blurRad="50800" dist="38100" dir="2700000" algn="tl" rotWithShape="0">
              <a:prstClr val="black">
                <a:alpha val="40000"/>
              </a:prstClr>
            </a:outerShdw>
          </a:effectLst>
        </p:spPr>
      </p:pic>
      <p:sp>
        <p:nvSpPr>
          <p:cNvPr id="18" name="Rectangle 17"/>
          <p:cNvSpPr/>
          <p:nvPr/>
        </p:nvSpPr>
        <p:spPr>
          <a:xfrm>
            <a:off x="2530698" y="4801021"/>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19" name="Subtitle 2"/>
          <p:cNvSpPr txBox="1">
            <a:spLocks/>
          </p:cNvSpPr>
          <p:nvPr/>
        </p:nvSpPr>
        <p:spPr>
          <a:xfrm>
            <a:off x="4081936" y="2449690"/>
            <a:ext cx="3880358" cy="3713324"/>
          </a:xfrm>
          <a:prstGeom prst="rect">
            <a:avLst/>
          </a:prstGeom>
        </p:spPr>
        <p:txBody>
          <a:bodyPr wrap="none">
            <a:sp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buNone/>
            </a:pPr>
            <a:r>
              <a:rPr lang="en-US" sz="3200" dirty="0">
                <a:solidFill>
                  <a:schemeClr val="accent2">
                    <a:lumMod val="50000"/>
                  </a:schemeClr>
                </a:solidFill>
              </a:rPr>
              <a:t>with a machine.</a:t>
            </a:r>
          </a:p>
          <a:p>
            <a:pPr marL="0" indent="0" algn="ctr">
              <a:buNone/>
            </a:pPr>
            <a:endParaRPr lang="en-US" sz="3200" dirty="0">
              <a:solidFill>
                <a:schemeClr val="accent2">
                  <a:lumMod val="50000"/>
                </a:schemeClr>
              </a:solidFill>
            </a:endParaRPr>
          </a:p>
          <a:p>
            <a:pPr marL="0" indent="0" algn="ctr">
              <a:buNone/>
            </a:pPr>
            <a:endParaRPr lang="en-US" sz="3200" dirty="0">
              <a:solidFill>
                <a:schemeClr val="accent2">
                  <a:lumMod val="50000"/>
                </a:schemeClr>
              </a:solidFill>
            </a:endParaRPr>
          </a:p>
          <a:p>
            <a:pPr marL="0" indent="0" algn="ctr">
              <a:buNone/>
            </a:pPr>
            <a:r>
              <a:rPr lang="en-US" sz="3200" dirty="0">
                <a:solidFill>
                  <a:schemeClr val="accent2">
                    <a:lumMod val="50000"/>
                  </a:schemeClr>
                </a:solidFill>
              </a:rPr>
              <a:t>Note that the “man”</a:t>
            </a:r>
          </a:p>
          <a:p>
            <a:pPr marL="0" indent="0" algn="ctr">
              <a:buNone/>
            </a:pPr>
            <a:r>
              <a:rPr lang="en-US" sz="3200" dirty="0">
                <a:solidFill>
                  <a:schemeClr val="accent2">
                    <a:lumMod val="50000"/>
                  </a:schemeClr>
                </a:solidFill>
              </a:rPr>
              <a:t>is now just a</a:t>
            </a:r>
          </a:p>
          <a:p>
            <a:pPr marL="0" indent="0" algn="ctr">
              <a:buNone/>
            </a:pPr>
            <a:r>
              <a:rPr lang="en-US" sz="3200" dirty="0">
                <a:solidFill>
                  <a:schemeClr val="accent2">
                    <a:lumMod val="50000"/>
                  </a:schemeClr>
                </a:solidFill>
              </a:rPr>
              <a:t>“human”</a:t>
            </a:r>
          </a:p>
        </p:txBody>
      </p:sp>
      <p:sp>
        <p:nvSpPr>
          <p:cNvPr id="2" name="Slide Number Placeholder 1">
            <a:extLst>
              <a:ext uri="{FF2B5EF4-FFF2-40B4-BE49-F238E27FC236}">
                <a16:creationId xmlns:a16="http://schemas.microsoft.com/office/drawing/2014/main" id="{201FF66C-7B44-0E0C-6CD8-DB996F7631B2}"/>
              </a:ext>
            </a:extLst>
          </p:cNvPr>
          <p:cNvSpPr>
            <a:spLocks noGrp="1"/>
          </p:cNvSpPr>
          <p:nvPr>
            <p:ph type="sldNum" sz="quarter" idx="12"/>
          </p:nvPr>
        </p:nvSpPr>
        <p:spPr/>
        <p:txBody>
          <a:bodyPr/>
          <a:lstStyle/>
          <a:p>
            <a:fld id="{7472CE09-311C-4CDB-87AD-5FE14EBCB3AD}" type="slidenum">
              <a:rPr lang="en-US" smtClean="0"/>
              <a:t>24</a:t>
            </a:fld>
            <a:endParaRPr lang="en-US"/>
          </a:p>
        </p:txBody>
      </p:sp>
    </p:spTree>
    <p:extLst>
      <p:ext uri="{BB962C8B-B14F-4D97-AF65-F5344CB8AC3E}">
        <p14:creationId xmlns:p14="http://schemas.microsoft.com/office/powerpoint/2010/main" val="566884604"/>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9568" y="1578494"/>
            <a:ext cx="1431758" cy="1431758"/>
          </a:xfrm>
          <a:prstGeom prst="rect">
            <a:avLst/>
          </a:prstGeom>
          <a:effectLst>
            <a:outerShdw blurRad="50800" dist="38100" dir="2700000" algn="tl" rotWithShape="0">
              <a:prstClr val="black">
                <a:alpha val="40000"/>
              </a:prstClr>
            </a:outerShdw>
          </a:effectLst>
        </p:spPr>
      </p:pic>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pic>
        <p:nvPicPr>
          <p:cNvPr id="12" name="Graphic 11" descr="Compu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21127" y="3675604"/>
            <a:ext cx="1232099" cy="1232099"/>
          </a:xfrm>
          <a:prstGeom prst="rect">
            <a:avLst/>
          </a:prstGeom>
          <a:effectLst>
            <a:outerShdw blurRad="50800" dist="38100" dir="2700000" algn="tl" rotWithShape="0">
              <a:prstClr val="black">
                <a:alpha val="40000"/>
              </a:prstClr>
            </a:outerShdw>
          </a:effectLst>
        </p:spPr>
      </p:pic>
      <p:sp>
        <p:nvSpPr>
          <p:cNvPr id="14" name="Rectangle 13"/>
          <p:cNvSpPr/>
          <p:nvPr/>
        </p:nvSpPr>
        <p:spPr>
          <a:xfrm>
            <a:off x="2600162" y="3022467"/>
            <a:ext cx="96051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Human</a:t>
            </a:r>
          </a:p>
        </p:txBody>
      </p:sp>
      <p:sp>
        <p:nvSpPr>
          <p:cNvPr id="18" name="Rectangle 17"/>
          <p:cNvSpPr/>
          <p:nvPr/>
        </p:nvSpPr>
        <p:spPr>
          <a:xfrm>
            <a:off x="2530698" y="4801021"/>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19" name="Subtitle 2"/>
          <p:cNvSpPr txBox="1">
            <a:spLocks/>
          </p:cNvSpPr>
          <p:nvPr/>
        </p:nvSpPr>
        <p:spPr>
          <a:xfrm>
            <a:off x="4740447" y="2449690"/>
            <a:ext cx="2563330" cy="1171090"/>
          </a:xfrm>
          <a:prstGeom prst="rect">
            <a:avLst/>
          </a:prstGeom>
        </p:spPr>
        <p:txBody>
          <a:bodyPr wrap="none">
            <a:sp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buNone/>
            </a:pPr>
            <a:r>
              <a:rPr lang="en-US" sz="3200" dirty="0">
                <a:solidFill>
                  <a:schemeClr val="accent2">
                    <a:lumMod val="50000"/>
                  </a:schemeClr>
                </a:solidFill>
              </a:rPr>
              <a:t>Similar rules</a:t>
            </a:r>
          </a:p>
          <a:p>
            <a:pPr marL="0" indent="0" algn="ctr">
              <a:buNone/>
            </a:pPr>
            <a:r>
              <a:rPr lang="en-US" sz="3200" dirty="0">
                <a:solidFill>
                  <a:schemeClr val="accent2">
                    <a:lumMod val="50000"/>
                  </a:schemeClr>
                </a:solidFill>
              </a:rPr>
              <a:t>apply.</a:t>
            </a:r>
          </a:p>
        </p:txBody>
      </p:sp>
      <p:sp>
        <p:nvSpPr>
          <p:cNvPr id="2" name="Slide Number Placeholder 1">
            <a:extLst>
              <a:ext uri="{FF2B5EF4-FFF2-40B4-BE49-F238E27FC236}">
                <a16:creationId xmlns:a16="http://schemas.microsoft.com/office/drawing/2014/main" id="{E323A880-43B6-BF34-1982-9B2B21506E5A}"/>
              </a:ext>
            </a:extLst>
          </p:cNvPr>
          <p:cNvSpPr>
            <a:spLocks noGrp="1"/>
          </p:cNvSpPr>
          <p:nvPr>
            <p:ph type="sldNum" sz="quarter" idx="12"/>
          </p:nvPr>
        </p:nvSpPr>
        <p:spPr/>
        <p:txBody>
          <a:bodyPr/>
          <a:lstStyle/>
          <a:p>
            <a:fld id="{7472CE09-311C-4CDB-87AD-5FE14EBCB3AD}" type="slidenum">
              <a:rPr lang="en-US" smtClean="0"/>
              <a:t>25</a:t>
            </a:fld>
            <a:endParaRPr lang="en-US"/>
          </a:p>
        </p:txBody>
      </p:sp>
    </p:spTree>
    <p:extLst>
      <p:ext uri="{BB962C8B-B14F-4D97-AF65-F5344CB8AC3E}">
        <p14:creationId xmlns:p14="http://schemas.microsoft.com/office/powerpoint/2010/main" val="1343610191"/>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9568" y="1578494"/>
            <a:ext cx="1431758" cy="1431758"/>
          </a:xfrm>
          <a:prstGeom prst="rect">
            <a:avLst/>
          </a:prstGeom>
          <a:effectLst>
            <a:outerShdw blurRad="50800" dist="38100" dir="2700000" algn="tl" rotWithShape="0">
              <a:prstClr val="black">
                <a:alpha val="40000"/>
              </a:prstClr>
            </a:outerShdw>
          </a:effectLst>
        </p:spPr>
      </p:pic>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pic>
        <p:nvPicPr>
          <p:cNvPr id="12" name="Graphic 11" descr="Compu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21127" y="3675604"/>
            <a:ext cx="1232099" cy="1232099"/>
          </a:xfrm>
          <a:prstGeom prst="rect">
            <a:avLst/>
          </a:prstGeom>
          <a:effectLst>
            <a:outerShdw blurRad="50800" dist="38100" dir="2700000" algn="tl" rotWithShape="0">
              <a:prstClr val="black">
                <a:alpha val="40000"/>
              </a:prstClr>
            </a:outerShdw>
          </a:effectLst>
        </p:spPr>
      </p:pic>
      <p:sp>
        <p:nvSpPr>
          <p:cNvPr id="13" name="Thought Bubble: Cloud 12"/>
          <p:cNvSpPr/>
          <p:nvPr/>
        </p:nvSpPr>
        <p:spPr>
          <a:xfrm flipH="1">
            <a:off x="384783" y="805987"/>
            <a:ext cx="2188876"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I must convince the interrogator that I am a human.</a:t>
            </a:r>
          </a:p>
        </p:txBody>
      </p:sp>
      <p:sp>
        <p:nvSpPr>
          <p:cNvPr id="14" name="Rectangle 13"/>
          <p:cNvSpPr/>
          <p:nvPr/>
        </p:nvSpPr>
        <p:spPr>
          <a:xfrm>
            <a:off x="2600162" y="3022467"/>
            <a:ext cx="96051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Human</a:t>
            </a:r>
          </a:p>
        </p:txBody>
      </p:sp>
      <p:sp>
        <p:nvSpPr>
          <p:cNvPr id="18" name="Rectangle 17"/>
          <p:cNvSpPr/>
          <p:nvPr/>
        </p:nvSpPr>
        <p:spPr>
          <a:xfrm>
            <a:off x="2530698" y="4801021"/>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F7B0FD8C-497D-EA25-F505-DA071155D302}"/>
              </a:ext>
            </a:extLst>
          </p:cNvPr>
          <p:cNvSpPr>
            <a:spLocks noGrp="1"/>
          </p:cNvSpPr>
          <p:nvPr>
            <p:ph type="sldNum" sz="quarter" idx="12"/>
          </p:nvPr>
        </p:nvSpPr>
        <p:spPr/>
        <p:txBody>
          <a:bodyPr/>
          <a:lstStyle/>
          <a:p>
            <a:fld id="{7472CE09-311C-4CDB-87AD-5FE14EBCB3AD}" type="slidenum">
              <a:rPr lang="en-US" smtClean="0"/>
              <a:t>26</a:t>
            </a:fld>
            <a:endParaRPr lang="en-US"/>
          </a:p>
        </p:txBody>
      </p:sp>
    </p:spTree>
    <p:extLst>
      <p:ext uri="{BB962C8B-B14F-4D97-AF65-F5344CB8AC3E}">
        <p14:creationId xmlns:p14="http://schemas.microsoft.com/office/powerpoint/2010/main" val="3632557025"/>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9568" y="1578494"/>
            <a:ext cx="1431758" cy="1431758"/>
          </a:xfrm>
          <a:prstGeom prst="rect">
            <a:avLst/>
          </a:prstGeom>
          <a:effectLst>
            <a:outerShdw blurRad="50800" dist="38100" dir="2700000" algn="tl" rotWithShape="0">
              <a:prstClr val="black">
                <a:alpha val="40000"/>
              </a:prstClr>
            </a:outerShdw>
          </a:effectLst>
        </p:spPr>
      </p:pic>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pic>
        <p:nvPicPr>
          <p:cNvPr id="12" name="Graphic 11" descr="Compu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21127" y="3675604"/>
            <a:ext cx="1232099" cy="1232099"/>
          </a:xfrm>
          <a:prstGeom prst="rect">
            <a:avLst/>
          </a:prstGeom>
          <a:effectLst>
            <a:outerShdw blurRad="50800" dist="38100" dir="2700000" algn="tl" rotWithShape="0">
              <a:prstClr val="black">
                <a:alpha val="40000"/>
              </a:prstClr>
            </a:outerShdw>
          </a:effectLst>
        </p:spPr>
      </p:pic>
      <p:sp>
        <p:nvSpPr>
          <p:cNvPr id="13" name="Thought Bubble: Cloud 12"/>
          <p:cNvSpPr/>
          <p:nvPr/>
        </p:nvSpPr>
        <p:spPr>
          <a:xfrm flipH="1">
            <a:off x="32250" y="3113694"/>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human.</a:t>
            </a:r>
          </a:p>
        </p:txBody>
      </p:sp>
      <p:sp>
        <p:nvSpPr>
          <p:cNvPr id="14" name="Rectangle 13"/>
          <p:cNvSpPr/>
          <p:nvPr/>
        </p:nvSpPr>
        <p:spPr>
          <a:xfrm>
            <a:off x="2600162" y="3022467"/>
            <a:ext cx="96051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Human</a:t>
            </a:r>
          </a:p>
        </p:txBody>
      </p:sp>
      <p:sp>
        <p:nvSpPr>
          <p:cNvPr id="18" name="Rectangle 17"/>
          <p:cNvSpPr/>
          <p:nvPr/>
        </p:nvSpPr>
        <p:spPr>
          <a:xfrm>
            <a:off x="2530698" y="4801021"/>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71BED7B5-8609-13A8-C851-643BFA4E7999}"/>
              </a:ext>
            </a:extLst>
          </p:cNvPr>
          <p:cNvSpPr>
            <a:spLocks noGrp="1"/>
          </p:cNvSpPr>
          <p:nvPr>
            <p:ph type="sldNum" sz="quarter" idx="12"/>
          </p:nvPr>
        </p:nvSpPr>
        <p:spPr/>
        <p:txBody>
          <a:bodyPr/>
          <a:lstStyle/>
          <a:p>
            <a:fld id="{7472CE09-311C-4CDB-87AD-5FE14EBCB3AD}" type="slidenum">
              <a:rPr lang="en-US" smtClean="0"/>
              <a:t>27</a:t>
            </a:fld>
            <a:endParaRPr lang="en-US"/>
          </a:p>
        </p:txBody>
      </p:sp>
    </p:spTree>
    <p:extLst>
      <p:ext uri="{BB962C8B-B14F-4D97-AF65-F5344CB8AC3E}">
        <p14:creationId xmlns:p14="http://schemas.microsoft.com/office/powerpoint/2010/main" val="4009913209"/>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9568" y="1578494"/>
            <a:ext cx="1431758" cy="1431758"/>
          </a:xfrm>
          <a:prstGeom prst="rect">
            <a:avLst/>
          </a:prstGeom>
          <a:effectLst>
            <a:outerShdw blurRad="50800" dist="38100" dir="2700000" algn="tl" rotWithShape="0">
              <a:prstClr val="black">
                <a:alpha val="40000"/>
              </a:prstClr>
            </a:outerShdw>
          </a:effectLst>
        </p:spPr>
      </p:pic>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pic>
        <p:nvPicPr>
          <p:cNvPr id="12" name="Graphic 11" descr="Compu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21127" y="3675604"/>
            <a:ext cx="1232099" cy="1232099"/>
          </a:xfrm>
          <a:prstGeom prst="rect">
            <a:avLst/>
          </a:prstGeom>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hought Bubble: Cloud 12"/>
              <p:cNvSpPr/>
              <p:nvPr/>
            </p:nvSpPr>
            <p:spPr>
              <a:xfrm flipH="1">
                <a:off x="32250" y="3113694"/>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200" i="1" smtClean="0">
                          <a:solidFill>
                            <a:schemeClr val="accent3">
                              <a:lumMod val="20000"/>
                              <a:lumOff val="80000"/>
                            </a:schemeClr>
                          </a:solidFill>
                          <a:latin typeface="Cambria Math" panose="02040503050406030204" pitchFamily="18" charset="0"/>
                        </a:rPr>
                        <m:t>𝑜𝑏𝑗𝑒𝑐𝑡𝑖𝑣𝑒</m:t>
                      </m:r>
                      <m:r>
                        <a:rPr lang="en-US" sz="1200" i="1" smtClean="0">
                          <a:solidFill>
                            <a:schemeClr val="accent3">
                              <a:lumMod val="20000"/>
                              <a:lumOff val="80000"/>
                            </a:schemeClr>
                          </a:solidFill>
                          <a:latin typeface="Cambria Math" panose="02040503050406030204" pitchFamily="18" charset="0"/>
                        </a:rPr>
                        <m:t>_</m:t>
                      </m:r>
                      <m:r>
                        <a:rPr lang="en-US" sz="1200" i="1" smtClean="0">
                          <a:solidFill>
                            <a:schemeClr val="accent3">
                              <a:lumMod val="20000"/>
                              <a:lumOff val="80000"/>
                            </a:schemeClr>
                          </a:solidFill>
                          <a:latin typeface="Cambria Math" panose="02040503050406030204" pitchFamily="18" charset="0"/>
                        </a:rPr>
                        <m:t>𝑓𝑢𝑛𝑐𝑡𝑖𝑜𝑛</m:t>
                      </m:r>
                      <m:r>
                        <a:rPr lang="en-US" sz="1200" i="1" smtClean="0">
                          <a:solidFill>
                            <a:schemeClr val="accent3">
                              <a:lumMod val="20000"/>
                              <a:lumOff val="80000"/>
                            </a:schemeClr>
                          </a:solidFill>
                          <a:latin typeface="Cambria Math" panose="02040503050406030204" pitchFamily="18" charset="0"/>
                        </a:rPr>
                        <m:t>()</m:t>
                      </m:r>
                    </m:oMath>
                  </m:oMathPara>
                </a14:m>
                <a:endParaRPr lang="en-US" sz="1200" dirty="0">
                  <a:solidFill>
                    <a:schemeClr val="accent3">
                      <a:lumMod val="20000"/>
                      <a:lumOff val="80000"/>
                    </a:schemeClr>
                  </a:solidFill>
                </a:endParaRPr>
              </a:p>
            </p:txBody>
          </p:sp>
        </mc:Choice>
        <mc:Fallback xmlns="">
          <p:sp>
            <p:nvSpPr>
              <p:cNvPr id="13" name="Thought Bubble: Cloud 12"/>
              <p:cNvSpPr>
                <a:spLocks noRot="1" noChangeAspect="1" noMove="1" noResize="1" noEditPoints="1" noAdjustHandles="1" noChangeArrowheads="1" noChangeShapeType="1" noTextEdit="1"/>
              </p:cNvSpPr>
              <p:nvPr/>
            </p:nvSpPr>
            <p:spPr>
              <a:xfrm flipH="1">
                <a:off x="32250" y="3113694"/>
                <a:ext cx="2188876" cy="847387"/>
              </a:xfrm>
              <a:prstGeom prst="cloudCallout">
                <a:avLst>
                  <a:gd name="adj1" fmla="val -48360"/>
                  <a:gd name="adj2" fmla="val 68112"/>
                </a:avLst>
              </a:prstGeom>
              <a:blipFill>
                <a:blip r:embed="rId10"/>
                <a:stretch>
                  <a:fillRect/>
                </a:stretch>
              </a:blipFill>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14" name="Rectangle 13"/>
          <p:cNvSpPr/>
          <p:nvPr/>
        </p:nvSpPr>
        <p:spPr>
          <a:xfrm>
            <a:off x="2600162" y="3022467"/>
            <a:ext cx="96051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Human</a:t>
            </a:r>
          </a:p>
        </p:txBody>
      </p:sp>
      <p:sp>
        <p:nvSpPr>
          <p:cNvPr id="18" name="Rectangle 17"/>
          <p:cNvSpPr/>
          <p:nvPr/>
        </p:nvSpPr>
        <p:spPr>
          <a:xfrm>
            <a:off x="2530698" y="4801021"/>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B4F8E70F-5637-1ABC-1C3B-269B5AFAF57A}"/>
              </a:ext>
            </a:extLst>
          </p:cNvPr>
          <p:cNvSpPr>
            <a:spLocks noGrp="1"/>
          </p:cNvSpPr>
          <p:nvPr>
            <p:ph type="sldNum" sz="quarter" idx="12"/>
          </p:nvPr>
        </p:nvSpPr>
        <p:spPr/>
        <p:txBody>
          <a:bodyPr/>
          <a:lstStyle/>
          <a:p>
            <a:fld id="{7472CE09-311C-4CDB-87AD-5FE14EBCB3AD}" type="slidenum">
              <a:rPr lang="en-US" smtClean="0"/>
              <a:t>28</a:t>
            </a:fld>
            <a:endParaRPr lang="en-US"/>
          </a:p>
        </p:txBody>
      </p:sp>
    </p:spTree>
    <p:extLst>
      <p:ext uri="{BB962C8B-B14F-4D97-AF65-F5344CB8AC3E}">
        <p14:creationId xmlns:p14="http://schemas.microsoft.com/office/powerpoint/2010/main" val="1888970404"/>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9568" y="1578494"/>
            <a:ext cx="1431758" cy="1431758"/>
          </a:xfrm>
          <a:prstGeom prst="rect">
            <a:avLst/>
          </a:prstGeom>
          <a:effectLst>
            <a:outerShdw blurRad="50800" dist="38100" dir="2700000" algn="tl" rotWithShape="0">
              <a:prstClr val="black">
                <a:alpha val="40000"/>
              </a:prstClr>
            </a:outerShdw>
          </a:effectLst>
        </p:spPr>
      </p:pic>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pic>
        <p:nvPicPr>
          <p:cNvPr id="12" name="Graphic 11" descr="Compu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21127" y="3675604"/>
            <a:ext cx="1232099" cy="1232099"/>
          </a:xfrm>
          <a:prstGeom prst="rect">
            <a:avLst/>
          </a:prstGeom>
          <a:effectLst>
            <a:outerShdw blurRad="50800" dist="38100" dir="2700000" algn="tl" rotWithShape="0">
              <a:prstClr val="black">
                <a:alpha val="40000"/>
              </a:prstClr>
            </a:outerShdw>
          </a:effectLst>
        </p:spPr>
      </p:pic>
      <p:sp>
        <p:nvSpPr>
          <p:cNvPr id="13" name="Thought Bubble: Cloud 12"/>
          <p:cNvSpPr/>
          <p:nvPr/>
        </p:nvSpPr>
        <p:spPr>
          <a:xfrm flipH="1">
            <a:off x="32250" y="3113694"/>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human.</a:t>
            </a:r>
          </a:p>
        </p:txBody>
      </p:sp>
      <p:sp>
        <p:nvSpPr>
          <p:cNvPr id="14" name="Thought Bubble: Cloud 13"/>
          <p:cNvSpPr/>
          <p:nvPr/>
        </p:nvSpPr>
        <p:spPr>
          <a:xfrm flipH="1">
            <a:off x="384783" y="805987"/>
            <a:ext cx="2188876"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I must convince the interrogator that I am a human.</a:t>
            </a:r>
          </a:p>
        </p:txBody>
      </p:sp>
      <p:sp>
        <p:nvSpPr>
          <p:cNvPr id="18" name="Thought Bubble: Cloud 17"/>
          <p:cNvSpPr/>
          <p:nvPr/>
        </p:nvSpPr>
        <p:spPr>
          <a:xfrm>
            <a:off x="9373141" y="2072669"/>
            <a:ext cx="2336799"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if I am communicating with a human</a:t>
            </a:r>
          </a:p>
        </p:txBody>
      </p:sp>
      <p:sp>
        <p:nvSpPr>
          <p:cNvPr id="19" name="Rectangle 18"/>
          <p:cNvSpPr/>
          <p:nvPr/>
        </p:nvSpPr>
        <p:spPr>
          <a:xfrm>
            <a:off x="2600162" y="3022467"/>
            <a:ext cx="96051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Human</a:t>
            </a:r>
          </a:p>
        </p:txBody>
      </p:sp>
      <p:sp>
        <p:nvSpPr>
          <p:cNvPr id="20" name="Rectangle 19"/>
          <p:cNvSpPr/>
          <p:nvPr/>
        </p:nvSpPr>
        <p:spPr>
          <a:xfrm>
            <a:off x="2530698" y="4801021"/>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9364FCB3-0ABF-3278-EFC2-046B38F71B20}"/>
              </a:ext>
            </a:extLst>
          </p:cNvPr>
          <p:cNvSpPr>
            <a:spLocks noGrp="1"/>
          </p:cNvSpPr>
          <p:nvPr>
            <p:ph type="sldNum" sz="quarter" idx="12"/>
          </p:nvPr>
        </p:nvSpPr>
        <p:spPr/>
        <p:txBody>
          <a:bodyPr/>
          <a:lstStyle/>
          <a:p>
            <a:fld id="{7472CE09-311C-4CDB-87AD-5FE14EBCB3AD}" type="slidenum">
              <a:rPr lang="en-US" smtClean="0"/>
              <a:t>29</a:t>
            </a:fld>
            <a:endParaRPr lang="en-US"/>
          </a:p>
        </p:txBody>
      </p:sp>
    </p:spTree>
    <p:extLst>
      <p:ext uri="{BB962C8B-B14F-4D97-AF65-F5344CB8AC3E}">
        <p14:creationId xmlns:p14="http://schemas.microsoft.com/office/powerpoint/2010/main" val="3538178089"/>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901515" y="2391469"/>
            <a:ext cx="2366211" cy="2364277"/>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7" name="Graphic 16"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8" name="Thought Bubble: Cloud 17"/>
          <p:cNvSpPr/>
          <p:nvPr/>
        </p:nvSpPr>
        <p:spPr>
          <a:xfrm>
            <a:off x="9373141" y="2072669"/>
            <a:ext cx="2336799"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if I am communicating with a human</a:t>
            </a:r>
          </a:p>
        </p:txBody>
      </p:sp>
      <p:cxnSp>
        <p:nvCxnSpPr>
          <p:cNvPr id="21" name="Connector: Curved 20"/>
          <p:cNvCxnSpPr>
            <a:cxnSpLocks/>
            <a:stCxn id="17" idx="1"/>
            <a:endCxn id="26" idx="3"/>
          </p:cNvCxnSpPr>
          <p:nvPr/>
        </p:nvCxnSpPr>
        <p:spPr>
          <a:xfrm rot="10800000">
            <a:off x="4137977" y="3584844"/>
            <a:ext cx="3429844" cy="8217"/>
          </a:xfrm>
          <a:prstGeom prst="curvedConnector3">
            <a:avLst>
              <a:gd name="adj1" fmla="val 50000"/>
            </a:avLst>
          </a:prstGeom>
          <a:ln w="127000">
            <a:solidFill>
              <a:schemeClr val="accent4">
                <a:lumMod val="75000"/>
              </a:schemeClr>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034240" y="3105159"/>
            <a:ext cx="205626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Ask any question</a:t>
            </a:r>
          </a:p>
        </p:txBody>
      </p:sp>
      <p:sp>
        <p:nvSpPr>
          <p:cNvPr id="24" name="Rectangle 23"/>
          <p:cNvSpPr/>
          <p:nvPr/>
        </p:nvSpPr>
        <p:spPr>
          <a:xfrm>
            <a:off x="4909805" y="3690033"/>
            <a:ext cx="2327625"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Provide any answer</a:t>
            </a:r>
          </a:p>
        </p:txBody>
      </p:sp>
      <p:sp>
        <p:nvSpPr>
          <p:cNvPr id="25" name="Rectangle 24"/>
          <p:cNvSpPr/>
          <p:nvPr/>
        </p:nvSpPr>
        <p:spPr>
          <a:xfrm>
            <a:off x="4007132" y="5055356"/>
            <a:ext cx="5653407" cy="913199"/>
          </a:xfrm>
          <a:prstGeom prst="rect">
            <a:avLst/>
          </a:prstGeom>
          <a:effectLst>
            <a:outerShdw blurRad="50800" dist="38100" dir="2700000" algn="tl" rotWithShape="0">
              <a:prstClr val="black">
                <a:alpha val="40000"/>
              </a:prstClr>
            </a:outerShdw>
          </a:effectLst>
        </p:spPr>
        <p:txBody>
          <a:bodyPr wrap="none">
            <a:spAutoFit/>
          </a:bodyPr>
          <a:lstStyle/>
          <a:p>
            <a:r>
              <a:rPr lang="en-US" sz="5334" b="1" i="1" dirty="0">
                <a:solidFill>
                  <a:schemeClr val="accent2">
                    <a:lumMod val="50000"/>
                  </a:schemeClr>
                </a:solidFill>
              </a:rPr>
              <a:t>No holds barred!</a:t>
            </a:r>
          </a:p>
        </p:txBody>
      </p:sp>
      <p:pic>
        <p:nvPicPr>
          <p:cNvPr id="26" name="Graphic 25"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8377" y="3280044"/>
            <a:ext cx="609600" cy="609600"/>
          </a:xfrm>
          <a:prstGeom prst="rect">
            <a:avLst/>
          </a:prstGeom>
          <a:effectLst>
            <a:outerShdw blurRad="50800" dist="38100" dir="2700000" algn="tl" rotWithShape="0">
              <a:prstClr val="black">
                <a:alpha val="40000"/>
              </a:prstClr>
            </a:outerShdw>
          </a:effectLst>
        </p:spPr>
      </p:pic>
      <p:pic>
        <p:nvPicPr>
          <p:cNvPr id="27" name="Graphic 26" descr="Compu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10008" y="2934933"/>
            <a:ext cx="1232099" cy="1232099"/>
          </a:xfrm>
          <a:prstGeom prst="rect">
            <a:avLst/>
          </a:prstGeom>
          <a:effectLst>
            <a:outerShdw blurRad="50800" dist="38100" dir="2700000" algn="tl" rotWithShape="0">
              <a:prstClr val="black">
                <a:alpha val="40000"/>
              </a:prstClr>
            </a:outerShdw>
          </a:effectLst>
        </p:spPr>
      </p:pic>
      <p:sp>
        <p:nvSpPr>
          <p:cNvPr id="28" name="Thought Bubble: Cloud 27"/>
          <p:cNvSpPr/>
          <p:nvPr/>
        </p:nvSpPr>
        <p:spPr>
          <a:xfrm flipH="1">
            <a:off x="121131" y="2373023"/>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human.</a:t>
            </a:r>
          </a:p>
        </p:txBody>
      </p:sp>
      <p:sp>
        <p:nvSpPr>
          <p:cNvPr id="30" name="Rectangle 29"/>
          <p:cNvSpPr/>
          <p:nvPr/>
        </p:nvSpPr>
        <p:spPr>
          <a:xfrm>
            <a:off x="2545911" y="4030712"/>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E1A9A70E-B8AF-E825-E9E8-C38333A04E8D}"/>
              </a:ext>
            </a:extLst>
          </p:cNvPr>
          <p:cNvSpPr>
            <a:spLocks noGrp="1"/>
          </p:cNvSpPr>
          <p:nvPr>
            <p:ph type="sldNum" sz="quarter" idx="12"/>
          </p:nvPr>
        </p:nvSpPr>
        <p:spPr/>
        <p:txBody>
          <a:bodyPr/>
          <a:lstStyle/>
          <a:p>
            <a:fld id="{7472CE09-311C-4CDB-87AD-5FE14EBCB3AD}" type="slidenum">
              <a:rPr lang="en-US" smtClean="0"/>
              <a:t>30</a:t>
            </a:fld>
            <a:endParaRPr lang="en-US"/>
          </a:p>
        </p:txBody>
      </p:sp>
    </p:spTree>
    <p:extLst>
      <p:ext uri="{BB962C8B-B14F-4D97-AF65-F5344CB8AC3E}">
        <p14:creationId xmlns:p14="http://schemas.microsoft.com/office/powerpoint/2010/main" val="12958700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9568" y="1578494"/>
            <a:ext cx="1431758" cy="1431758"/>
          </a:xfrm>
          <a:prstGeom prst="rect">
            <a:avLst/>
          </a:prstGeom>
          <a:effectLst>
            <a:outerShdw blurRad="50800" dist="38100" dir="2700000" algn="tl" rotWithShape="0">
              <a:prstClr val="black">
                <a:alpha val="40000"/>
              </a:prstClr>
            </a:outerShdw>
          </a:effectLst>
        </p:spPr>
      </p:pic>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832341" y="1224149"/>
            <a:ext cx="2366211" cy="4737826"/>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7234" y="2112246"/>
            <a:ext cx="609600" cy="609600"/>
          </a:xfrm>
          <a:prstGeom prst="rect">
            <a:avLst/>
          </a:prstGeom>
          <a:effectLst>
            <a:outerShdw blurRad="50800" dist="38100" dir="2700000" algn="tl" rotWithShape="0">
              <a:prstClr val="black">
                <a:alpha val="40000"/>
              </a:prstClr>
            </a:outerShdw>
          </a:effectLst>
        </p:spPr>
      </p:pic>
      <p:pic>
        <p:nvPicPr>
          <p:cNvPr id="16" name="Graphic 15"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26525" y="4020715"/>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pic>
        <p:nvPicPr>
          <p:cNvPr id="12" name="Graphic 11" descr="Compute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21127" y="3675604"/>
            <a:ext cx="1232099" cy="1232099"/>
          </a:xfrm>
          <a:prstGeom prst="rect">
            <a:avLst/>
          </a:prstGeom>
          <a:effectLst>
            <a:outerShdw blurRad="50800" dist="38100" dir="2700000" algn="tl" rotWithShape="0">
              <a:prstClr val="black">
                <a:alpha val="40000"/>
              </a:prstClr>
            </a:outerShdw>
          </a:effectLst>
        </p:spPr>
      </p:pic>
      <p:sp>
        <p:nvSpPr>
          <p:cNvPr id="13" name="Thought Bubble: Cloud 12"/>
          <p:cNvSpPr/>
          <p:nvPr/>
        </p:nvSpPr>
        <p:spPr>
          <a:xfrm flipH="1">
            <a:off x="32250" y="3113694"/>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human.</a:t>
            </a:r>
          </a:p>
        </p:txBody>
      </p:sp>
      <p:sp>
        <p:nvSpPr>
          <p:cNvPr id="14" name="Thought Bubble: Cloud 13"/>
          <p:cNvSpPr/>
          <p:nvPr/>
        </p:nvSpPr>
        <p:spPr>
          <a:xfrm flipH="1">
            <a:off x="384783" y="805987"/>
            <a:ext cx="2188876"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I must convince the interrogator that I am a human.</a:t>
            </a:r>
          </a:p>
        </p:txBody>
      </p:sp>
      <p:sp>
        <p:nvSpPr>
          <p:cNvPr id="18" name="Thought Bubble: Cloud 17"/>
          <p:cNvSpPr/>
          <p:nvPr/>
        </p:nvSpPr>
        <p:spPr>
          <a:xfrm>
            <a:off x="9373141" y="2072669"/>
            <a:ext cx="2336799"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if I am communicating with a human</a:t>
            </a:r>
          </a:p>
        </p:txBody>
      </p:sp>
      <p:sp>
        <p:nvSpPr>
          <p:cNvPr id="19" name="Thought Bubble: Cloud 18"/>
          <p:cNvSpPr/>
          <p:nvPr/>
        </p:nvSpPr>
        <p:spPr>
          <a:xfrm flipH="1">
            <a:off x="6158459" y="2026708"/>
            <a:ext cx="2227841"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which one is a human</a:t>
            </a:r>
          </a:p>
        </p:txBody>
      </p:sp>
      <p:pic>
        <p:nvPicPr>
          <p:cNvPr id="20" name="Graphic 19" descr="Close"/>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36309" y="1795703"/>
            <a:ext cx="1309395" cy="1309395"/>
          </a:xfrm>
          <a:prstGeom prst="rect">
            <a:avLst/>
          </a:prstGeom>
          <a:effectLst>
            <a:outerShdw blurRad="50800" dist="38100" dir="2700000" algn="tl" rotWithShape="0">
              <a:prstClr val="black">
                <a:alpha val="40000"/>
              </a:prstClr>
            </a:outerShdw>
          </a:effectLst>
        </p:spPr>
      </p:pic>
      <p:sp>
        <p:nvSpPr>
          <p:cNvPr id="21" name="Rectangle 20"/>
          <p:cNvSpPr/>
          <p:nvPr/>
        </p:nvSpPr>
        <p:spPr>
          <a:xfrm>
            <a:off x="2600162" y="3022467"/>
            <a:ext cx="96051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Human</a:t>
            </a:r>
          </a:p>
        </p:txBody>
      </p:sp>
      <p:sp>
        <p:nvSpPr>
          <p:cNvPr id="22" name="Rectangle 21"/>
          <p:cNvSpPr/>
          <p:nvPr/>
        </p:nvSpPr>
        <p:spPr>
          <a:xfrm>
            <a:off x="2530698" y="4801021"/>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3A750A4A-5913-BB6C-3C6E-C1BC1241FEEB}"/>
              </a:ext>
            </a:extLst>
          </p:cNvPr>
          <p:cNvSpPr>
            <a:spLocks noGrp="1"/>
          </p:cNvSpPr>
          <p:nvPr>
            <p:ph type="sldNum" sz="quarter" idx="12"/>
          </p:nvPr>
        </p:nvSpPr>
        <p:spPr/>
        <p:txBody>
          <a:bodyPr/>
          <a:lstStyle/>
          <a:p>
            <a:fld id="{7472CE09-311C-4CDB-87AD-5FE14EBCB3AD}" type="slidenum">
              <a:rPr lang="en-US" smtClean="0"/>
              <a:t>31</a:t>
            </a:fld>
            <a:endParaRPr lang="en-US"/>
          </a:p>
        </p:txBody>
      </p:sp>
    </p:spTree>
    <p:extLst>
      <p:ext uri="{BB962C8B-B14F-4D97-AF65-F5344CB8AC3E}">
        <p14:creationId xmlns:p14="http://schemas.microsoft.com/office/powerpoint/2010/main" val="925917604"/>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pic>
        <p:nvPicPr>
          <p:cNvPr id="4" name="Graphic 3" descr="Man"/>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68742" y="2745814"/>
            <a:ext cx="1431758" cy="1431758"/>
          </a:xfrm>
          <a:prstGeom prst="rect">
            <a:avLst/>
          </a:prstGeom>
          <a:effectLst>
            <a:outerShdw blurRad="50800" dist="38100" dir="2700000" algn="tl" rotWithShape="0">
              <a:prstClr val="black">
                <a:alpha val="40000"/>
              </a:prstClr>
            </a:outerShdw>
          </a:effectLst>
        </p:spPr>
      </p:pic>
      <p:sp>
        <p:nvSpPr>
          <p:cNvPr id="9" name="Rectangle 8"/>
          <p:cNvSpPr/>
          <p:nvPr/>
        </p:nvSpPr>
        <p:spPr>
          <a:xfrm>
            <a:off x="2800248" y="4217677"/>
            <a:ext cx="659155"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Man</a:t>
            </a:r>
          </a:p>
        </p:txBody>
      </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901515" y="2391469"/>
            <a:ext cx="2366211" cy="2364277"/>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5" name="Graphic 14"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26409" y="3279566"/>
            <a:ext cx="609600" cy="609600"/>
          </a:xfrm>
          <a:prstGeom prst="rect">
            <a:avLst/>
          </a:prstGeom>
          <a:effectLst>
            <a:outerShdw blurRad="50800" dist="38100" dir="2700000" algn="tl" rotWithShape="0">
              <a:prstClr val="black">
                <a:alpha val="40000"/>
              </a:prstClr>
            </a:outerShdw>
          </a:effectLst>
        </p:spPr>
      </p:pic>
      <p:pic>
        <p:nvPicPr>
          <p:cNvPr id="17" name="Graphic 16" descr="Typewri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4" name="Thought Bubble: Cloud 13"/>
          <p:cNvSpPr/>
          <p:nvPr/>
        </p:nvSpPr>
        <p:spPr>
          <a:xfrm flipH="1">
            <a:off x="453957" y="1973307"/>
            <a:ext cx="2188876"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I must convince the interrogator that I am a human.</a:t>
            </a:r>
          </a:p>
        </p:txBody>
      </p:sp>
      <p:sp>
        <p:nvSpPr>
          <p:cNvPr id="18" name="Thought Bubble: Cloud 17"/>
          <p:cNvSpPr/>
          <p:nvPr/>
        </p:nvSpPr>
        <p:spPr>
          <a:xfrm>
            <a:off x="9373141" y="2072669"/>
            <a:ext cx="2336799"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if I am communicating with a human</a:t>
            </a:r>
          </a:p>
        </p:txBody>
      </p:sp>
      <p:cxnSp>
        <p:nvCxnSpPr>
          <p:cNvPr id="21" name="Connector: Curved 20"/>
          <p:cNvCxnSpPr>
            <a:cxnSpLocks/>
            <a:stCxn id="17" idx="1"/>
            <a:endCxn id="15" idx="3"/>
          </p:cNvCxnSpPr>
          <p:nvPr/>
        </p:nvCxnSpPr>
        <p:spPr>
          <a:xfrm rot="10800000">
            <a:off x="4136009" y="3584367"/>
            <a:ext cx="3431812" cy="8695"/>
          </a:xfrm>
          <a:prstGeom prst="curvedConnector3">
            <a:avLst>
              <a:gd name="adj1" fmla="val 50504"/>
            </a:avLst>
          </a:prstGeom>
          <a:ln w="127000">
            <a:solidFill>
              <a:schemeClr val="accent4">
                <a:lumMod val="75000"/>
              </a:schemeClr>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034240" y="3105159"/>
            <a:ext cx="205626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Ask any question</a:t>
            </a:r>
          </a:p>
        </p:txBody>
      </p:sp>
      <p:sp>
        <p:nvSpPr>
          <p:cNvPr id="24" name="Rectangle 23"/>
          <p:cNvSpPr/>
          <p:nvPr/>
        </p:nvSpPr>
        <p:spPr>
          <a:xfrm>
            <a:off x="4909805" y="3690033"/>
            <a:ext cx="2327625"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Provide any answer</a:t>
            </a:r>
          </a:p>
        </p:txBody>
      </p:sp>
      <p:sp>
        <p:nvSpPr>
          <p:cNvPr id="25" name="Rectangle 24"/>
          <p:cNvSpPr/>
          <p:nvPr/>
        </p:nvSpPr>
        <p:spPr>
          <a:xfrm>
            <a:off x="4007132" y="5055356"/>
            <a:ext cx="5653407" cy="913199"/>
          </a:xfrm>
          <a:prstGeom prst="rect">
            <a:avLst/>
          </a:prstGeom>
          <a:effectLst>
            <a:outerShdw blurRad="50800" dist="38100" dir="2700000" algn="tl" rotWithShape="0">
              <a:prstClr val="black">
                <a:alpha val="40000"/>
              </a:prstClr>
            </a:outerShdw>
          </a:effectLst>
        </p:spPr>
        <p:txBody>
          <a:bodyPr wrap="none">
            <a:spAutoFit/>
          </a:bodyPr>
          <a:lstStyle/>
          <a:p>
            <a:r>
              <a:rPr lang="en-US" sz="5334" b="1" i="1" dirty="0">
                <a:solidFill>
                  <a:schemeClr val="accent2">
                    <a:lumMod val="50000"/>
                  </a:schemeClr>
                </a:solidFill>
              </a:rPr>
              <a:t>No holds barred!</a:t>
            </a:r>
          </a:p>
        </p:txBody>
      </p:sp>
      <p:sp>
        <p:nvSpPr>
          <p:cNvPr id="2" name="Slide Number Placeholder 1">
            <a:extLst>
              <a:ext uri="{FF2B5EF4-FFF2-40B4-BE49-F238E27FC236}">
                <a16:creationId xmlns:a16="http://schemas.microsoft.com/office/drawing/2014/main" id="{72002F2C-7E74-A3D3-B1F7-19B6CADBFA96}"/>
              </a:ext>
            </a:extLst>
          </p:cNvPr>
          <p:cNvSpPr>
            <a:spLocks noGrp="1"/>
          </p:cNvSpPr>
          <p:nvPr>
            <p:ph type="sldNum" sz="quarter" idx="12"/>
          </p:nvPr>
        </p:nvSpPr>
        <p:spPr/>
        <p:txBody>
          <a:bodyPr/>
          <a:lstStyle/>
          <a:p>
            <a:fld id="{7472CE09-311C-4CDB-87AD-5FE14EBCB3AD}" type="slidenum">
              <a:rPr lang="en-US" smtClean="0"/>
              <a:t>32</a:t>
            </a:fld>
            <a:endParaRPr lang="en-US"/>
          </a:p>
        </p:txBody>
      </p:sp>
    </p:spTree>
    <p:extLst>
      <p:ext uri="{BB962C8B-B14F-4D97-AF65-F5344CB8AC3E}">
        <p14:creationId xmlns:p14="http://schemas.microsoft.com/office/powerpoint/2010/main" val="1629366293"/>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901515" y="2391469"/>
            <a:ext cx="2366211" cy="2364277"/>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7" name="Graphic 16"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8" name="Thought Bubble: Cloud 17"/>
          <p:cNvSpPr/>
          <p:nvPr/>
        </p:nvSpPr>
        <p:spPr>
          <a:xfrm>
            <a:off x="9373141" y="2072669"/>
            <a:ext cx="2336799"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if I am communicating with a human</a:t>
            </a:r>
          </a:p>
        </p:txBody>
      </p:sp>
      <p:cxnSp>
        <p:nvCxnSpPr>
          <p:cNvPr id="21" name="Connector: Curved 20"/>
          <p:cNvCxnSpPr>
            <a:cxnSpLocks/>
            <a:stCxn id="17" idx="1"/>
            <a:endCxn id="26" idx="3"/>
          </p:cNvCxnSpPr>
          <p:nvPr/>
        </p:nvCxnSpPr>
        <p:spPr>
          <a:xfrm rot="10800000">
            <a:off x="4137977" y="3584844"/>
            <a:ext cx="3429844" cy="8217"/>
          </a:xfrm>
          <a:prstGeom prst="curvedConnector3">
            <a:avLst>
              <a:gd name="adj1" fmla="val 50000"/>
            </a:avLst>
          </a:prstGeom>
          <a:ln w="127000">
            <a:solidFill>
              <a:schemeClr val="accent4">
                <a:lumMod val="75000"/>
              </a:schemeClr>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034240" y="3105159"/>
            <a:ext cx="205626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Ask any question</a:t>
            </a:r>
          </a:p>
        </p:txBody>
      </p:sp>
      <p:sp>
        <p:nvSpPr>
          <p:cNvPr id="24" name="Rectangle 23"/>
          <p:cNvSpPr/>
          <p:nvPr/>
        </p:nvSpPr>
        <p:spPr>
          <a:xfrm>
            <a:off x="4909805" y="3690033"/>
            <a:ext cx="2327625"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Provide any answer</a:t>
            </a:r>
          </a:p>
        </p:txBody>
      </p:sp>
      <p:pic>
        <p:nvPicPr>
          <p:cNvPr id="26" name="Graphic 25"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8377" y="3280044"/>
            <a:ext cx="609600" cy="609600"/>
          </a:xfrm>
          <a:prstGeom prst="rect">
            <a:avLst/>
          </a:prstGeom>
          <a:effectLst>
            <a:outerShdw blurRad="50800" dist="38100" dir="2700000" algn="tl" rotWithShape="0">
              <a:prstClr val="black">
                <a:alpha val="40000"/>
              </a:prstClr>
            </a:outerShdw>
          </a:effectLst>
        </p:spPr>
      </p:pic>
      <p:pic>
        <p:nvPicPr>
          <p:cNvPr id="27" name="Graphic 26" descr="Compu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10008" y="2934933"/>
            <a:ext cx="1232099" cy="1232099"/>
          </a:xfrm>
          <a:prstGeom prst="rect">
            <a:avLst/>
          </a:prstGeom>
          <a:effectLst>
            <a:outerShdw blurRad="50800" dist="38100" dir="2700000" algn="tl" rotWithShape="0">
              <a:prstClr val="black">
                <a:alpha val="40000"/>
              </a:prstClr>
            </a:outerShdw>
          </a:effectLst>
        </p:spPr>
      </p:pic>
      <p:sp>
        <p:nvSpPr>
          <p:cNvPr id="28" name="Thought Bubble: Cloud 27"/>
          <p:cNvSpPr/>
          <p:nvPr/>
        </p:nvSpPr>
        <p:spPr>
          <a:xfrm flipH="1">
            <a:off x="121131" y="2373023"/>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human.</a:t>
            </a:r>
          </a:p>
        </p:txBody>
      </p:sp>
      <p:sp>
        <p:nvSpPr>
          <p:cNvPr id="30" name="Rectangle 29"/>
          <p:cNvSpPr/>
          <p:nvPr/>
        </p:nvSpPr>
        <p:spPr>
          <a:xfrm>
            <a:off x="2545911" y="4030712"/>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76FB0823-EC65-6AAF-A037-C77940989CF7}"/>
              </a:ext>
            </a:extLst>
          </p:cNvPr>
          <p:cNvSpPr>
            <a:spLocks noGrp="1"/>
          </p:cNvSpPr>
          <p:nvPr>
            <p:ph type="sldNum" sz="quarter" idx="12"/>
          </p:nvPr>
        </p:nvSpPr>
        <p:spPr/>
        <p:txBody>
          <a:bodyPr/>
          <a:lstStyle/>
          <a:p>
            <a:fld id="{7472CE09-311C-4CDB-87AD-5FE14EBCB3AD}" type="slidenum">
              <a:rPr lang="en-US" smtClean="0"/>
              <a:t>33</a:t>
            </a:fld>
            <a:endParaRPr lang="en-US"/>
          </a:p>
        </p:txBody>
      </p:sp>
    </p:spTree>
    <p:extLst>
      <p:ext uri="{BB962C8B-B14F-4D97-AF65-F5344CB8AC3E}">
        <p14:creationId xmlns:p14="http://schemas.microsoft.com/office/powerpoint/2010/main" val="2894315153"/>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901515" y="2391469"/>
            <a:ext cx="2366211" cy="2364277"/>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7" name="Graphic 16"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8" name="Thought Bubble: Cloud 17"/>
          <p:cNvSpPr/>
          <p:nvPr/>
        </p:nvSpPr>
        <p:spPr>
          <a:xfrm>
            <a:off x="9373141" y="2072669"/>
            <a:ext cx="2336799"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if I am communicating with a human</a:t>
            </a:r>
          </a:p>
        </p:txBody>
      </p:sp>
      <p:cxnSp>
        <p:nvCxnSpPr>
          <p:cNvPr id="21" name="Connector: Curved 20"/>
          <p:cNvCxnSpPr>
            <a:cxnSpLocks/>
            <a:stCxn id="17" idx="1"/>
            <a:endCxn id="26" idx="3"/>
          </p:cNvCxnSpPr>
          <p:nvPr/>
        </p:nvCxnSpPr>
        <p:spPr>
          <a:xfrm rot="10800000">
            <a:off x="4137977" y="3584844"/>
            <a:ext cx="3429844" cy="8217"/>
          </a:xfrm>
          <a:prstGeom prst="curvedConnector3">
            <a:avLst>
              <a:gd name="adj1" fmla="val 50000"/>
            </a:avLst>
          </a:prstGeom>
          <a:ln w="127000">
            <a:solidFill>
              <a:schemeClr val="accent4">
                <a:lumMod val="75000"/>
              </a:schemeClr>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034240" y="3105159"/>
            <a:ext cx="205626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Ask any question</a:t>
            </a:r>
          </a:p>
        </p:txBody>
      </p:sp>
      <p:sp>
        <p:nvSpPr>
          <p:cNvPr id="24" name="Rectangle 23"/>
          <p:cNvSpPr/>
          <p:nvPr/>
        </p:nvSpPr>
        <p:spPr>
          <a:xfrm>
            <a:off x="4909805" y="3690033"/>
            <a:ext cx="2327625"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Provide any answer</a:t>
            </a:r>
          </a:p>
        </p:txBody>
      </p:sp>
      <p:pic>
        <p:nvPicPr>
          <p:cNvPr id="26" name="Graphic 25"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8377" y="3280044"/>
            <a:ext cx="609600" cy="609600"/>
          </a:xfrm>
          <a:prstGeom prst="rect">
            <a:avLst/>
          </a:prstGeom>
          <a:effectLst>
            <a:outerShdw blurRad="50800" dist="38100" dir="2700000" algn="tl" rotWithShape="0">
              <a:prstClr val="black">
                <a:alpha val="40000"/>
              </a:prstClr>
            </a:outerShdw>
          </a:effectLst>
        </p:spPr>
      </p:pic>
      <p:pic>
        <p:nvPicPr>
          <p:cNvPr id="27" name="Graphic 26" descr="Compu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10008" y="2934933"/>
            <a:ext cx="1232099" cy="1232099"/>
          </a:xfrm>
          <a:prstGeom prst="rect">
            <a:avLst/>
          </a:prstGeom>
          <a:effectLst>
            <a:outerShdw blurRad="50800" dist="38100" dir="2700000" algn="tl" rotWithShape="0">
              <a:prstClr val="black">
                <a:alpha val="40000"/>
              </a:prstClr>
            </a:outerShdw>
          </a:effectLst>
        </p:spPr>
      </p:pic>
      <p:sp>
        <p:nvSpPr>
          <p:cNvPr id="28" name="Thought Bubble: Cloud 27"/>
          <p:cNvSpPr/>
          <p:nvPr/>
        </p:nvSpPr>
        <p:spPr>
          <a:xfrm flipH="1">
            <a:off x="121131" y="2373023"/>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human.</a:t>
            </a:r>
          </a:p>
        </p:txBody>
      </p:sp>
      <p:sp>
        <p:nvSpPr>
          <p:cNvPr id="30" name="Rectangle 29"/>
          <p:cNvSpPr/>
          <p:nvPr/>
        </p:nvSpPr>
        <p:spPr>
          <a:xfrm>
            <a:off x="2545911" y="4030712"/>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0E94A778-382D-E7AE-264C-80EE6BFE8B64}"/>
              </a:ext>
            </a:extLst>
          </p:cNvPr>
          <p:cNvSpPr>
            <a:spLocks noGrp="1"/>
          </p:cNvSpPr>
          <p:nvPr>
            <p:ph type="sldNum" sz="quarter" idx="12"/>
          </p:nvPr>
        </p:nvSpPr>
        <p:spPr/>
        <p:txBody>
          <a:bodyPr/>
          <a:lstStyle/>
          <a:p>
            <a:fld id="{7472CE09-311C-4CDB-87AD-5FE14EBCB3AD}" type="slidenum">
              <a:rPr lang="en-US" smtClean="0"/>
              <a:t>34</a:t>
            </a:fld>
            <a:endParaRPr lang="en-US"/>
          </a:p>
        </p:txBody>
      </p:sp>
    </p:spTree>
    <p:extLst>
      <p:ext uri="{BB962C8B-B14F-4D97-AF65-F5344CB8AC3E}">
        <p14:creationId xmlns:p14="http://schemas.microsoft.com/office/powerpoint/2010/main" val="3335223877"/>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901515" y="2391469"/>
            <a:ext cx="2366211" cy="2364277"/>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7" name="Graphic 16"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8" name="Thought Bubble: Cloud 17"/>
          <p:cNvSpPr/>
          <p:nvPr/>
        </p:nvSpPr>
        <p:spPr>
          <a:xfrm>
            <a:off x="9373141" y="2072669"/>
            <a:ext cx="2336799"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if I am communicating with a human</a:t>
            </a:r>
          </a:p>
        </p:txBody>
      </p:sp>
      <p:cxnSp>
        <p:nvCxnSpPr>
          <p:cNvPr id="21" name="Connector: Curved 20"/>
          <p:cNvCxnSpPr>
            <a:cxnSpLocks/>
            <a:stCxn id="17" idx="1"/>
            <a:endCxn id="26" idx="3"/>
          </p:cNvCxnSpPr>
          <p:nvPr/>
        </p:nvCxnSpPr>
        <p:spPr>
          <a:xfrm rot="10800000">
            <a:off x="4137977" y="3584844"/>
            <a:ext cx="3429844" cy="8217"/>
          </a:xfrm>
          <a:prstGeom prst="curvedConnector3">
            <a:avLst>
              <a:gd name="adj1" fmla="val 50000"/>
            </a:avLst>
          </a:prstGeom>
          <a:ln w="127000">
            <a:solidFill>
              <a:schemeClr val="accent4">
                <a:lumMod val="75000"/>
              </a:schemeClr>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034240" y="3105159"/>
            <a:ext cx="205626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Ask any question</a:t>
            </a:r>
          </a:p>
        </p:txBody>
      </p:sp>
      <p:sp>
        <p:nvSpPr>
          <p:cNvPr id="24" name="Rectangle 23"/>
          <p:cNvSpPr/>
          <p:nvPr/>
        </p:nvSpPr>
        <p:spPr>
          <a:xfrm>
            <a:off x="4909805" y="3690033"/>
            <a:ext cx="2327625"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Provide any answer</a:t>
            </a:r>
          </a:p>
        </p:txBody>
      </p:sp>
      <p:sp>
        <p:nvSpPr>
          <p:cNvPr id="25" name="Rectangle 24"/>
          <p:cNvSpPr/>
          <p:nvPr/>
        </p:nvSpPr>
        <p:spPr>
          <a:xfrm>
            <a:off x="160421" y="4901709"/>
            <a:ext cx="11859126" cy="2123658"/>
          </a:xfrm>
          <a:prstGeom prst="rect">
            <a:avLst/>
          </a:prstGeom>
          <a:effectLst>
            <a:outerShdw blurRad="50800" dist="38100" dir="2700000" algn="tl" rotWithShape="0">
              <a:prstClr val="black">
                <a:alpha val="40000"/>
              </a:prstClr>
            </a:outerShdw>
          </a:effectLst>
        </p:spPr>
        <p:txBody>
          <a:bodyPr wrap="square">
            <a:spAutoFit/>
          </a:bodyPr>
          <a:lstStyle/>
          <a:p>
            <a:r>
              <a:rPr lang="en-US" sz="4400" b="1" u="sng" dirty="0">
                <a:solidFill>
                  <a:srgbClr val="FF0000"/>
                </a:solidFill>
              </a:rPr>
              <a:t>NOTE: </a:t>
            </a:r>
            <a:r>
              <a:rPr lang="en-US" sz="4400" dirty="0"/>
              <a:t>Turing did not specify sufficiently explicit test success criteria to devise a formal test.</a:t>
            </a:r>
          </a:p>
        </p:txBody>
      </p:sp>
      <p:pic>
        <p:nvPicPr>
          <p:cNvPr id="26" name="Graphic 25"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8377" y="3280044"/>
            <a:ext cx="609600" cy="609600"/>
          </a:xfrm>
          <a:prstGeom prst="rect">
            <a:avLst/>
          </a:prstGeom>
          <a:effectLst>
            <a:outerShdw blurRad="50800" dist="38100" dir="2700000" algn="tl" rotWithShape="0">
              <a:prstClr val="black">
                <a:alpha val="40000"/>
              </a:prstClr>
            </a:outerShdw>
          </a:effectLst>
        </p:spPr>
      </p:pic>
      <p:pic>
        <p:nvPicPr>
          <p:cNvPr id="27" name="Graphic 26" descr="Compu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10008" y="2934933"/>
            <a:ext cx="1232099" cy="1232099"/>
          </a:xfrm>
          <a:prstGeom prst="rect">
            <a:avLst/>
          </a:prstGeom>
          <a:effectLst>
            <a:outerShdw blurRad="50800" dist="38100" dir="2700000" algn="tl" rotWithShape="0">
              <a:prstClr val="black">
                <a:alpha val="40000"/>
              </a:prstClr>
            </a:outerShdw>
          </a:effectLst>
        </p:spPr>
      </p:pic>
      <p:sp>
        <p:nvSpPr>
          <p:cNvPr id="28" name="Thought Bubble: Cloud 27"/>
          <p:cNvSpPr/>
          <p:nvPr/>
        </p:nvSpPr>
        <p:spPr>
          <a:xfrm flipH="1">
            <a:off x="121131" y="2373023"/>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human.</a:t>
            </a:r>
          </a:p>
        </p:txBody>
      </p:sp>
      <p:sp>
        <p:nvSpPr>
          <p:cNvPr id="30" name="Rectangle 29"/>
          <p:cNvSpPr/>
          <p:nvPr/>
        </p:nvSpPr>
        <p:spPr>
          <a:xfrm>
            <a:off x="2545911" y="4030712"/>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7FF36877-66F1-9A59-BA92-BFCDE5860DC1}"/>
              </a:ext>
            </a:extLst>
          </p:cNvPr>
          <p:cNvSpPr>
            <a:spLocks noGrp="1"/>
          </p:cNvSpPr>
          <p:nvPr>
            <p:ph type="sldNum" sz="quarter" idx="12"/>
          </p:nvPr>
        </p:nvSpPr>
        <p:spPr/>
        <p:txBody>
          <a:bodyPr/>
          <a:lstStyle/>
          <a:p>
            <a:fld id="{7472CE09-311C-4CDB-87AD-5FE14EBCB3AD}" type="slidenum">
              <a:rPr lang="en-US" smtClean="0"/>
              <a:t>35</a:t>
            </a:fld>
            <a:endParaRPr lang="en-US"/>
          </a:p>
        </p:txBody>
      </p:sp>
    </p:spTree>
    <p:extLst>
      <p:ext uri="{BB962C8B-B14F-4D97-AF65-F5344CB8AC3E}">
        <p14:creationId xmlns:p14="http://schemas.microsoft.com/office/powerpoint/2010/main" val="3507043797"/>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422" y="948691"/>
            <a:ext cx="11824511" cy="4524315"/>
          </a:xfrm>
          <a:prstGeom prst="rect">
            <a:avLst/>
          </a:prstGeom>
        </p:spPr>
        <p:txBody>
          <a:bodyPr wrap="square">
            <a:spAutoFit/>
          </a:bodyPr>
          <a:lstStyle/>
          <a:p>
            <a:pPr algn="just"/>
            <a:r>
              <a:rPr lang="en-US" sz="2400" dirty="0">
                <a:latin typeface="Consolas" panose="020B0609020204030204" pitchFamily="49" charset="0"/>
              </a:rPr>
              <a:t>Speculation: </a:t>
            </a:r>
            <a:r>
              <a:rPr lang="en-GB" sz="2400" dirty="0">
                <a:latin typeface="Consolas" panose="020B0609020204030204" pitchFamily="49" charset="0"/>
              </a:rPr>
              <a:t>the forming of a theory or conjecture without firm evidence</a:t>
            </a:r>
            <a:endParaRPr lang="en-US" sz="2400" dirty="0">
              <a:latin typeface="Consolas" panose="020B0609020204030204" pitchFamily="49" charset="0"/>
            </a:endParaRPr>
          </a:p>
          <a:p>
            <a:pPr algn="just"/>
            <a:endParaRPr lang="en-US" sz="2000" dirty="0"/>
          </a:p>
          <a:p>
            <a:pPr algn="just"/>
            <a:r>
              <a:rPr lang="en-US" sz="3600" dirty="0"/>
              <a:t>“I believe that in about fifty years’ time it will be possible to </a:t>
            </a:r>
            <a:r>
              <a:rPr lang="en-US" sz="3600" dirty="0" err="1"/>
              <a:t>programme</a:t>
            </a:r>
            <a:r>
              <a:rPr lang="en-US" sz="3600" dirty="0"/>
              <a:t> computers, with large storage capacity of about, to make them play the imitation game so well that an average interrogator will not have more than 70 per cent. chance of making the right identification after five minutes of questioning.”</a:t>
            </a:r>
          </a:p>
        </p:txBody>
      </p:sp>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latin typeface="+mn-lt"/>
              </a:rPr>
              <a:t>Turing’s Speculation</a:t>
            </a:r>
          </a:p>
        </p:txBody>
      </p:sp>
      <p:sp>
        <p:nvSpPr>
          <p:cNvPr id="4" name="Rectangle 3"/>
          <p:cNvSpPr/>
          <p:nvPr/>
        </p:nvSpPr>
        <p:spPr>
          <a:xfrm>
            <a:off x="5962045" y="6250128"/>
            <a:ext cx="6067943" cy="276999"/>
          </a:xfrm>
          <a:prstGeom prst="rect">
            <a:avLst/>
          </a:prstGeom>
        </p:spPr>
        <p:txBody>
          <a:bodyPr wrap="none">
            <a:spAutoFit/>
          </a:bodyPr>
          <a:lstStyle/>
          <a:p>
            <a:r>
              <a:rPr lang="en-US" sz="1200" dirty="0">
                <a:solidFill>
                  <a:srgbClr val="222222"/>
                </a:solidFill>
                <a:latin typeface="Arial" panose="020B0604020202020204" pitchFamily="34" charset="0"/>
                <a:hlinkClick r:id="rId2"/>
              </a:rPr>
              <a:t>Turing, Alan M. "Computing machinery and intelligence." </a:t>
            </a:r>
            <a:r>
              <a:rPr lang="en-US" sz="1200" i="1" dirty="0">
                <a:solidFill>
                  <a:srgbClr val="222222"/>
                </a:solidFill>
                <a:latin typeface="Arial" panose="020B0604020202020204" pitchFamily="34" charset="0"/>
                <a:hlinkClick r:id="rId2"/>
              </a:rPr>
              <a:t>Mind</a:t>
            </a:r>
            <a:r>
              <a:rPr lang="en-US" sz="1200" dirty="0">
                <a:solidFill>
                  <a:srgbClr val="222222"/>
                </a:solidFill>
                <a:latin typeface="Arial" panose="020B0604020202020204" pitchFamily="34" charset="0"/>
                <a:hlinkClick r:id="rId2"/>
              </a:rPr>
              <a:t> 59.236 (1950): 433-460.</a:t>
            </a:r>
            <a:endParaRPr lang="en-US" sz="1200" dirty="0"/>
          </a:p>
        </p:txBody>
      </p:sp>
      <p:sp>
        <p:nvSpPr>
          <p:cNvPr id="5" name="Slide Number Placeholder 4">
            <a:extLst>
              <a:ext uri="{FF2B5EF4-FFF2-40B4-BE49-F238E27FC236}">
                <a16:creationId xmlns:a16="http://schemas.microsoft.com/office/drawing/2014/main" id="{FBEA22E1-48C9-0880-619A-BBE8568EA953}"/>
              </a:ext>
            </a:extLst>
          </p:cNvPr>
          <p:cNvSpPr>
            <a:spLocks noGrp="1"/>
          </p:cNvSpPr>
          <p:nvPr>
            <p:ph type="sldNum" sz="quarter" idx="4"/>
          </p:nvPr>
        </p:nvSpPr>
        <p:spPr/>
        <p:txBody>
          <a:bodyPr/>
          <a:lstStyle/>
          <a:p>
            <a:fld id="{7472CE09-311C-4CDB-87AD-5FE14EBCB3AD}" type="slidenum">
              <a:rPr lang="en-US" smtClean="0"/>
              <a:pPr/>
              <a:t>36</a:t>
            </a:fld>
            <a:endParaRPr lang="en-US" dirty="0"/>
          </a:p>
        </p:txBody>
      </p:sp>
    </p:spTree>
    <p:extLst>
      <p:ext uri="{BB962C8B-B14F-4D97-AF65-F5344CB8AC3E}">
        <p14:creationId xmlns:p14="http://schemas.microsoft.com/office/powerpoint/2010/main" val="744933123"/>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0422" y="106558"/>
            <a:ext cx="11859126" cy="855969"/>
          </a:xfrm>
          <a:prstGeom prst="rect">
            <a:avLst/>
          </a:prstGeom>
          <a:effectLst>
            <a:outerShdw blurRad="50800" dist="38100" dir="2700000" algn="tl" rotWithShape="0">
              <a:prstClr val="black">
                <a:alpha val="40000"/>
              </a:prstClr>
            </a:outerShdw>
          </a:effectLst>
        </p:spPr>
        <p:txBody>
          <a:bodyP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sz="6400" b="1" dirty="0">
                <a:solidFill>
                  <a:schemeClr val="bg2">
                    <a:lumMod val="25000"/>
                  </a:schemeClr>
                </a:solidFill>
              </a:rPr>
              <a:t>Turing Test</a:t>
            </a:r>
          </a:p>
        </p:txBody>
      </p:sp>
      <p:grpSp>
        <p:nvGrpSpPr>
          <p:cNvPr id="5" name="Group 4"/>
          <p:cNvGrpSpPr/>
          <p:nvPr/>
        </p:nvGrpSpPr>
        <p:grpSpPr>
          <a:xfrm>
            <a:off x="8177419" y="2722065"/>
            <a:ext cx="1586267" cy="1688303"/>
            <a:chOff x="11917215" y="3344779"/>
            <a:chExt cx="2379401" cy="2532455"/>
          </a:xfrm>
          <a:effectLst>
            <a:outerShdw blurRad="50800" dist="38100" dir="2700000" algn="tl" rotWithShape="0">
              <a:prstClr val="black">
                <a:alpha val="40000"/>
              </a:prstClr>
            </a:outerShdw>
          </a:effectLst>
        </p:grpSpPr>
        <p:pic>
          <p:nvPicPr>
            <p:cNvPr id="8" name="Graphic 7" descr="Use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17215" y="3344779"/>
              <a:ext cx="2147637" cy="2147637"/>
            </a:xfrm>
            <a:prstGeom prst="rect">
              <a:avLst/>
            </a:prstGeom>
          </p:spPr>
        </p:pic>
        <p:sp>
          <p:nvSpPr>
            <p:cNvPr id="11" name="Rectangle 10"/>
            <p:cNvSpPr/>
            <p:nvPr/>
          </p:nvSpPr>
          <p:spPr>
            <a:xfrm>
              <a:off x="12016664" y="5307750"/>
              <a:ext cx="2279952" cy="569484"/>
            </a:xfrm>
            <a:prstGeom prst="rect">
              <a:avLst/>
            </a:prstGeom>
          </p:spPr>
          <p:txBody>
            <a:bodyPr wrap="none">
              <a:spAutoFit/>
            </a:bodyPr>
            <a:lstStyle/>
            <a:p>
              <a:r>
                <a:rPr lang="en-US" sz="1867" dirty="0"/>
                <a:t>Interrogator</a:t>
              </a:r>
            </a:p>
          </p:txBody>
        </p:sp>
      </p:grpSp>
      <p:sp>
        <p:nvSpPr>
          <p:cNvPr id="7" name="Rectangle 6"/>
          <p:cNvSpPr/>
          <p:nvPr/>
        </p:nvSpPr>
        <p:spPr>
          <a:xfrm>
            <a:off x="1901515" y="2391469"/>
            <a:ext cx="2366211" cy="2364277"/>
          </a:xfrm>
          <a:prstGeom prst="rect">
            <a:avLst/>
          </a:prstGeom>
          <a:noFill/>
          <a:ln w="2540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7" name="Graphic 16"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67821" y="3288261"/>
            <a:ext cx="609600" cy="609600"/>
          </a:xfrm>
          <a:prstGeom prst="rect">
            <a:avLst/>
          </a:prstGeom>
          <a:effectLst>
            <a:outerShdw blurRad="50800" dist="38100" dir="2700000" algn="tl" rotWithShape="0">
              <a:prstClr val="black">
                <a:alpha val="40000"/>
              </a:prstClr>
            </a:outerShdw>
          </a:effectLst>
        </p:spPr>
      </p:pic>
      <p:sp>
        <p:nvSpPr>
          <p:cNvPr id="18" name="Thought Bubble: Cloud 17"/>
          <p:cNvSpPr/>
          <p:nvPr/>
        </p:nvSpPr>
        <p:spPr>
          <a:xfrm>
            <a:off x="9373141" y="2072669"/>
            <a:ext cx="2336799" cy="847387"/>
          </a:xfrm>
          <a:prstGeom prst="cloudCallout">
            <a:avLst>
              <a:gd name="adj1" fmla="val -57446"/>
              <a:gd name="adj2" fmla="val 67602"/>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I must determine if I am communicating with a human</a:t>
            </a:r>
          </a:p>
        </p:txBody>
      </p:sp>
      <p:cxnSp>
        <p:nvCxnSpPr>
          <p:cNvPr id="21" name="Connector: Curved 20"/>
          <p:cNvCxnSpPr>
            <a:cxnSpLocks/>
            <a:stCxn id="17" idx="1"/>
            <a:endCxn id="26" idx="3"/>
          </p:cNvCxnSpPr>
          <p:nvPr/>
        </p:nvCxnSpPr>
        <p:spPr>
          <a:xfrm rot="10800000">
            <a:off x="4137977" y="3584844"/>
            <a:ext cx="3429844" cy="8217"/>
          </a:xfrm>
          <a:prstGeom prst="curvedConnector3">
            <a:avLst>
              <a:gd name="adj1" fmla="val 50000"/>
            </a:avLst>
          </a:prstGeom>
          <a:ln w="127000">
            <a:solidFill>
              <a:schemeClr val="accent4">
                <a:lumMod val="75000"/>
              </a:schemeClr>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034240" y="3105159"/>
            <a:ext cx="2056269"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Ask any question</a:t>
            </a:r>
          </a:p>
        </p:txBody>
      </p:sp>
      <p:sp>
        <p:nvSpPr>
          <p:cNvPr id="24" name="Rectangle 23"/>
          <p:cNvSpPr/>
          <p:nvPr/>
        </p:nvSpPr>
        <p:spPr>
          <a:xfrm>
            <a:off x="4909805" y="3690033"/>
            <a:ext cx="2327625"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Provide any answer</a:t>
            </a:r>
          </a:p>
        </p:txBody>
      </p:sp>
      <p:sp>
        <p:nvSpPr>
          <p:cNvPr id="25" name="Rectangle 24"/>
          <p:cNvSpPr/>
          <p:nvPr/>
        </p:nvSpPr>
        <p:spPr>
          <a:xfrm>
            <a:off x="160421" y="4901710"/>
            <a:ext cx="11859126" cy="1734064"/>
          </a:xfrm>
          <a:prstGeom prst="rect">
            <a:avLst/>
          </a:prstGeom>
          <a:effectLst>
            <a:outerShdw blurRad="50800" dist="38100" dir="2700000" algn="tl" rotWithShape="0">
              <a:prstClr val="black">
                <a:alpha val="40000"/>
              </a:prstClr>
            </a:outerShdw>
          </a:effectLst>
        </p:spPr>
        <p:txBody>
          <a:bodyPr wrap="square">
            <a:spAutoFit/>
          </a:bodyPr>
          <a:lstStyle/>
          <a:p>
            <a:pPr algn="ctr"/>
            <a:r>
              <a:rPr lang="en-US" sz="5334" b="1" i="1" dirty="0">
                <a:solidFill>
                  <a:schemeClr val="accent2">
                    <a:lumMod val="50000"/>
                  </a:schemeClr>
                </a:solidFill>
              </a:rPr>
              <a:t>Turing Test: 70% success after 5 minutes?</a:t>
            </a:r>
          </a:p>
        </p:txBody>
      </p:sp>
      <p:pic>
        <p:nvPicPr>
          <p:cNvPr id="26" name="Graphic 25" descr="Typewrite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8377" y="3280044"/>
            <a:ext cx="609600" cy="609600"/>
          </a:xfrm>
          <a:prstGeom prst="rect">
            <a:avLst/>
          </a:prstGeom>
          <a:effectLst>
            <a:outerShdw blurRad="50800" dist="38100" dir="2700000" algn="tl" rotWithShape="0">
              <a:prstClr val="black">
                <a:alpha val="40000"/>
              </a:prstClr>
            </a:outerShdw>
          </a:effectLst>
        </p:spPr>
      </p:pic>
      <p:pic>
        <p:nvPicPr>
          <p:cNvPr id="27" name="Graphic 26" descr="Compute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10008" y="2934933"/>
            <a:ext cx="1232099" cy="1232099"/>
          </a:xfrm>
          <a:prstGeom prst="rect">
            <a:avLst/>
          </a:prstGeom>
          <a:effectLst>
            <a:outerShdw blurRad="50800" dist="38100" dir="2700000" algn="tl" rotWithShape="0">
              <a:prstClr val="black">
                <a:alpha val="40000"/>
              </a:prstClr>
            </a:outerShdw>
          </a:effectLst>
        </p:spPr>
      </p:pic>
      <p:sp>
        <p:nvSpPr>
          <p:cNvPr id="28" name="Thought Bubble: Cloud 27"/>
          <p:cNvSpPr/>
          <p:nvPr/>
        </p:nvSpPr>
        <p:spPr>
          <a:xfrm flipH="1">
            <a:off x="121131" y="2373023"/>
            <a:ext cx="2188876" cy="847387"/>
          </a:xfrm>
          <a:prstGeom prst="cloudCallout">
            <a:avLst>
              <a:gd name="adj1" fmla="val -48360"/>
              <a:gd name="adj2" fmla="val 68112"/>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accent3">
                    <a:lumMod val="20000"/>
                    <a:lumOff val="80000"/>
                  </a:schemeClr>
                </a:solidFill>
              </a:rPr>
              <a:t>I must convince the interrogator that I am a human.</a:t>
            </a:r>
          </a:p>
        </p:txBody>
      </p:sp>
      <p:sp>
        <p:nvSpPr>
          <p:cNvPr id="30" name="Rectangle 29"/>
          <p:cNvSpPr/>
          <p:nvPr/>
        </p:nvSpPr>
        <p:spPr>
          <a:xfrm>
            <a:off x="2545911" y="4030712"/>
            <a:ext cx="1130438" cy="379656"/>
          </a:xfrm>
          <a:prstGeom prst="rect">
            <a:avLst/>
          </a:prstGeom>
          <a:effectLst>
            <a:outerShdw blurRad="50800" dist="38100" dir="2700000" algn="tl" rotWithShape="0">
              <a:prstClr val="black">
                <a:alpha val="40000"/>
              </a:prstClr>
            </a:outerShdw>
          </a:effectLst>
        </p:spPr>
        <p:txBody>
          <a:bodyPr wrap="none">
            <a:spAutoFit/>
          </a:bodyPr>
          <a:lstStyle/>
          <a:p>
            <a:r>
              <a:rPr lang="en-US" sz="1867" dirty="0"/>
              <a:t>Machine</a:t>
            </a:r>
          </a:p>
        </p:txBody>
      </p:sp>
      <p:sp>
        <p:nvSpPr>
          <p:cNvPr id="2" name="Slide Number Placeholder 1">
            <a:extLst>
              <a:ext uri="{FF2B5EF4-FFF2-40B4-BE49-F238E27FC236}">
                <a16:creationId xmlns:a16="http://schemas.microsoft.com/office/drawing/2014/main" id="{9F539D45-527E-36B3-CAEE-8A13441AF9F8}"/>
              </a:ext>
            </a:extLst>
          </p:cNvPr>
          <p:cNvSpPr>
            <a:spLocks noGrp="1"/>
          </p:cNvSpPr>
          <p:nvPr>
            <p:ph type="sldNum" sz="quarter" idx="12"/>
          </p:nvPr>
        </p:nvSpPr>
        <p:spPr/>
        <p:txBody>
          <a:bodyPr/>
          <a:lstStyle/>
          <a:p>
            <a:fld id="{7472CE09-311C-4CDB-87AD-5FE14EBCB3AD}" type="slidenum">
              <a:rPr lang="en-US" sz="1800" b="1" smtClean="0"/>
              <a:t>37</a:t>
            </a:fld>
            <a:endParaRPr lang="en-US" b="1" dirty="0"/>
          </a:p>
        </p:txBody>
      </p:sp>
    </p:spTree>
    <p:extLst>
      <p:ext uri="{BB962C8B-B14F-4D97-AF65-F5344CB8AC3E}">
        <p14:creationId xmlns:p14="http://schemas.microsoft.com/office/powerpoint/2010/main" val="372615706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C5FC8-0B67-6539-A32B-231F7135DADB}"/>
              </a:ext>
            </a:extLst>
          </p:cNvPr>
          <p:cNvSpPr>
            <a:spLocks noGrp="1"/>
          </p:cNvSpPr>
          <p:nvPr>
            <p:ph type="ctrTitle"/>
          </p:nvPr>
        </p:nvSpPr>
        <p:spPr/>
        <p:txBody>
          <a:bodyPr/>
          <a:lstStyle/>
          <a:p>
            <a:r>
              <a:rPr lang="en-US" dirty="0"/>
              <a:t>Intelligent Agents</a:t>
            </a:r>
          </a:p>
        </p:txBody>
      </p:sp>
      <p:sp>
        <p:nvSpPr>
          <p:cNvPr id="3" name="Subtitle 2">
            <a:extLst>
              <a:ext uri="{FF2B5EF4-FFF2-40B4-BE49-F238E27FC236}">
                <a16:creationId xmlns:a16="http://schemas.microsoft.com/office/drawing/2014/main" id="{7AD0DC4F-AF4E-FD94-350B-B7472D83330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31437172"/>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C030A-5B85-4D6E-8F85-62C6EA47BAF1}"/>
              </a:ext>
            </a:extLst>
          </p:cNvPr>
          <p:cNvSpPr>
            <a:spLocks noGrp="1"/>
          </p:cNvSpPr>
          <p:nvPr>
            <p:ph type="title"/>
          </p:nvPr>
        </p:nvSpPr>
        <p:spPr/>
        <p:txBody>
          <a:bodyPr/>
          <a:lstStyle/>
          <a:p>
            <a:r>
              <a:rPr lang="en-US" dirty="0"/>
              <a:t>Intelligent Agents</a:t>
            </a:r>
          </a:p>
        </p:txBody>
      </p:sp>
      <p:sp>
        <p:nvSpPr>
          <p:cNvPr id="3" name="Content Placeholder 2">
            <a:extLst>
              <a:ext uri="{FF2B5EF4-FFF2-40B4-BE49-F238E27FC236}">
                <a16:creationId xmlns:a16="http://schemas.microsoft.com/office/drawing/2014/main" id="{5A6CC8E8-F1A3-4250-B3FD-4861D49D6DC0}"/>
              </a:ext>
            </a:extLst>
          </p:cNvPr>
          <p:cNvSpPr>
            <a:spLocks noGrp="1"/>
          </p:cNvSpPr>
          <p:nvPr>
            <p:ph idx="1"/>
          </p:nvPr>
        </p:nvSpPr>
        <p:spPr/>
        <p:txBody>
          <a:bodyPr/>
          <a:lstStyle/>
          <a:p>
            <a:pPr marL="0" indent="0">
              <a:buNone/>
            </a:pPr>
            <a:r>
              <a:rPr lang="en-US" altLang="en-US" sz="3000" b="1" i="1" dirty="0">
                <a:solidFill>
                  <a:schemeClr val="accent2"/>
                </a:solidFill>
              </a:rPr>
              <a:t>Agents and Environments</a:t>
            </a:r>
          </a:p>
          <a:p>
            <a:r>
              <a:rPr lang="en-US" altLang="en-US" sz="2800" dirty="0"/>
              <a:t>An </a:t>
            </a:r>
            <a:r>
              <a:rPr lang="en-US" altLang="en-US" sz="2800" b="1" i="1" dirty="0">
                <a:solidFill>
                  <a:srgbClr val="0000FF"/>
                </a:solidFill>
              </a:rPr>
              <a:t>agent</a:t>
            </a:r>
            <a:r>
              <a:rPr lang="en-US" altLang="en-US" sz="2800" dirty="0"/>
              <a:t> is anything (an entity) that can be viewed as perceiving its </a:t>
            </a:r>
            <a:r>
              <a:rPr lang="en-US" altLang="en-US" sz="2800" b="1" i="1" dirty="0">
                <a:solidFill>
                  <a:srgbClr val="0000FF"/>
                </a:solidFill>
              </a:rPr>
              <a:t>environment</a:t>
            </a:r>
            <a:r>
              <a:rPr lang="en-US" altLang="en-US" sz="2800" dirty="0"/>
              <a:t> through sensors and acting upon that environment through </a:t>
            </a:r>
            <a:r>
              <a:rPr lang="en-US" altLang="en-US" sz="2800" b="1" i="1" dirty="0">
                <a:solidFill>
                  <a:srgbClr val="0000FF"/>
                </a:solidFill>
              </a:rPr>
              <a:t>actuators</a:t>
            </a:r>
            <a:r>
              <a:rPr lang="en-US" altLang="en-US" sz="2800" dirty="0"/>
              <a:t>. </a:t>
            </a:r>
          </a:p>
          <a:p>
            <a:endParaRPr lang="en-US" dirty="0"/>
          </a:p>
        </p:txBody>
      </p:sp>
      <p:pic>
        <p:nvPicPr>
          <p:cNvPr id="2052" name="Picture 4" descr="Image result for inelligent agents">
            <a:extLst>
              <a:ext uri="{FF2B5EF4-FFF2-40B4-BE49-F238E27FC236}">
                <a16:creationId xmlns:a16="http://schemas.microsoft.com/office/drawing/2014/main" id="{7DACEE70-4B89-4BAF-AD8B-9169B71EE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0969" y="2687216"/>
            <a:ext cx="8988959" cy="386410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C1F2E80-6E33-3947-7013-A1FCC5A467DE}"/>
              </a:ext>
            </a:extLst>
          </p:cNvPr>
          <p:cNvSpPr>
            <a:spLocks noGrp="1"/>
          </p:cNvSpPr>
          <p:nvPr>
            <p:ph type="sldNum" sz="quarter" idx="4"/>
          </p:nvPr>
        </p:nvSpPr>
        <p:spPr/>
        <p:txBody>
          <a:bodyPr/>
          <a:lstStyle/>
          <a:p>
            <a:fld id="{7472CE09-311C-4CDB-87AD-5FE14EBCB3AD}" type="slidenum">
              <a:rPr lang="en-US" smtClean="0"/>
              <a:pPr/>
              <a:t>39</a:t>
            </a:fld>
            <a:endParaRPr lang="en-US" dirty="0"/>
          </a:p>
        </p:txBody>
      </p:sp>
    </p:spTree>
    <p:extLst>
      <p:ext uri="{BB962C8B-B14F-4D97-AF65-F5344CB8AC3E}">
        <p14:creationId xmlns:p14="http://schemas.microsoft.com/office/powerpoint/2010/main" val="291620634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AutoShape 2">
            <a:extLst>
              <a:ext uri="{FF2B5EF4-FFF2-40B4-BE49-F238E27FC236}">
                <a16:creationId xmlns:a16="http://schemas.microsoft.com/office/drawing/2014/main" id="{997EEA71-6B0F-2B21-3D3C-91678856D98D}"/>
              </a:ext>
            </a:extLst>
          </p:cNvPr>
          <p:cNvSpPr>
            <a:spLocks noGrp="1" noChangeArrowheads="1"/>
          </p:cNvSpPr>
          <p:nvPr>
            <p:ph type="title"/>
          </p:nvPr>
        </p:nvSpPr>
        <p:spPr/>
        <p:txBody>
          <a:bodyPr/>
          <a:lstStyle/>
          <a:p>
            <a:r>
              <a:rPr lang="en-GB" altLang="en-US" sz="3200" dirty="0"/>
              <a:t>Agents Acting in an Environment</a:t>
            </a:r>
          </a:p>
        </p:txBody>
      </p:sp>
      <p:pic>
        <p:nvPicPr>
          <p:cNvPr id="35843" name="Picture 3">
            <a:extLst>
              <a:ext uri="{FF2B5EF4-FFF2-40B4-BE49-F238E27FC236}">
                <a16:creationId xmlns:a16="http://schemas.microsoft.com/office/drawing/2014/main" id="{E51CB889-41CF-B5E1-0D91-84F4D9B1A8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319"/>
          <a:stretch>
            <a:fillRect/>
          </a:stretch>
        </p:blipFill>
        <p:spPr bwMode="auto">
          <a:xfrm>
            <a:off x="1227860" y="966301"/>
            <a:ext cx="9457635" cy="5387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0715B0EA-C1B7-11A6-8AAA-1621C2B30E9B}"/>
              </a:ext>
            </a:extLst>
          </p:cNvPr>
          <p:cNvSpPr>
            <a:spLocks noGrp="1"/>
          </p:cNvSpPr>
          <p:nvPr>
            <p:ph type="sldNum" sz="quarter" idx="4"/>
          </p:nvPr>
        </p:nvSpPr>
        <p:spPr/>
        <p:txBody>
          <a:bodyPr/>
          <a:lstStyle/>
          <a:p>
            <a:fld id="{7472CE09-311C-4CDB-87AD-5FE14EBCB3AD}" type="slidenum">
              <a:rPr lang="en-US" smtClean="0"/>
              <a:pPr/>
              <a:t>40</a:t>
            </a:fld>
            <a:endParaRPr lang="en-US" dirty="0"/>
          </a:p>
        </p:txBody>
      </p:sp>
    </p:spTree>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2">
            <a:extLst>
              <a:ext uri="{FF2B5EF4-FFF2-40B4-BE49-F238E27FC236}">
                <a16:creationId xmlns:a16="http://schemas.microsoft.com/office/drawing/2014/main" id="{47E955BB-C437-4007-02EE-3562BA28792E}"/>
              </a:ext>
            </a:extLst>
          </p:cNvPr>
          <p:cNvSpPr>
            <a:spLocks noGrp="1" noChangeArrowheads="1"/>
          </p:cNvSpPr>
          <p:nvPr>
            <p:ph type="title"/>
          </p:nvPr>
        </p:nvSpPr>
        <p:spPr/>
        <p:txBody>
          <a:bodyPr/>
          <a:lstStyle/>
          <a:p>
            <a:r>
              <a:rPr lang="en-GB" altLang="en-US" dirty="0"/>
              <a:t>Example Agent: Robot</a:t>
            </a:r>
          </a:p>
        </p:txBody>
      </p:sp>
      <p:pic>
        <p:nvPicPr>
          <p:cNvPr id="36867" name="Picture 3">
            <a:extLst>
              <a:ext uri="{FF2B5EF4-FFF2-40B4-BE49-F238E27FC236}">
                <a16:creationId xmlns:a16="http://schemas.microsoft.com/office/drawing/2014/main" id="{63A50D48-1A1F-C8B2-BDD3-FB8D859C2B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267" y="943655"/>
            <a:ext cx="10183749" cy="578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9B215AD7-28C2-4549-1089-8C8BE53FFA13}"/>
              </a:ext>
            </a:extLst>
          </p:cNvPr>
          <p:cNvSpPr>
            <a:spLocks noGrp="1"/>
          </p:cNvSpPr>
          <p:nvPr>
            <p:ph type="sldNum" sz="quarter" idx="4"/>
          </p:nvPr>
        </p:nvSpPr>
        <p:spPr/>
        <p:txBody>
          <a:bodyPr/>
          <a:lstStyle/>
          <a:p>
            <a:fld id="{7472CE09-311C-4CDB-87AD-5FE14EBCB3AD}" type="slidenum">
              <a:rPr lang="en-US" smtClean="0"/>
              <a:pPr/>
              <a:t>41</a:t>
            </a:fld>
            <a:endParaRPr lang="en-US" dirty="0"/>
          </a:p>
        </p:txBody>
      </p:sp>
    </p:spTree>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AutoShape 2">
            <a:extLst>
              <a:ext uri="{FF2B5EF4-FFF2-40B4-BE49-F238E27FC236}">
                <a16:creationId xmlns:a16="http://schemas.microsoft.com/office/drawing/2014/main" id="{5D378746-DF6D-0487-E461-F6DD58A97FA0}"/>
              </a:ext>
            </a:extLst>
          </p:cNvPr>
          <p:cNvSpPr>
            <a:spLocks noGrp="1" noChangeArrowheads="1"/>
          </p:cNvSpPr>
          <p:nvPr>
            <p:ph type="title"/>
          </p:nvPr>
        </p:nvSpPr>
        <p:spPr/>
        <p:txBody>
          <a:bodyPr/>
          <a:lstStyle/>
          <a:p>
            <a:r>
              <a:rPr lang="en-GB" altLang="en-US" dirty="0"/>
              <a:t>Example Agent: Teacher</a:t>
            </a:r>
          </a:p>
        </p:txBody>
      </p:sp>
      <p:pic>
        <p:nvPicPr>
          <p:cNvPr id="37891" name="Picture 3">
            <a:extLst>
              <a:ext uri="{FF2B5EF4-FFF2-40B4-BE49-F238E27FC236}">
                <a16:creationId xmlns:a16="http://schemas.microsoft.com/office/drawing/2014/main" id="{31065770-95DE-2580-210F-875D4E9B1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405" y="853945"/>
            <a:ext cx="10355026" cy="5805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1FBE4BE1-1713-D01C-A4DF-2222DCFE816A}"/>
              </a:ext>
            </a:extLst>
          </p:cNvPr>
          <p:cNvSpPr>
            <a:spLocks noGrp="1"/>
          </p:cNvSpPr>
          <p:nvPr>
            <p:ph type="sldNum" sz="quarter" idx="4"/>
          </p:nvPr>
        </p:nvSpPr>
        <p:spPr/>
        <p:txBody>
          <a:bodyPr/>
          <a:lstStyle/>
          <a:p>
            <a:fld id="{7472CE09-311C-4CDB-87AD-5FE14EBCB3AD}" type="slidenum">
              <a:rPr lang="en-US" smtClean="0"/>
              <a:pPr/>
              <a:t>42</a:t>
            </a:fld>
            <a:endParaRPr lang="en-US" dirty="0"/>
          </a:p>
        </p:txBody>
      </p:sp>
    </p:spTree>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a:extLst>
              <a:ext uri="{FF2B5EF4-FFF2-40B4-BE49-F238E27FC236}">
                <a16:creationId xmlns:a16="http://schemas.microsoft.com/office/drawing/2014/main" id="{9A017E41-6C1E-82D9-C593-E64B1110B29A}"/>
              </a:ext>
            </a:extLst>
          </p:cNvPr>
          <p:cNvSpPr>
            <a:spLocks noGrp="1" noChangeArrowheads="1"/>
          </p:cNvSpPr>
          <p:nvPr>
            <p:ph type="title"/>
          </p:nvPr>
        </p:nvSpPr>
        <p:spPr/>
        <p:txBody>
          <a:bodyPr/>
          <a:lstStyle/>
          <a:p>
            <a:r>
              <a:rPr lang="en-GB" altLang="en-US"/>
              <a:t>Examples of Agents</a:t>
            </a:r>
          </a:p>
        </p:txBody>
      </p:sp>
      <p:sp>
        <p:nvSpPr>
          <p:cNvPr id="7171" name="Rectangle 3">
            <a:extLst>
              <a:ext uri="{FF2B5EF4-FFF2-40B4-BE49-F238E27FC236}">
                <a16:creationId xmlns:a16="http://schemas.microsoft.com/office/drawing/2014/main" id="{8A4FA6AF-32D9-11FD-204A-C9EFABE35A7C}"/>
              </a:ext>
            </a:extLst>
          </p:cNvPr>
          <p:cNvSpPr>
            <a:spLocks noGrp="1" noChangeArrowheads="1"/>
          </p:cNvSpPr>
          <p:nvPr>
            <p:ph idx="1"/>
          </p:nvPr>
        </p:nvSpPr>
        <p:spPr>
          <a:xfrm>
            <a:off x="1447799" y="4796420"/>
            <a:ext cx="10122160" cy="1434291"/>
          </a:xfrm>
        </p:spPr>
        <p:txBody>
          <a:bodyPr>
            <a:normAutofit/>
          </a:bodyPr>
          <a:lstStyle/>
          <a:p>
            <a:pPr>
              <a:buFont typeface="Wingdings" panose="05000000000000000000" pitchFamily="2" charset="2"/>
              <a:buNone/>
            </a:pPr>
            <a:r>
              <a:rPr lang="en-GB" altLang="en-US" sz="2400" u="sng" dirty="0"/>
              <a:t>Humans               	    Programs/PC                      		  Robots___</a:t>
            </a:r>
          </a:p>
          <a:p>
            <a:pPr>
              <a:buFont typeface="Wingdings" panose="05000000000000000000" pitchFamily="2" charset="2"/>
              <a:buNone/>
            </a:pPr>
            <a:r>
              <a:rPr lang="en-GB" altLang="en-US" sz="2400" dirty="0"/>
              <a:t>senses       		    keyboard, mouse, dataset   	  	cameras, pads</a:t>
            </a:r>
          </a:p>
          <a:p>
            <a:pPr>
              <a:buFont typeface="Wingdings" panose="05000000000000000000" pitchFamily="2" charset="2"/>
              <a:buNone/>
            </a:pPr>
            <a:r>
              <a:rPr lang="en-GB" altLang="en-US" sz="2400" dirty="0"/>
              <a:t>body parts      		   monitor, speakers, files         	  motors, limbs</a:t>
            </a:r>
          </a:p>
        </p:txBody>
      </p:sp>
      <p:pic>
        <p:nvPicPr>
          <p:cNvPr id="7172" name="Picture 4">
            <a:extLst>
              <a:ext uri="{FF2B5EF4-FFF2-40B4-BE49-F238E27FC236}">
                <a16:creationId xmlns:a16="http://schemas.microsoft.com/office/drawing/2014/main" id="{7797F4F5-4E4F-FD67-C8EA-672F1484D3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202" y="1432162"/>
            <a:ext cx="2126935" cy="3005779"/>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pic>
        <p:nvPicPr>
          <p:cNvPr id="7173" name="Picture 5">
            <a:extLst>
              <a:ext uri="{FF2B5EF4-FFF2-40B4-BE49-F238E27FC236}">
                <a16:creationId xmlns:a16="http://schemas.microsoft.com/office/drawing/2014/main" id="{C4A8A78D-4838-D818-B98C-33C9A050F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3461" y="1304730"/>
            <a:ext cx="4111353" cy="2774732"/>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593869CB-47C7-A528-7171-812E41509D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8516" y="1189207"/>
            <a:ext cx="3558566" cy="3498105"/>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7B5C00C5-9BB6-938C-DDA8-E5BD3A0263B5}"/>
              </a:ext>
            </a:extLst>
          </p:cNvPr>
          <p:cNvSpPr>
            <a:spLocks noGrp="1"/>
          </p:cNvSpPr>
          <p:nvPr>
            <p:ph type="sldNum" sz="quarter" idx="4"/>
          </p:nvPr>
        </p:nvSpPr>
        <p:spPr/>
        <p:txBody>
          <a:bodyPr/>
          <a:lstStyle/>
          <a:p>
            <a:fld id="{7472CE09-311C-4CDB-87AD-5FE14EBCB3AD}" type="slidenum">
              <a:rPr lang="en-US" smtClean="0"/>
              <a:pPr/>
              <a:t>43</a:t>
            </a:fld>
            <a:endParaRPr lang="en-US" dirty="0"/>
          </a:p>
        </p:txBody>
      </p:sp>
    </p:spTree>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0109-5F9E-422A-8F4B-EF92B3A6FD46}"/>
              </a:ext>
            </a:extLst>
          </p:cNvPr>
          <p:cNvSpPr>
            <a:spLocks noGrp="1"/>
          </p:cNvSpPr>
          <p:nvPr>
            <p:ph type="title"/>
          </p:nvPr>
        </p:nvSpPr>
        <p:spPr/>
        <p:txBody>
          <a:bodyPr/>
          <a:lstStyle/>
          <a:p>
            <a:r>
              <a:rPr lang="en-US" dirty="0"/>
              <a:t>Intelligent Agents</a:t>
            </a:r>
          </a:p>
        </p:txBody>
      </p:sp>
      <p:sp>
        <p:nvSpPr>
          <p:cNvPr id="3" name="Content Placeholder 2">
            <a:extLst>
              <a:ext uri="{FF2B5EF4-FFF2-40B4-BE49-F238E27FC236}">
                <a16:creationId xmlns:a16="http://schemas.microsoft.com/office/drawing/2014/main" id="{70587FF6-ADFD-4403-B909-5DA6571C4086}"/>
              </a:ext>
            </a:extLst>
          </p:cNvPr>
          <p:cNvSpPr>
            <a:spLocks noGrp="1"/>
          </p:cNvSpPr>
          <p:nvPr>
            <p:ph idx="1"/>
          </p:nvPr>
        </p:nvSpPr>
        <p:spPr/>
        <p:txBody>
          <a:bodyPr/>
          <a:lstStyle/>
          <a:p>
            <a:pPr algn="just"/>
            <a:r>
              <a:rPr lang="en-US" altLang="en-US" sz="3200" dirty="0"/>
              <a:t>A</a:t>
            </a:r>
            <a:r>
              <a:rPr lang="en-US" altLang="en-US" sz="3200" i="1" dirty="0"/>
              <a:t> </a:t>
            </a:r>
            <a:r>
              <a:rPr lang="en-US" altLang="en-US" sz="3200" dirty="0"/>
              <a:t>human agent has eyes, ears, and other organs for sensors, and hands, legs, mouth, and other body parts for actuators.</a:t>
            </a:r>
          </a:p>
          <a:p>
            <a:pPr algn="just"/>
            <a:endParaRPr lang="en-US" altLang="en-US" sz="3200" dirty="0"/>
          </a:p>
          <a:p>
            <a:pPr algn="just"/>
            <a:r>
              <a:rPr lang="en-US" altLang="en-US" sz="3200" dirty="0"/>
              <a:t>A robotic agent might have cameras and infrared range finders for sensors and various motors  for actuators.</a:t>
            </a:r>
          </a:p>
          <a:p>
            <a:pPr algn="just"/>
            <a:endParaRPr lang="en-US" altLang="en-US" sz="3200" dirty="0"/>
          </a:p>
          <a:p>
            <a:pPr algn="just"/>
            <a:r>
              <a:rPr lang="en-US" altLang="en-US" sz="3200" dirty="0"/>
              <a:t>A software agent receives keystrokes, file contents,  and  network  packets  as sensory  inputs  and acts on the environment by displaying on the screen, writing files, and sending network packets.</a:t>
            </a:r>
          </a:p>
          <a:p>
            <a:endParaRPr lang="en-US" dirty="0"/>
          </a:p>
        </p:txBody>
      </p:sp>
      <p:sp>
        <p:nvSpPr>
          <p:cNvPr id="4" name="Slide Number Placeholder 3">
            <a:extLst>
              <a:ext uri="{FF2B5EF4-FFF2-40B4-BE49-F238E27FC236}">
                <a16:creationId xmlns:a16="http://schemas.microsoft.com/office/drawing/2014/main" id="{C2F68DC5-3DEF-A5D4-F363-D6E08AE2F685}"/>
              </a:ext>
            </a:extLst>
          </p:cNvPr>
          <p:cNvSpPr>
            <a:spLocks noGrp="1"/>
          </p:cNvSpPr>
          <p:nvPr>
            <p:ph type="sldNum" sz="quarter" idx="4"/>
          </p:nvPr>
        </p:nvSpPr>
        <p:spPr/>
        <p:txBody>
          <a:bodyPr/>
          <a:lstStyle/>
          <a:p>
            <a:fld id="{7472CE09-311C-4CDB-87AD-5FE14EBCB3AD}" type="slidenum">
              <a:rPr lang="en-US" smtClean="0"/>
              <a:pPr/>
              <a:t>44</a:t>
            </a:fld>
            <a:endParaRPr lang="en-US" dirty="0"/>
          </a:p>
        </p:txBody>
      </p:sp>
    </p:spTree>
    <p:extLst>
      <p:ext uri="{BB962C8B-B14F-4D97-AF65-F5344CB8AC3E}">
        <p14:creationId xmlns:p14="http://schemas.microsoft.com/office/powerpoint/2010/main" val="220291304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98240-ECCD-FD7C-4CC2-82DA3107D226}"/>
              </a:ext>
            </a:extLst>
          </p:cNvPr>
          <p:cNvSpPr>
            <a:spLocks noGrp="1"/>
          </p:cNvSpPr>
          <p:nvPr>
            <p:ph type="ctrTitle"/>
          </p:nvPr>
        </p:nvSpPr>
        <p:spPr/>
        <p:txBody>
          <a:bodyPr/>
          <a:lstStyle/>
          <a:p>
            <a:r>
              <a:rPr lang="en-US" dirty="0"/>
              <a:t>Types of Agent</a:t>
            </a:r>
          </a:p>
        </p:txBody>
      </p:sp>
      <p:sp>
        <p:nvSpPr>
          <p:cNvPr id="3" name="Subtitle 2">
            <a:extLst>
              <a:ext uri="{FF2B5EF4-FFF2-40B4-BE49-F238E27FC236}">
                <a16:creationId xmlns:a16="http://schemas.microsoft.com/office/drawing/2014/main" id="{F4EDB869-0197-D9A3-A12E-2A15545CB08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225061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C6507-4DE4-4417-9B69-651BD3D3D6D1}"/>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424E8EFC-83C9-49CA-B06E-0BECAE68A462}"/>
              </a:ext>
            </a:extLst>
          </p:cNvPr>
          <p:cNvSpPr>
            <a:spLocks noGrp="1"/>
          </p:cNvSpPr>
          <p:nvPr>
            <p:ph idx="1"/>
          </p:nvPr>
        </p:nvSpPr>
        <p:spPr/>
        <p:txBody>
          <a:bodyPr/>
          <a:lstStyle/>
          <a:p>
            <a:pPr algn="just">
              <a:defRPr/>
            </a:pPr>
            <a:endParaRPr lang="en-US" sz="3200" dirty="0"/>
          </a:p>
          <a:p>
            <a:pPr marL="890588" lvl="1" indent="-571500" algn="just">
              <a:lnSpc>
                <a:spcPct val="150000"/>
              </a:lnSpc>
              <a:buFont typeface="+mj-lt"/>
              <a:buAutoNum type="arabicPeriod"/>
              <a:defRPr/>
            </a:pPr>
            <a:r>
              <a:rPr lang="en-US" sz="3200" dirty="0"/>
              <a:t>Simple Reflex Agents</a:t>
            </a:r>
          </a:p>
          <a:p>
            <a:pPr marL="890588" lvl="1" indent="-571500" algn="just">
              <a:lnSpc>
                <a:spcPct val="150000"/>
              </a:lnSpc>
              <a:buFont typeface="+mj-lt"/>
              <a:buAutoNum type="arabicPeriod"/>
              <a:defRPr/>
            </a:pPr>
            <a:r>
              <a:rPr lang="en-US" sz="3200" dirty="0"/>
              <a:t>Model-Based Reflex Agents</a:t>
            </a:r>
          </a:p>
          <a:p>
            <a:pPr marL="890588" lvl="1" indent="-571500" algn="just">
              <a:lnSpc>
                <a:spcPct val="150000"/>
              </a:lnSpc>
              <a:buFont typeface="+mj-lt"/>
              <a:buAutoNum type="arabicPeriod"/>
              <a:defRPr/>
            </a:pPr>
            <a:r>
              <a:rPr lang="en-US" sz="3200" dirty="0"/>
              <a:t>Goal-Based Reflex Agents</a:t>
            </a:r>
          </a:p>
          <a:p>
            <a:pPr marL="890588" lvl="1" indent="-571500" algn="just">
              <a:lnSpc>
                <a:spcPct val="150000"/>
              </a:lnSpc>
              <a:buFont typeface="+mj-lt"/>
              <a:buAutoNum type="arabicPeriod"/>
              <a:defRPr/>
            </a:pPr>
            <a:r>
              <a:rPr lang="en-US" sz="3200" dirty="0"/>
              <a:t>Utility-Based Agents</a:t>
            </a:r>
          </a:p>
          <a:p>
            <a:pPr marL="890588" lvl="1" indent="-571500" algn="just">
              <a:lnSpc>
                <a:spcPct val="150000"/>
              </a:lnSpc>
              <a:buFont typeface="+mj-lt"/>
              <a:buAutoNum type="arabicPeriod"/>
              <a:defRPr/>
            </a:pPr>
            <a:r>
              <a:rPr lang="en-US" sz="3200" dirty="0"/>
              <a:t>Learning Agents</a:t>
            </a:r>
            <a:endParaRPr lang="en-PK" sz="3200" dirty="0"/>
          </a:p>
          <a:p>
            <a:endParaRPr lang="en-US" dirty="0"/>
          </a:p>
        </p:txBody>
      </p:sp>
      <p:sp>
        <p:nvSpPr>
          <p:cNvPr id="4" name="Slide Number Placeholder 3">
            <a:extLst>
              <a:ext uri="{FF2B5EF4-FFF2-40B4-BE49-F238E27FC236}">
                <a16:creationId xmlns:a16="http://schemas.microsoft.com/office/drawing/2014/main" id="{08958321-F89F-ED66-4A4A-6BA517E94F0B}"/>
              </a:ext>
            </a:extLst>
          </p:cNvPr>
          <p:cNvSpPr>
            <a:spLocks noGrp="1"/>
          </p:cNvSpPr>
          <p:nvPr>
            <p:ph type="sldNum" sz="quarter" idx="4"/>
          </p:nvPr>
        </p:nvSpPr>
        <p:spPr/>
        <p:txBody>
          <a:bodyPr/>
          <a:lstStyle/>
          <a:p>
            <a:fld id="{7472CE09-311C-4CDB-87AD-5FE14EBCB3AD}" type="slidenum">
              <a:rPr lang="en-US" smtClean="0"/>
              <a:pPr/>
              <a:t>46</a:t>
            </a:fld>
            <a:endParaRPr lang="en-US" dirty="0"/>
          </a:p>
        </p:txBody>
      </p:sp>
    </p:spTree>
    <p:extLst>
      <p:ext uri="{BB962C8B-B14F-4D97-AF65-F5344CB8AC3E}">
        <p14:creationId xmlns:p14="http://schemas.microsoft.com/office/powerpoint/2010/main" val="1648097809"/>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A2B89-1EA4-455F-B211-F5EDCC438D47}"/>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3B6184DC-EE12-493A-B3E6-379CE001992F}"/>
              </a:ext>
            </a:extLst>
          </p:cNvPr>
          <p:cNvSpPr>
            <a:spLocks noGrp="1"/>
          </p:cNvSpPr>
          <p:nvPr>
            <p:ph idx="1"/>
          </p:nvPr>
        </p:nvSpPr>
        <p:spPr/>
        <p:txBody>
          <a:bodyPr>
            <a:normAutofit/>
          </a:bodyPr>
          <a:lstStyle/>
          <a:p>
            <a:pPr marL="0" indent="0">
              <a:buNone/>
              <a:defRPr/>
            </a:pPr>
            <a:r>
              <a:rPr lang="en-US" sz="3600" b="1" i="1" dirty="0">
                <a:solidFill>
                  <a:srgbClr val="0000FF"/>
                </a:solidFill>
              </a:rPr>
              <a:t>1. Simple Reflex Agent</a:t>
            </a:r>
          </a:p>
          <a:p>
            <a:pPr>
              <a:defRPr/>
            </a:pPr>
            <a:r>
              <a:rPr lang="en-US" sz="3500" dirty="0"/>
              <a:t>The simplest kind of agent is the </a:t>
            </a:r>
            <a:r>
              <a:rPr lang="en-US" sz="3500" b="1" dirty="0">
                <a:solidFill>
                  <a:srgbClr val="00B853"/>
                </a:solidFill>
              </a:rPr>
              <a:t>simple reflex agent</a:t>
            </a:r>
            <a:r>
              <a:rPr lang="en-US" sz="3500" dirty="0"/>
              <a:t>.</a:t>
            </a:r>
          </a:p>
          <a:p>
            <a:pPr>
              <a:defRPr/>
            </a:pPr>
            <a:endParaRPr lang="en-US" sz="3500" dirty="0"/>
          </a:p>
          <a:p>
            <a:pPr>
              <a:defRPr/>
            </a:pPr>
            <a:r>
              <a:rPr lang="en-US" sz="3500" dirty="0"/>
              <a:t>These agents </a:t>
            </a:r>
            <a:r>
              <a:rPr lang="en-US" sz="3500" i="1" dirty="0">
                <a:solidFill>
                  <a:srgbClr val="FF0000"/>
                </a:solidFill>
              </a:rPr>
              <a:t>select actions on the basis of the current percept, ignoring the rest of the percept history. </a:t>
            </a:r>
          </a:p>
          <a:p>
            <a:pPr>
              <a:defRPr/>
            </a:pPr>
            <a:r>
              <a:rPr lang="en-US" sz="3500" dirty="0"/>
              <a:t>Select action on the basis of </a:t>
            </a:r>
            <a:r>
              <a:rPr lang="en-US" sz="3500" i="1" dirty="0">
                <a:solidFill>
                  <a:srgbClr val="C00000"/>
                </a:solidFill>
              </a:rPr>
              <a:t>only the current percept</a:t>
            </a:r>
            <a:r>
              <a:rPr lang="en-US" sz="3500" dirty="0"/>
              <a:t>.</a:t>
            </a:r>
          </a:p>
          <a:p>
            <a:pPr>
              <a:defRPr/>
            </a:pPr>
            <a:endParaRPr lang="en-US" sz="3500" dirty="0"/>
          </a:p>
          <a:p>
            <a:pPr>
              <a:defRPr/>
            </a:pPr>
            <a:r>
              <a:rPr lang="en-US" sz="3200" dirty="0"/>
              <a:t>Implemented through </a:t>
            </a:r>
            <a:r>
              <a:rPr lang="en-US" sz="3200" i="1" dirty="0">
                <a:solidFill>
                  <a:srgbClr val="C00000"/>
                </a:solidFill>
              </a:rPr>
              <a:t>condition-action rules</a:t>
            </a:r>
            <a:r>
              <a:rPr lang="en-US" sz="3200" dirty="0"/>
              <a:t>.</a:t>
            </a:r>
          </a:p>
          <a:p>
            <a:pPr marL="914400" lvl="2" indent="0" algn="just">
              <a:buNone/>
              <a:defRPr/>
            </a:pPr>
            <a:endParaRPr lang="en-US" sz="2700" dirty="0"/>
          </a:p>
          <a:p>
            <a:endParaRPr lang="en-US" dirty="0"/>
          </a:p>
        </p:txBody>
      </p:sp>
      <p:sp>
        <p:nvSpPr>
          <p:cNvPr id="4" name="Slide Number Placeholder 3">
            <a:extLst>
              <a:ext uri="{FF2B5EF4-FFF2-40B4-BE49-F238E27FC236}">
                <a16:creationId xmlns:a16="http://schemas.microsoft.com/office/drawing/2014/main" id="{0CE99187-A2AF-E738-2836-01ECBF686FE4}"/>
              </a:ext>
            </a:extLst>
          </p:cNvPr>
          <p:cNvSpPr>
            <a:spLocks noGrp="1"/>
          </p:cNvSpPr>
          <p:nvPr>
            <p:ph type="sldNum" sz="quarter" idx="4"/>
          </p:nvPr>
        </p:nvSpPr>
        <p:spPr/>
        <p:txBody>
          <a:bodyPr/>
          <a:lstStyle/>
          <a:p>
            <a:fld id="{7472CE09-311C-4CDB-87AD-5FE14EBCB3AD}" type="slidenum">
              <a:rPr lang="en-US" smtClean="0"/>
              <a:pPr/>
              <a:t>47</a:t>
            </a:fld>
            <a:endParaRPr lang="en-US" dirty="0"/>
          </a:p>
        </p:txBody>
      </p:sp>
    </p:spTree>
    <p:extLst>
      <p:ext uri="{BB962C8B-B14F-4D97-AF65-F5344CB8AC3E}">
        <p14:creationId xmlns:p14="http://schemas.microsoft.com/office/powerpoint/2010/main" val="328919463"/>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13656-CA89-4137-AD56-C13877E6A63F}"/>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A360A80F-9213-4950-96E3-91B6B202E3AD}"/>
              </a:ext>
            </a:extLst>
          </p:cNvPr>
          <p:cNvSpPr>
            <a:spLocks noGrp="1"/>
          </p:cNvSpPr>
          <p:nvPr>
            <p:ph idx="1"/>
          </p:nvPr>
        </p:nvSpPr>
        <p:spPr/>
        <p:txBody>
          <a:bodyPr/>
          <a:lstStyle/>
          <a:p>
            <a:pPr marL="0" indent="0">
              <a:buNone/>
              <a:defRPr/>
            </a:pPr>
            <a:r>
              <a:rPr lang="en-US" sz="3600" b="1" i="1" dirty="0">
                <a:solidFill>
                  <a:srgbClr val="0000FF"/>
                </a:solidFill>
              </a:rPr>
              <a:t>1. Simple Reflex Agent </a:t>
            </a:r>
          </a:p>
          <a:p>
            <a:pPr marL="433388" indent="-571500">
              <a:defRPr/>
            </a:pPr>
            <a:r>
              <a:rPr lang="en-US" sz="3600" b="1" i="1" dirty="0"/>
              <a:t>Characteristics</a:t>
            </a:r>
          </a:p>
          <a:p>
            <a:pPr lvl="1">
              <a:defRPr/>
            </a:pPr>
            <a:r>
              <a:rPr lang="en-US" sz="3200" dirty="0">
                <a:latin typeface="Times New Roman" panose="02020603050405020304" pitchFamily="18" charset="0"/>
                <a:ea typeface="Courier New" panose="02070309020205020404" pitchFamily="49" charset="0"/>
              </a:rPr>
              <a:t>Very limited knowledge or intelligence</a:t>
            </a:r>
          </a:p>
          <a:p>
            <a:pPr lvl="1">
              <a:defRPr/>
            </a:pPr>
            <a:r>
              <a:rPr lang="en-US" sz="3200" dirty="0">
                <a:latin typeface="Times New Roman" panose="02020603050405020304" pitchFamily="18" charset="0"/>
                <a:ea typeface="Courier New" panose="02070309020205020404" pitchFamily="49" charset="0"/>
              </a:rPr>
              <a:t>Only works if the environment </a:t>
            </a:r>
            <a:r>
              <a:rPr lang="en-US" sz="3200" spc="-20" dirty="0">
                <a:latin typeface="Times New Roman" panose="02020603050405020304" pitchFamily="18" charset="0"/>
                <a:ea typeface="Courier New" panose="02070309020205020404" pitchFamily="49" charset="0"/>
              </a:rPr>
              <a:t>is </a:t>
            </a:r>
            <a:r>
              <a:rPr lang="en-US" sz="3200" dirty="0">
                <a:latin typeface="Times New Roman" panose="02020603050405020304" pitchFamily="18" charset="0"/>
                <a:ea typeface="Courier New" panose="02070309020205020404" pitchFamily="49" charset="0"/>
              </a:rPr>
              <a:t>fully</a:t>
            </a:r>
            <a:r>
              <a:rPr lang="en-US" sz="3200" spc="75" dirty="0">
                <a:latin typeface="Times New Roman" panose="02020603050405020304" pitchFamily="18" charset="0"/>
                <a:ea typeface="Courier New" panose="02070309020205020404" pitchFamily="49" charset="0"/>
              </a:rPr>
              <a:t> </a:t>
            </a:r>
            <a:r>
              <a:rPr lang="en-US" sz="3200" dirty="0">
                <a:latin typeface="Times New Roman" panose="02020603050405020304" pitchFamily="18" charset="0"/>
                <a:ea typeface="Courier New" panose="02070309020205020404" pitchFamily="49" charset="0"/>
              </a:rPr>
              <a:t>observable.</a:t>
            </a:r>
          </a:p>
          <a:p>
            <a:pPr lvl="1">
              <a:defRPr/>
            </a:pPr>
            <a:r>
              <a:rPr lang="en-US" sz="3200" dirty="0">
                <a:latin typeface="Times New Roman" panose="02020603050405020304" pitchFamily="18" charset="0"/>
                <a:ea typeface="Courier New" panose="02070309020205020404" pitchFamily="49" charset="0"/>
              </a:rPr>
              <a:t>Lacking history, (operating in partially observable environment) </a:t>
            </a:r>
          </a:p>
          <a:p>
            <a:pPr lvl="1">
              <a:defRPr/>
            </a:pPr>
            <a:r>
              <a:rPr lang="en-US" sz="3200" dirty="0">
                <a:highlight>
                  <a:srgbClr val="00FFFF"/>
                </a:highlight>
                <a:latin typeface="Times New Roman" panose="02020603050405020304" pitchFamily="18" charset="0"/>
                <a:ea typeface="Courier New" panose="02070309020205020404" pitchFamily="49" charset="0"/>
              </a:rPr>
              <a:t>Easily </a:t>
            </a:r>
            <a:r>
              <a:rPr lang="en-US" sz="3200" spc="-15" dirty="0">
                <a:highlight>
                  <a:srgbClr val="00FFFF"/>
                </a:highlight>
                <a:latin typeface="Times New Roman" panose="02020603050405020304" pitchFamily="18" charset="0"/>
                <a:ea typeface="Courier New" panose="02070309020205020404" pitchFamily="49" charset="0"/>
              </a:rPr>
              <a:t>get </a:t>
            </a:r>
            <a:r>
              <a:rPr lang="en-US" sz="3200" dirty="0">
                <a:highlight>
                  <a:srgbClr val="00FFFF"/>
                </a:highlight>
                <a:latin typeface="Times New Roman" panose="02020603050405020304" pitchFamily="18" charset="0"/>
                <a:ea typeface="Courier New" panose="02070309020205020404" pitchFamily="49" charset="0"/>
              </a:rPr>
              <a:t>stuck in infinite</a:t>
            </a:r>
            <a:r>
              <a:rPr lang="en-US" sz="3200" spc="55" dirty="0">
                <a:highlight>
                  <a:srgbClr val="00FFFF"/>
                </a:highlight>
                <a:latin typeface="Times New Roman" panose="02020603050405020304" pitchFamily="18" charset="0"/>
                <a:ea typeface="Courier New" panose="02070309020205020404" pitchFamily="49" charset="0"/>
              </a:rPr>
              <a:t> </a:t>
            </a:r>
            <a:r>
              <a:rPr lang="en-US" sz="3200" dirty="0">
                <a:highlight>
                  <a:srgbClr val="00FFFF"/>
                </a:highlight>
                <a:latin typeface="Times New Roman" panose="02020603050405020304" pitchFamily="18" charset="0"/>
                <a:ea typeface="Courier New" panose="02070309020205020404" pitchFamily="49" charset="0"/>
              </a:rPr>
              <a:t>loops.</a:t>
            </a:r>
            <a:endParaRPr lang="en-PK" sz="3200" dirty="0">
              <a:highlight>
                <a:srgbClr val="00FFFF"/>
              </a:highlight>
              <a:latin typeface="Times New Roman" panose="02020603050405020304" pitchFamily="18" charset="0"/>
              <a:ea typeface="Courier New" panose="02070309020205020404" pitchFamily="49" charset="0"/>
            </a:endParaRPr>
          </a:p>
          <a:p>
            <a:endParaRPr lang="en-US" dirty="0"/>
          </a:p>
        </p:txBody>
      </p:sp>
      <p:sp>
        <p:nvSpPr>
          <p:cNvPr id="4" name="Slide Number Placeholder 3">
            <a:extLst>
              <a:ext uri="{FF2B5EF4-FFF2-40B4-BE49-F238E27FC236}">
                <a16:creationId xmlns:a16="http://schemas.microsoft.com/office/drawing/2014/main" id="{69FF864A-8217-D493-F30C-AB11949F4AA0}"/>
              </a:ext>
            </a:extLst>
          </p:cNvPr>
          <p:cNvSpPr>
            <a:spLocks noGrp="1"/>
          </p:cNvSpPr>
          <p:nvPr>
            <p:ph type="sldNum" sz="quarter" idx="4"/>
          </p:nvPr>
        </p:nvSpPr>
        <p:spPr/>
        <p:txBody>
          <a:bodyPr/>
          <a:lstStyle/>
          <a:p>
            <a:fld id="{7472CE09-311C-4CDB-87AD-5FE14EBCB3AD}" type="slidenum">
              <a:rPr lang="en-US" smtClean="0"/>
              <a:pPr/>
              <a:t>48</a:t>
            </a:fld>
            <a:endParaRPr lang="en-US" dirty="0"/>
          </a:p>
        </p:txBody>
      </p:sp>
    </p:spTree>
    <p:extLst>
      <p:ext uri="{BB962C8B-B14F-4D97-AF65-F5344CB8AC3E}">
        <p14:creationId xmlns:p14="http://schemas.microsoft.com/office/powerpoint/2010/main" val="1004886385"/>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01246-4B80-4523-9E3B-56A0A466D822}"/>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FA858929-59C9-421D-8159-96CFC8319EBD}"/>
              </a:ext>
            </a:extLst>
          </p:cNvPr>
          <p:cNvSpPr>
            <a:spLocks noGrp="1"/>
          </p:cNvSpPr>
          <p:nvPr>
            <p:ph idx="1"/>
          </p:nvPr>
        </p:nvSpPr>
        <p:spPr/>
        <p:txBody>
          <a:bodyPr/>
          <a:lstStyle/>
          <a:p>
            <a:pPr marL="0" indent="0">
              <a:buNone/>
              <a:defRPr/>
            </a:pPr>
            <a:r>
              <a:rPr lang="en-US" sz="3600" b="1" i="1" dirty="0">
                <a:solidFill>
                  <a:srgbClr val="0000FF"/>
                </a:solidFill>
              </a:rPr>
              <a:t>1. Simple Reflex Agent </a:t>
            </a:r>
          </a:p>
          <a:p>
            <a:pPr marL="890588" lvl="1" indent="-571500">
              <a:defRPr/>
            </a:pPr>
            <a:r>
              <a:rPr lang="en-US" sz="3200" b="1" i="1" dirty="0"/>
              <a:t>Simplex Reflex Agent: Schema</a:t>
            </a:r>
            <a:endParaRPr lang="en-US" dirty="0"/>
          </a:p>
        </p:txBody>
      </p:sp>
      <p:pic>
        <p:nvPicPr>
          <p:cNvPr id="4" name="Picture 10">
            <a:extLst>
              <a:ext uri="{FF2B5EF4-FFF2-40B4-BE49-F238E27FC236}">
                <a16:creationId xmlns:a16="http://schemas.microsoft.com/office/drawing/2014/main" id="{9A88F662-3BB5-4593-B8F4-A3F679CFD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5700" y="2224553"/>
            <a:ext cx="6808455" cy="4320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48FA0425-5645-D9D1-CBD8-683D22A19594}"/>
              </a:ext>
            </a:extLst>
          </p:cNvPr>
          <p:cNvSpPr>
            <a:spLocks noGrp="1"/>
          </p:cNvSpPr>
          <p:nvPr>
            <p:ph type="sldNum" sz="quarter" idx="4"/>
          </p:nvPr>
        </p:nvSpPr>
        <p:spPr/>
        <p:txBody>
          <a:bodyPr/>
          <a:lstStyle/>
          <a:p>
            <a:fld id="{7472CE09-311C-4CDB-87AD-5FE14EBCB3AD}" type="slidenum">
              <a:rPr lang="en-US" smtClean="0"/>
              <a:pPr/>
              <a:t>49</a:t>
            </a:fld>
            <a:endParaRPr lang="en-US" dirty="0"/>
          </a:p>
        </p:txBody>
      </p:sp>
    </p:spTree>
    <p:extLst>
      <p:ext uri="{BB962C8B-B14F-4D97-AF65-F5344CB8AC3E}">
        <p14:creationId xmlns:p14="http://schemas.microsoft.com/office/powerpoint/2010/main" val="146004788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F9FA7-67B1-4588-ABF7-3492BDA3754F}"/>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E81FB3FC-D87D-4162-A57F-72A50E91FC17}"/>
              </a:ext>
            </a:extLst>
          </p:cNvPr>
          <p:cNvSpPr>
            <a:spLocks noGrp="1"/>
          </p:cNvSpPr>
          <p:nvPr>
            <p:ph idx="1"/>
          </p:nvPr>
        </p:nvSpPr>
        <p:spPr/>
        <p:txBody>
          <a:bodyPr/>
          <a:lstStyle/>
          <a:p>
            <a:pPr marL="0" indent="0">
              <a:buNone/>
            </a:pPr>
            <a:r>
              <a:rPr lang="en-US" sz="3600" b="1" i="1" dirty="0">
                <a:solidFill>
                  <a:srgbClr val="0000FF"/>
                </a:solidFill>
              </a:rPr>
              <a:t>2. </a:t>
            </a:r>
            <a:r>
              <a:rPr lang="en-US" altLang="en-US" sz="3600" b="1" i="1" dirty="0">
                <a:solidFill>
                  <a:srgbClr val="0000FF"/>
                </a:solidFill>
              </a:rPr>
              <a:t>Model-Based Reflex Agents</a:t>
            </a:r>
          </a:p>
          <a:p>
            <a:r>
              <a:rPr lang="en-US" altLang="en-US" sz="3600" dirty="0"/>
              <a:t>The most effective way to handle partial observability is for the agent to </a:t>
            </a:r>
            <a:r>
              <a:rPr lang="en-US" altLang="en-US" sz="3600" i="1" dirty="0">
                <a:solidFill>
                  <a:srgbClr val="C00000"/>
                </a:solidFill>
              </a:rPr>
              <a:t>keep  track of  the part of the world it can't see now</a:t>
            </a:r>
            <a:r>
              <a:rPr lang="en-US" altLang="en-US" sz="3600" i="1" dirty="0"/>
              <a:t>.</a:t>
            </a:r>
          </a:p>
          <a:p>
            <a:r>
              <a:rPr lang="en-US" altLang="en-US" sz="3600" dirty="0"/>
              <a:t>That is, the agent should maintain some sort of </a:t>
            </a:r>
            <a:r>
              <a:rPr lang="en-US" altLang="en-US" sz="3600" b="1" dirty="0">
                <a:solidFill>
                  <a:srgbClr val="C00000"/>
                </a:solidFill>
              </a:rPr>
              <a:t>internal state/memory. </a:t>
            </a:r>
          </a:p>
          <a:p>
            <a:pPr lvl="1"/>
            <a:r>
              <a:rPr lang="en-US" altLang="en-US" sz="3200" dirty="0"/>
              <a:t>that depends  on the  percept history and thereby reflects at least some of the unobserved aspects of  the current state.</a:t>
            </a:r>
          </a:p>
          <a:p>
            <a:endParaRPr lang="en-US" dirty="0"/>
          </a:p>
        </p:txBody>
      </p:sp>
      <p:sp>
        <p:nvSpPr>
          <p:cNvPr id="4" name="Slide Number Placeholder 3">
            <a:extLst>
              <a:ext uri="{FF2B5EF4-FFF2-40B4-BE49-F238E27FC236}">
                <a16:creationId xmlns:a16="http://schemas.microsoft.com/office/drawing/2014/main" id="{BE064590-E2FD-BF52-C461-5A928B0EA2D8}"/>
              </a:ext>
            </a:extLst>
          </p:cNvPr>
          <p:cNvSpPr>
            <a:spLocks noGrp="1"/>
          </p:cNvSpPr>
          <p:nvPr>
            <p:ph type="sldNum" sz="quarter" idx="4"/>
          </p:nvPr>
        </p:nvSpPr>
        <p:spPr/>
        <p:txBody>
          <a:bodyPr/>
          <a:lstStyle/>
          <a:p>
            <a:fld id="{7472CE09-311C-4CDB-87AD-5FE14EBCB3AD}" type="slidenum">
              <a:rPr lang="en-US" smtClean="0"/>
              <a:pPr/>
              <a:t>50</a:t>
            </a:fld>
            <a:endParaRPr lang="en-US" dirty="0"/>
          </a:p>
        </p:txBody>
      </p:sp>
    </p:spTree>
    <p:extLst>
      <p:ext uri="{BB962C8B-B14F-4D97-AF65-F5344CB8AC3E}">
        <p14:creationId xmlns:p14="http://schemas.microsoft.com/office/powerpoint/2010/main" val="3138343362"/>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F9FA7-67B1-4588-ABF7-3492BDA3754F}"/>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E81FB3FC-D87D-4162-A57F-72A50E91FC17}"/>
              </a:ext>
            </a:extLst>
          </p:cNvPr>
          <p:cNvSpPr>
            <a:spLocks noGrp="1"/>
          </p:cNvSpPr>
          <p:nvPr>
            <p:ph idx="1"/>
          </p:nvPr>
        </p:nvSpPr>
        <p:spPr/>
        <p:txBody>
          <a:bodyPr/>
          <a:lstStyle/>
          <a:p>
            <a:pPr marL="0" indent="0">
              <a:buNone/>
            </a:pPr>
            <a:r>
              <a:rPr lang="en-US" sz="3600" b="1" i="1" dirty="0">
                <a:solidFill>
                  <a:srgbClr val="0000FF"/>
                </a:solidFill>
              </a:rPr>
              <a:t>2. </a:t>
            </a:r>
            <a:r>
              <a:rPr lang="en-US" altLang="en-US" sz="3600" b="1" i="1" dirty="0">
                <a:solidFill>
                  <a:srgbClr val="0000FF"/>
                </a:solidFill>
              </a:rPr>
              <a:t>Model-Based Reflex Agents</a:t>
            </a:r>
          </a:p>
          <a:p>
            <a:r>
              <a:rPr lang="en-US" sz="3600" b="0" i="0" dirty="0">
                <a:effectLst/>
              </a:rPr>
              <a:t>Self-driving cars are a great example of a model-based reflex agent. </a:t>
            </a:r>
          </a:p>
          <a:p>
            <a:r>
              <a:rPr lang="en-US" sz="3600" b="0" i="0" dirty="0">
                <a:effectLst/>
              </a:rPr>
              <a:t>The car is equipped with sensors that detect obstacles, such as car brake lights in front of them or pedestrians walking on the sidewalk. </a:t>
            </a:r>
          </a:p>
          <a:p>
            <a:r>
              <a:rPr lang="en-US" sz="3600" b="0" i="0" dirty="0">
                <a:effectLst/>
              </a:rPr>
              <a:t>As it drives, these sensors feed percepts into the car’s memory and internal model of its environment.</a:t>
            </a:r>
            <a:endParaRPr lang="en-US" sz="3600" dirty="0"/>
          </a:p>
        </p:txBody>
      </p:sp>
      <p:sp>
        <p:nvSpPr>
          <p:cNvPr id="4" name="Slide Number Placeholder 3">
            <a:extLst>
              <a:ext uri="{FF2B5EF4-FFF2-40B4-BE49-F238E27FC236}">
                <a16:creationId xmlns:a16="http://schemas.microsoft.com/office/drawing/2014/main" id="{5854AF6E-C954-F651-E768-F9D8FB72C8B0}"/>
              </a:ext>
            </a:extLst>
          </p:cNvPr>
          <p:cNvSpPr>
            <a:spLocks noGrp="1"/>
          </p:cNvSpPr>
          <p:nvPr>
            <p:ph type="sldNum" sz="quarter" idx="4"/>
          </p:nvPr>
        </p:nvSpPr>
        <p:spPr/>
        <p:txBody>
          <a:bodyPr/>
          <a:lstStyle/>
          <a:p>
            <a:fld id="{7472CE09-311C-4CDB-87AD-5FE14EBCB3AD}" type="slidenum">
              <a:rPr lang="en-US" smtClean="0"/>
              <a:pPr/>
              <a:t>51</a:t>
            </a:fld>
            <a:endParaRPr lang="en-US" dirty="0"/>
          </a:p>
        </p:txBody>
      </p:sp>
    </p:spTree>
    <p:extLst>
      <p:ext uri="{BB962C8B-B14F-4D97-AF65-F5344CB8AC3E}">
        <p14:creationId xmlns:p14="http://schemas.microsoft.com/office/powerpoint/2010/main" val="151630982"/>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BA2E-D965-4FE3-9974-6ADE68154D7A}"/>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2B0BE876-6DCA-4D58-B5E6-65BE46AFFF0A}"/>
              </a:ext>
            </a:extLst>
          </p:cNvPr>
          <p:cNvSpPr>
            <a:spLocks noGrp="1"/>
          </p:cNvSpPr>
          <p:nvPr>
            <p:ph idx="1"/>
          </p:nvPr>
        </p:nvSpPr>
        <p:spPr/>
        <p:txBody>
          <a:bodyPr/>
          <a:lstStyle/>
          <a:p>
            <a:pPr marL="0" indent="0">
              <a:buNone/>
              <a:defRPr/>
            </a:pPr>
            <a:r>
              <a:rPr lang="en-US" sz="3600" b="1" i="1" dirty="0">
                <a:solidFill>
                  <a:srgbClr val="0000FF"/>
                </a:solidFill>
              </a:rPr>
              <a:t>2. Model-Based Reflex Agents</a:t>
            </a:r>
            <a:endParaRPr lang="en-US" dirty="0"/>
          </a:p>
        </p:txBody>
      </p:sp>
      <p:pic>
        <p:nvPicPr>
          <p:cNvPr id="4" name="Picture 5">
            <a:extLst>
              <a:ext uri="{FF2B5EF4-FFF2-40B4-BE49-F238E27FC236}">
                <a16:creationId xmlns:a16="http://schemas.microsoft.com/office/drawing/2014/main" id="{D03E745E-5449-4A32-A280-41CBCA68C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3158" y="1587097"/>
            <a:ext cx="8097085" cy="5237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37DE60C9-1485-CB27-E36D-49CD1FA6638C}"/>
              </a:ext>
            </a:extLst>
          </p:cNvPr>
          <p:cNvSpPr>
            <a:spLocks noGrp="1"/>
          </p:cNvSpPr>
          <p:nvPr>
            <p:ph type="sldNum" sz="quarter" idx="4"/>
          </p:nvPr>
        </p:nvSpPr>
        <p:spPr/>
        <p:txBody>
          <a:bodyPr/>
          <a:lstStyle/>
          <a:p>
            <a:fld id="{7472CE09-311C-4CDB-87AD-5FE14EBCB3AD}" type="slidenum">
              <a:rPr lang="en-US" smtClean="0"/>
              <a:pPr/>
              <a:t>52</a:t>
            </a:fld>
            <a:endParaRPr lang="en-US" dirty="0"/>
          </a:p>
        </p:txBody>
      </p:sp>
    </p:spTree>
    <p:extLst>
      <p:ext uri="{BB962C8B-B14F-4D97-AF65-F5344CB8AC3E}">
        <p14:creationId xmlns:p14="http://schemas.microsoft.com/office/powerpoint/2010/main" val="1952257955"/>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E4C1-4B31-45C3-88E6-10D13E4A6E06}"/>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2A5C226E-FE3D-4F57-A608-08181A60233B}"/>
              </a:ext>
            </a:extLst>
          </p:cNvPr>
          <p:cNvSpPr>
            <a:spLocks noGrp="1"/>
          </p:cNvSpPr>
          <p:nvPr>
            <p:ph idx="1"/>
          </p:nvPr>
        </p:nvSpPr>
        <p:spPr/>
        <p:txBody>
          <a:bodyPr>
            <a:normAutofit/>
          </a:bodyPr>
          <a:lstStyle/>
          <a:p>
            <a:pPr marL="0" indent="0">
              <a:buNone/>
            </a:pPr>
            <a:r>
              <a:rPr lang="en-US" altLang="en-US" sz="3600" b="1" i="1" dirty="0">
                <a:solidFill>
                  <a:srgbClr val="0000FF"/>
                </a:solidFill>
                <a:highlight>
                  <a:srgbClr val="00FFFF"/>
                </a:highlight>
              </a:rPr>
              <a:t>3. Goal-Based Agents</a:t>
            </a:r>
          </a:p>
          <a:p>
            <a:r>
              <a:rPr lang="en-US" altLang="en-US" sz="3600" dirty="0"/>
              <a:t>Knowing about the current state of the environment  is  not  always  enough to  decide what to do. </a:t>
            </a:r>
          </a:p>
          <a:p>
            <a:pPr lvl="1"/>
            <a:r>
              <a:rPr lang="en-US" altLang="en-US" sz="3200" dirty="0"/>
              <a:t>For example, at a road junction, the taxi can turn left, turn right, or go straight on. The correct decision depends on where the taxi is trying to get to.</a:t>
            </a:r>
          </a:p>
          <a:p>
            <a:r>
              <a:rPr lang="en-US" altLang="en-US" sz="3600" dirty="0"/>
              <a:t>The agent needs some sort of goal information that describes situations that are desirable. </a:t>
            </a:r>
          </a:p>
          <a:p>
            <a:pPr lvl="1"/>
            <a:r>
              <a:rPr lang="en-US" altLang="en-US" sz="3200" dirty="0"/>
              <a:t>For example, being at the passenger’s destination. </a:t>
            </a:r>
            <a:endParaRPr lang="en-US" dirty="0"/>
          </a:p>
        </p:txBody>
      </p:sp>
      <p:sp>
        <p:nvSpPr>
          <p:cNvPr id="4" name="Slide Number Placeholder 3">
            <a:extLst>
              <a:ext uri="{FF2B5EF4-FFF2-40B4-BE49-F238E27FC236}">
                <a16:creationId xmlns:a16="http://schemas.microsoft.com/office/drawing/2014/main" id="{8237C679-71AC-89E9-CB0D-63CFC13CC2C6}"/>
              </a:ext>
            </a:extLst>
          </p:cNvPr>
          <p:cNvSpPr>
            <a:spLocks noGrp="1"/>
          </p:cNvSpPr>
          <p:nvPr>
            <p:ph type="sldNum" sz="quarter" idx="4"/>
          </p:nvPr>
        </p:nvSpPr>
        <p:spPr/>
        <p:txBody>
          <a:bodyPr/>
          <a:lstStyle/>
          <a:p>
            <a:fld id="{7472CE09-311C-4CDB-87AD-5FE14EBCB3AD}" type="slidenum">
              <a:rPr lang="en-US" smtClean="0"/>
              <a:pPr/>
              <a:t>53</a:t>
            </a:fld>
            <a:endParaRPr lang="en-US" dirty="0"/>
          </a:p>
        </p:txBody>
      </p:sp>
    </p:spTree>
    <p:extLst>
      <p:ext uri="{BB962C8B-B14F-4D97-AF65-F5344CB8AC3E}">
        <p14:creationId xmlns:p14="http://schemas.microsoft.com/office/powerpoint/2010/main" val="328795640"/>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3C3B-9B94-429F-8658-9AF55B7F8001}"/>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B3294B1F-8DC6-411D-968C-ACEEF9BA5578}"/>
              </a:ext>
            </a:extLst>
          </p:cNvPr>
          <p:cNvSpPr>
            <a:spLocks noGrp="1"/>
          </p:cNvSpPr>
          <p:nvPr>
            <p:ph idx="1"/>
          </p:nvPr>
        </p:nvSpPr>
        <p:spPr/>
        <p:txBody>
          <a:bodyPr/>
          <a:lstStyle/>
          <a:p>
            <a:pPr marL="0" indent="0">
              <a:buNone/>
            </a:pPr>
            <a:r>
              <a:rPr lang="en-US" altLang="en-US" sz="3600" b="1" i="1" dirty="0">
                <a:solidFill>
                  <a:srgbClr val="0000FF"/>
                </a:solidFill>
              </a:rPr>
              <a:t>3. Goal-Based Agents</a:t>
            </a:r>
            <a:endParaRPr lang="en-US" dirty="0"/>
          </a:p>
        </p:txBody>
      </p:sp>
      <p:pic>
        <p:nvPicPr>
          <p:cNvPr id="4" name="Picture 2">
            <a:extLst>
              <a:ext uri="{FF2B5EF4-FFF2-40B4-BE49-F238E27FC236}">
                <a16:creationId xmlns:a16="http://schemas.microsoft.com/office/drawing/2014/main" id="{75B3BDFB-CD62-46F5-84B4-63B6D5CD9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9819" y="1685058"/>
            <a:ext cx="7846015" cy="4860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0E955717-6505-2BC3-281C-5825724F8451}"/>
              </a:ext>
            </a:extLst>
          </p:cNvPr>
          <p:cNvSpPr>
            <a:spLocks noGrp="1"/>
          </p:cNvSpPr>
          <p:nvPr>
            <p:ph type="sldNum" sz="quarter" idx="4"/>
          </p:nvPr>
        </p:nvSpPr>
        <p:spPr/>
        <p:txBody>
          <a:bodyPr/>
          <a:lstStyle/>
          <a:p>
            <a:fld id="{7472CE09-311C-4CDB-87AD-5FE14EBCB3AD}" type="slidenum">
              <a:rPr lang="en-US" smtClean="0"/>
              <a:pPr/>
              <a:t>54</a:t>
            </a:fld>
            <a:endParaRPr lang="en-US" dirty="0"/>
          </a:p>
        </p:txBody>
      </p:sp>
    </p:spTree>
    <p:extLst>
      <p:ext uri="{BB962C8B-B14F-4D97-AF65-F5344CB8AC3E}">
        <p14:creationId xmlns:p14="http://schemas.microsoft.com/office/powerpoint/2010/main" val="3114564078"/>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A270-48A3-4682-9EAE-AD5231F7071E}"/>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ED53D1AF-02BE-403E-ADAD-3AB97B4EDF3B}"/>
              </a:ext>
            </a:extLst>
          </p:cNvPr>
          <p:cNvSpPr>
            <a:spLocks noGrp="1"/>
          </p:cNvSpPr>
          <p:nvPr>
            <p:ph idx="1"/>
          </p:nvPr>
        </p:nvSpPr>
        <p:spPr/>
        <p:txBody>
          <a:bodyPr/>
          <a:lstStyle/>
          <a:p>
            <a:pPr marL="0" indent="0">
              <a:buNone/>
            </a:pPr>
            <a:r>
              <a:rPr lang="en-US" altLang="en-US" sz="3600" b="1" i="1" dirty="0">
                <a:solidFill>
                  <a:srgbClr val="0000FF"/>
                </a:solidFill>
              </a:rPr>
              <a:t>4. Utility-Based  Agents</a:t>
            </a:r>
          </a:p>
          <a:p>
            <a:r>
              <a:rPr lang="en-US" altLang="en-US" sz="3800" dirty="0"/>
              <a:t>Goals alone are not really enough to generate high-quality behavior in most environments.</a:t>
            </a:r>
          </a:p>
          <a:p>
            <a:pPr lvl="1"/>
            <a:r>
              <a:rPr lang="en-US" altLang="en-US" sz="3400" dirty="0"/>
              <a:t>For example, there are many action sequences that will get the taxi to its destination (thereby achieving the goal) but some are quicker,  safer,  more  reliable,  or  cheaper than others.</a:t>
            </a:r>
          </a:p>
          <a:p>
            <a:endParaRPr lang="en-US" dirty="0"/>
          </a:p>
        </p:txBody>
      </p:sp>
      <p:sp>
        <p:nvSpPr>
          <p:cNvPr id="4" name="Slide Number Placeholder 3">
            <a:extLst>
              <a:ext uri="{FF2B5EF4-FFF2-40B4-BE49-F238E27FC236}">
                <a16:creationId xmlns:a16="http://schemas.microsoft.com/office/drawing/2014/main" id="{063C6A75-F968-1608-3E61-444C1CCE846F}"/>
              </a:ext>
            </a:extLst>
          </p:cNvPr>
          <p:cNvSpPr>
            <a:spLocks noGrp="1"/>
          </p:cNvSpPr>
          <p:nvPr>
            <p:ph type="sldNum" sz="quarter" idx="4"/>
          </p:nvPr>
        </p:nvSpPr>
        <p:spPr/>
        <p:txBody>
          <a:bodyPr/>
          <a:lstStyle/>
          <a:p>
            <a:fld id="{7472CE09-311C-4CDB-87AD-5FE14EBCB3AD}" type="slidenum">
              <a:rPr lang="en-US" smtClean="0"/>
              <a:pPr/>
              <a:t>55</a:t>
            </a:fld>
            <a:endParaRPr lang="en-US" dirty="0"/>
          </a:p>
        </p:txBody>
      </p:sp>
    </p:spTree>
    <p:extLst>
      <p:ext uri="{BB962C8B-B14F-4D97-AF65-F5344CB8AC3E}">
        <p14:creationId xmlns:p14="http://schemas.microsoft.com/office/powerpoint/2010/main" val="2571639470"/>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A4BAB-6D60-4CE5-A686-28406CE8A30B}"/>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C4770A8E-C823-4484-BFCB-943CDCA5FA82}"/>
              </a:ext>
            </a:extLst>
          </p:cNvPr>
          <p:cNvSpPr>
            <a:spLocks noGrp="1"/>
          </p:cNvSpPr>
          <p:nvPr>
            <p:ph idx="1"/>
          </p:nvPr>
        </p:nvSpPr>
        <p:spPr/>
        <p:txBody>
          <a:bodyPr>
            <a:normAutofit/>
          </a:bodyPr>
          <a:lstStyle/>
          <a:p>
            <a:pPr marL="0" indent="0">
              <a:buNone/>
              <a:defRPr/>
            </a:pPr>
            <a:r>
              <a:rPr lang="en-US" sz="3600" b="1" i="1" dirty="0">
                <a:solidFill>
                  <a:srgbClr val="0000FF"/>
                </a:solidFill>
              </a:rPr>
              <a:t>4. Utility-Based  Agents </a:t>
            </a:r>
          </a:p>
          <a:p>
            <a:pPr marL="433388" indent="-571500">
              <a:defRPr/>
            </a:pPr>
            <a:r>
              <a:rPr lang="en-US" sz="3200" b="1" i="1" dirty="0">
                <a:solidFill>
                  <a:srgbClr val="0000FF"/>
                </a:solidFill>
              </a:rPr>
              <a:t>Goals just provide a basic difference between “happy” and “unhappy” states.</a:t>
            </a:r>
          </a:p>
          <a:p>
            <a:pPr marL="433388" indent="-571500">
              <a:defRPr/>
            </a:pPr>
            <a:r>
              <a:rPr lang="en-US" sz="3200" dirty="0"/>
              <a:t>A more general performance measure  should  allow  a  comparison  of different world states according to exactly how happy they would make the  agent  if  they could be achieved. </a:t>
            </a:r>
          </a:p>
          <a:p>
            <a:pPr marL="890588" lvl="1" indent="-571500">
              <a:defRPr/>
            </a:pPr>
            <a:r>
              <a:rPr lang="en-US" sz="3200" dirty="0"/>
              <a:t>Because “happy” does not  sound  very  scientific,  the  customary terminology is to say that if one world state is preferred to  another,  then it has higher utility for the agent</a:t>
            </a:r>
            <a:r>
              <a:rPr lang="en-US" sz="3800" dirty="0"/>
              <a:t>. </a:t>
            </a:r>
            <a:endParaRPr lang="en-US" altLang="en-US" sz="3800" dirty="0"/>
          </a:p>
          <a:p>
            <a:pPr lvl="2" algn="just">
              <a:defRPr/>
            </a:pPr>
            <a:endParaRPr lang="en-US" sz="2600" dirty="0"/>
          </a:p>
          <a:p>
            <a:endParaRPr lang="en-US" dirty="0"/>
          </a:p>
        </p:txBody>
      </p:sp>
      <p:sp>
        <p:nvSpPr>
          <p:cNvPr id="4" name="Slide Number Placeholder 3">
            <a:extLst>
              <a:ext uri="{FF2B5EF4-FFF2-40B4-BE49-F238E27FC236}">
                <a16:creationId xmlns:a16="http://schemas.microsoft.com/office/drawing/2014/main" id="{13D0F723-441F-F41D-6F17-95C579A271FF}"/>
              </a:ext>
            </a:extLst>
          </p:cNvPr>
          <p:cNvSpPr>
            <a:spLocks noGrp="1"/>
          </p:cNvSpPr>
          <p:nvPr>
            <p:ph type="sldNum" sz="quarter" idx="4"/>
          </p:nvPr>
        </p:nvSpPr>
        <p:spPr/>
        <p:txBody>
          <a:bodyPr/>
          <a:lstStyle/>
          <a:p>
            <a:fld id="{7472CE09-311C-4CDB-87AD-5FE14EBCB3AD}" type="slidenum">
              <a:rPr lang="en-US" smtClean="0"/>
              <a:pPr/>
              <a:t>56</a:t>
            </a:fld>
            <a:endParaRPr lang="en-US" dirty="0"/>
          </a:p>
        </p:txBody>
      </p:sp>
    </p:spTree>
    <p:extLst>
      <p:ext uri="{BB962C8B-B14F-4D97-AF65-F5344CB8AC3E}">
        <p14:creationId xmlns:p14="http://schemas.microsoft.com/office/powerpoint/2010/main" val="2553397830"/>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67CB9-2E78-4CAF-A71B-6FE96F28812B}"/>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B1886B63-997D-4C6A-9D55-6A41F2685FD1}"/>
              </a:ext>
            </a:extLst>
          </p:cNvPr>
          <p:cNvSpPr>
            <a:spLocks noGrp="1"/>
          </p:cNvSpPr>
          <p:nvPr>
            <p:ph idx="1"/>
          </p:nvPr>
        </p:nvSpPr>
        <p:spPr/>
        <p:txBody>
          <a:bodyPr/>
          <a:lstStyle/>
          <a:p>
            <a:pPr marL="0" indent="0">
              <a:buNone/>
            </a:pPr>
            <a:r>
              <a:rPr lang="en-US" altLang="en-US" sz="3600" b="1" i="1" dirty="0">
                <a:solidFill>
                  <a:srgbClr val="0000FF"/>
                </a:solidFill>
              </a:rPr>
              <a:t>4. Utility-Based  Agents</a:t>
            </a:r>
            <a:endParaRPr lang="en-US" dirty="0"/>
          </a:p>
        </p:txBody>
      </p:sp>
      <p:pic>
        <p:nvPicPr>
          <p:cNvPr id="4" name="Picture 2">
            <a:extLst>
              <a:ext uri="{FF2B5EF4-FFF2-40B4-BE49-F238E27FC236}">
                <a16:creationId xmlns:a16="http://schemas.microsoft.com/office/drawing/2014/main" id="{BDC06AC2-E315-49BE-A3A6-645C7BE286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5658" y="1670181"/>
            <a:ext cx="7634757" cy="5025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2F921678-FDB8-7E0B-2AB9-B0B819382730}"/>
              </a:ext>
            </a:extLst>
          </p:cNvPr>
          <p:cNvSpPr>
            <a:spLocks noGrp="1"/>
          </p:cNvSpPr>
          <p:nvPr>
            <p:ph type="sldNum" sz="quarter" idx="4"/>
          </p:nvPr>
        </p:nvSpPr>
        <p:spPr/>
        <p:txBody>
          <a:bodyPr/>
          <a:lstStyle/>
          <a:p>
            <a:fld id="{7472CE09-311C-4CDB-87AD-5FE14EBCB3AD}" type="slidenum">
              <a:rPr lang="en-US" smtClean="0"/>
              <a:pPr/>
              <a:t>57</a:t>
            </a:fld>
            <a:endParaRPr lang="en-US" dirty="0"/>
          </a:p>
        </p:txBody>
      </p:sp>
    </p:spTree>
    <p:extLst>
      <p:ext uri="{BB962C8B-B14F-4D97-AF65-F5344CB8AC3E}">
        <p14:creationId xmlns:p14="http://schemas.microsoft.com/office/powerpoint/2010/main" val="2097246150"/>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8D42C-82EA-4420-A47A-C6FC60A38BEE}"/>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4AD8E5EC-093E-47A7-81C5-DC5A95087B34}"/>
              </a:ext>
            </a:extLst>
          </p:cNvPr>
          <p:cNvSpPr>
            <a:spLocks noGrp="1"/>
          </p:cNvSpPr>
          <p:nvPr>
            <p:ph idx="1"/>
          </p:nvPr>
        </p:nvSpPr>
        <p:spPr/>
        <p:txBody>
          <a:bodyPr>
            <a:normAutofit/>
          </a:bodyPr>
          <a:lstStyle/>
          <a:p>
            <a:pPr marL="0" indent="0" algn="just">
              <a:buNone/>
            </a:pPr>
            <a:r>
              <a:rPr lang="en-US" altLang="en-US" sz="3600" b="1" i="1" dirty="0">
                <a:solidFill>
                  <a:schemeClr val="accent2"/>
                </a:solidFill>
              </a:rPr>
              <a:t>5. Learning Agent</a:t>
            </a:r>
          </a:p>
          <a:p>
            <a:r>
              <a:rPr lang="en-US" altLang="en-US" sz="3200" dirty="0"/>
              <a:t> All agents can improve their performance through learning.</a:t>
            </a:r>
          </a:p>
          <a:p>
            <a:r>
              <a:rPr lang="en-US" altLang="en-US" sz="3200" dirty="0"/>
              <a:t>A learning agent can be divided into four conceptual components, as:</a:t>
            </a:r>
          </a:p>
          <a:p>
            <a:pPr lvl="1"/>
            <a:r>
              <a:rPr lang="en-US" altLang="en-US" sz="3200" b="1" i="1" dirty="0">
                <a:solidFill>
                  <a:srgbClr val="0000FF"/>
                </a:solidFill>
              </a:rPr>
              <a:t>Learning element- </a:t>
            </a:r>
            <a:r>
              <a:rPr lang="en-US" altLang="en-US" sz="3200" dirty="0"/>
              <a:t>responsible for making improvements</a:t>
            </a:r>
          </a:p>
          <a:p>
            <a:pPr lvl="1"/>
            <a:r>
              <a:rPr lang="en-US" altLang="en-US" sz="3200" b="1" i="1" dirty="0">
                <a:solidFill>
                  <a:srgbClr val="0000FF"/>
                </a:solidFill>
              </a:rPr>
              <a:t>Performance element–  </a:t>
            </a:r>
            <a:r>
              <a:rPr lang="en-US" altLang="en-US" sz="3200" dirty="0"/>
              <a:t>responsible for selecting external actions.</a:t>
            </a:r>
          </a:p>
          <a:p>
            <a:pPr lvl="1"/>
            <a:r>
              <a:rPr lang="en-US" altLang="en-US" sz="3200" b="1" i="1" dirty="0">
                <a:solidFill>
                  <a:srgbClr val="0000FF"/>
                </a:solidFill>
              </a:rPr>
              <a:t>Critic- </a:t>
            </a:r>
            <a:r>
              <a:rPr lang="en-US" altLang="en-US" sz="3200" dirty="0"/>
              <a:t>The learning element uses feedback from the critic on how the agent is doing and determines how the performance element should be modified to do better in the future.</a:t>
            </a:r>
          </a:p>
          <a:p>
            <a:pPr lvl="1"/>
            <a:r>
              <a:rPr lang="en-US" altLang="en-US" sz="3200" b="1" i="1" dirty="0">
                <a:solidFill>
                  <a:srgbClr val="0000FF"/>
                </a:solidFill>
              </a:rPr>
              <a:t>Problem generator- </a:t>
            </a:r>
            <a:r>
              <a:rPr lang="en-US" altLang="en-US" sz="3200" dirty="0"/>
              <a:t>and it is responsible for suggesting  actions  that  will  lead  to  new  and  informative experiences.</a:t>
            </a:r>
          </a:p>
          <a:p>
            <a:endParaRPr lang="en-US" dirty="0"/>
          </a:p>
        </p:txBody>
      </p:sp>
      <p:sp>
        <p:nvSpPr>
          <p:cNvPr id="4" name="Slide Number Placeholder 3">
            <a:extLst>
              <a:ext uri="{FF2B5EF4-FFF2-40B4-BE49-F238E27FC236}">
                <a16:creationId xmlns:a16="http://schemas.microsoft.com/office/drawing/2014/main" id="{63A674DF-4248-94AA-95C7-349D156B41F1}"/>
              </a:ext>
            </a:extLst>
          </p:cNvPr>
          <p:cNvSpPr>
            <a:spLocks noGrp="1"/>
          </p:cNvSpPr>
          <p:nvPr>
            <p:ph type="sldNum" sz="quarter" idx="4"/>
          </p:nvPr>
        </p:nvSpPr>
        <p:spPr/>
        <p:txBody>
          <a:bodyPr/>
          <a:lstStyle/>
          <a:p>
            <a:fld id="{7472CE09-311C-4CDB-87AD-5FE14EBCB3AD}" type="slidenum">
              <a:rPr lang="en-US" smtClean="0"/>
              <a:pPr/>
              <a:t>58</a:t>
            </a:fld>
            <a:endParaRPr lang="en-US" dirty="0"/>
          </a:p>
        </p:txBody>
      </p:sp>
    </p:spTree>
    <p:extLst>
      <p:ext uri="{BB962C8B-B14F-4D97-AF65-F5344CB8AC3E}">
        <p14:creationId xmlns:p14="http://schemas.microsoft.com/office/powerpoint/2010/main" val="347409292"/>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4C65D-E6FB-4A13-9367-83C1D20DFD23}"/>
              </a:ext>
            </a:extLst>
          </p:cNvPr>
          <p:cNvSpPr>
            <a:spLocks noGrp="1"/>
          </p:cNvSpPr>
          <p:nvPr>
            <p:ph type="title"/>
          </p:nvPr>
        </p:nvSpPr>
        <p:spPr/>
        <p:txBody>
          <a:bodyPr/>
          <a:lstStyle/>
          <a:p>
            <a:r>
              <a:rPr lang="en-US" dirty="0"/>
              <a:t>Types of Agent Programs</a:t>
            </a:r>
          </a:p>
        </p:txBody>
      </p:sp>
      <p:sp>
        <p:nvSpPr>
          <p:cNvPr id="3" name="Content Placeholder 2">
            <a:extLst>
              <a:ext uri="{FF2B5EF4-FFF2-40B4-BE49-F238E27FC236}">
                <a16:creationId xmlns:a16="http://schemas.microsoft.com/office/drawing/2014/main" id="{D519DDA7-C137-4DBF-ACCB-9FCB3BCBE449}"/>
              </a:ext>
            </a:extLst>
          </p:cNvPr>
          <p:cNvSpPr>
            <a:spLocks noGrp="1"/>
          </p:cNvSpPr>
          <p:nvPr>
            <p:ph idx="1"/>
          </p:nvPr>
        </p:nvSpPr>
        <p:spPr/>
        <p:txBody>
          <a:bodyPr/>
          <a:lstStyle/>
          <a:p>
            <a:pPr marL="0" indent="0" algn="just">
              <a:buNone/>
              <a:defRPr/>
            </a:pPr>
            <a:r>
              <a:rPr lang="en-US" sz="3600" b="1" i="1" dirty="0">
                <a:solidFill>
                  <a:schemeClr val="accent2"/>
                </a:solidFill>
              </a:rPr>
              <a:t>5. Learning Agent</a:t>
            </a:r>
          </a:p>
          <a:p>
            <a:pPr lvl="1" algn="just">
              <a:defRPr/>
            </a:pPr>
            <a:r>
              <a:rPr lang="en-US" sz="2800" dirty="0"/>
              <a:t>Schematic Diagram of Learning Agent is given below:</a:t>
            </a:r>
            <a:endParaRPr lang="en-PK" sz="2800" dirty="0"/>
          </a:p>
          <a:p>
            <a:pPr lvl="1" algn="just">
              <a:defRPr/>
            </a:pPr>
            <a:endParaRPr lang="en-PK" sz="2800" dirty="0"/>
          </a:p>
          <a:p>
            <a:pPr lvl="1" algn="just">
              <a:defRPr/>
            </a:pPr>
            <a:endParaRPr lang="en-PK" sz="2600" dirty="0"/>
          </a:p>
          <a:p>
            <a:endParaRPr lang="en-US" dirty="0"/>
          </a:p>
        </p:txBody>
      </p:sp>
      <p:pic>
        <p:nvPicPr>
          <p:cNvPr id="4" name="Picture 2">
            <a:extLst>
              <a:ext uri="{FF2B5EF4-FFF2-40B4-BE49-F238E27FC236}">
                <a16:creationId xmlns:a16="http://schemas.microsoft.com/office/drawing/2014/main" id="{F0E4CAEF-C376-4B14-A469-76017C72A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8797" y="2043405"/>
            <a:ext cx="7265134" cy="469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9ACB4A65-85F3-FBAF-F153-423A47A07958}"/>
              </a:ext>
            </a:extLst>
          </p:cNvPr>
          <p:cNvSpPr>
            <a:spLocks noGrp="1"/>
          </p:cNvSpPr>
          <p:nvPr>
            <p:ph type="sldNum" sz="quarter" idx="4"/>
          </p:nvPr>
        </p:nvSpPr>
        <p:spPr/>
        <p:txBody>
          <a:bodyPr/>
          <a:lstStyle/>
          <a:p>
            <a:fld id="{7472CE09-311C-4CDB-87AD-5FE14EBCB3AD}" type="slidenum">
              <a:rPr lang="en-US" smtClean="0"/>
              <a:pPr/>
              <a:t>59</a:t>
            </a:fld>
            <a:endParaRPr lang="en-US" dirty="0"/>
          </a:p>
        </p:txBody>
      </p:sp>
    </p:spTree>
    <p:extLst>
      <p:ext uri="{BB962C8B-B14F-4D97-AF65-F5344CB8AC3E}">
        <p14:creationId xmlns:p14="http://schemas.microsoft.com/office/powerpoint/2010/main" val="2006190576"/>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2">
            <a:extLst>
              <a:ext uri="{FF2B5EF4-FFF2-40B4-BE49-F238E27FC236}">
                <a16:creationId xmlns:a16="http://schemas.microsoft.com/office/drawing/2014/main" id="{84C82AA5-9F99-9733-0D79-5CA8B85E15E3}"/>
              </a:ext>
            </a:extLst>
          </p:cNvPr>
          <p:cNvSpPr>
            <a:spLocks noGrp="1" noChangeArrowheads="1"/>
          </p:cNvSpPr>
          <p:nvPr>
            <p:ph type="title"/>
          </p:nvPr>
        </p:nvSpPr>
        <p:spPr/>
        <p:txBody>
          <a:bodyPr/>
          <a:lstStyle/>
          <a:p>
            <a:r>
              <a:rPr lang="en-GB" altLang="en-US"/>
              <a:t>Rational Agents</a:t>
            </a:r>
          </a:p>
        </p:txBody>
      </p:sp>
      <p:sp>
        <p:nvSpPr>
          <p:cNvPr id="8195" name="Rectangle 3">
            <a:extLst>
              <a:ext uri="{FF2B5EF4-FFF2-40B4-BE49-F238E27FC236}">
                <a16:creationId xmlns:a16="http://schemas.microsoft.com/office/drawing/2014/main" id="{D9949299-CF73-F05E-064A-F792C3279C34}"/>
              </a:ext>
            </a:extLst>
          </p:cNvPr>
          <p:cNvSpPr>
            <a:spLocks noGrp="1" noChangeArrowheads="1"/>
          </p:cNvSpPr>
          <p:nvPr>
            <p:ph idx="1"/>
          </p:nvPr>
        </p:nvSpPr>
        <p:spPr>
          <a:xfrm>
            <a:off x="522513" y="1922106"/>
            <a:ext cx="11381517" cy="4523272"/>
          </a:xfrm>
        </p:spPr>
        <p:txBody>
          <a:bodyPr/>
          <a:lstStyle/>
          <a:p>
            <a:pPr>
              <a:lnSpc>
                <a:spcPct val="90000"/>
              </a:lnSpc>
            </a:pPr>
            <a:r>
              <a:rPr lang="en-GB" altLang="en-US" dirty="0"/>
              <a:t>Need to be able to calculate agent’s performance</a:t>
            </a:r>
          </a:p>
          <a:p>
            <a:pPr lvl="1">
              <a:lnSpc>
                <a:spcPct val="90000"/>
              </a:lnSpc>
            </a:pPr>
            <a:r>
              <a:rPr lang="en-GB" altLang="en-US" dirty="0"/>
              <a:t>Should be independent of internal measures</a:t>
            </a:r>
          </a:p>
          <a:p>
            <a:pPr lvl="1">
              <a:lnSpc>
                <a:spcPct val="90000"/>
              </a:lnSpc>
              <a:buFontTx/>
              <a:buNone/>
            </a:pPr>
            <a:endParaRPr lang="en-GB" altLang="en-US" dirty="0"/>
          </a:p>
          <a:p>
            <a:pPr>
              <a:lnSpc>
                <a:spcPct val="90000"/>
              </a:lnSpc>
            </a:pPr>
            <a:r>
              <a:rPr lang="en-GB" altLang="en-US" dirty="0"/>
              <a:t>Ask yourself: has the agent acted rationally?</a:t>
            </a:r>
          </a:p>
          <a:p>
            <a:pPr lvl="1">
              <a:lnSpc>
                <a:spcPct val="90000"/>
              </a:lnSpc>
            </a:pPr>
            <a:r>
              <a:rPr lang="en-GB" altLang="en-US" dirty="0"/>
              <a:t>Not just dependent on how well it does at a task</a:t>
            </a:r>
          </a:p>
          <a:p>
            <a:pPr lvl="1">
              <a:lnSpc>
                <a:spcPct val="90000"/>
              </a:lnSpc>
            </a:pPr>
            <a:endParaRPr lang="en-GB" altLang="en-US" dirty="0"/>
          </a:p>
          <a:p>
            <a:pPr>
              <a:lnSpc>
                <a:spcPct val="90000"/>
              </a:lnSpc>
            </a:pPr>
            <a:r>
              <a:rPr lang="en-GB" altLang="en-US" dirty="0"/>
              <a:t>First consideration: evaluation of rationality</a:t>
            </a:r>
          </a:p>
        </p:txBody>
      </p:sp>
      <p:sp>
        <p:nvSpPr>
          <p:cNvPr id="8196" name="AutoShape 4">
            <a:extLst>
              <a:ext uri="{FF2B5EF4-FFF2-40B4-BE49-F238E27FC236}">
                <a16:creationId xmlns:a16="http://schemas.microsoft.com/office/drawing/2014/main" id="{D20B99E3-0ECB-ACF8-133A-59F2EB515F5C}"/>
              </a:ext>
            </a:extLst>
          </p:cNvPr>
          <p:cNvSpPr>
            <a:spLocks noChangeArrowheads="1"/>
          </p:cNvSpPr>
          <p:nvPr/>
        </p:nvSpPr>
        <p:spPr bwMode="auto">
          <a:xfrm>
            <a:off x="755780" y="1125894"/>
            <a:ext cx="10375640" cy="609600"/>
          </a:xfrm>
          <a:prstGeom prst="roundRect">
            <a:avLst>
              <a:gd name="adj"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sz="2400" dirty="0">
                <a:solidFill>
                  <a:schemeClr val="bg1"/>
                </a:solidFill>
                <a:latin typeface="Times New Roman" panose="02020603050405020304" pitchFamily="18" charset="0"/>
              </a:rPr>
              <a:t>A </a:t>
            </a:r>
            <a:r>
              <a:rPr lang="en-GB" altLang="en-US" sz="2400" b="1" dirty="0">
                <a:solidFill>
                  <a:schemeClr val="bg1"/>
                </a:solidFill>
                <a:latin typeface="Times New Roman" panose="02020603050405020304" pitchFamily="18" charset="0"/>
              </a:rPr>
              <a:t>rational agent</a:t>
            </a:r>
            <a:r>
              <a:rPr lang="en-GB" altLang="en-US" sz="2400" dirty="0">
                <a:solidFill>
                  <a:schemeClr val="bg1"/>
                </a:solidFill>
                <a:latin typeface="Times New Roman" panose="02020603050405020304" pitchFamily="18" charset="0"/>
              </a:rPr>
              <a:t> is one that does the right thing</a:t>
            </a:r>
          </a:p>
        </p:txBody>
      </p:sp>
      <p:sp>
        <p:nvSpPr>
          <p:cNvPr id="2" name="Slide Number Placeholder 1">
            <a:extLst>
              <a:ext uri="{FF2B5EF4-FFF2-40B4-BE49-F238E27FC236}">
                <a16:creationId xmlns:a16="http://schemas.microsoft.com/office/drawing/2014/main" id="{68AF5263-21EC-7007-756F-9735D1DE530F}"/>
              </a:ext>
            </a:extLst>
          </p:cNvPr>
          <p:cNvSpPr>
            <a:spLocks noGrp="1"/>
          </p:cNvSpPr>
          <p:nvPr>
            <p:ph type="sldNum" sz="quarter" idx="4"/>
          </p:nvPr>
        </p:nvSpPr>
        <p:spPr/>
        <p:txBody>
          <a:bodyPr/>
          <a:lstStyle/>
          <a:p>
            <a:fld id="{7472CE09-311C-4CDB-87AD-5FE14EBCB3AD}" type="slidenum">
              <a:rPr lang="en-US" smtClean="0"/>
              <a:pPr/>
              <a:t>60</a:t>
            </a:fld>
            <a:endParaRPr lang="en-US" dirty="0"/>
          </a:p>
        </p:txBody>
      </p:sp>
    </p:spTree>
    <p:extLst>
      <p:ext uri="{BB962C8B-B14F-4D97-AF65-F5344CB8AC3E}">
        <p14:creationId xmlns:p14="http://schemas.microsoft.com/office/powerpoint/2010/main" val="2502675454"/>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a:extLst>
              <a:ext uri="{FF2B5EF4-FFF2-40B4-BE49-F238E27FC236}">
                <a16:creationId xmlns:a16="http://schemas.microsoft.com/office/drawing/2014/main" id="{C4802358-FE05-A6FC-E512-7A673C425579}"/>
              </a:ext>
            </a:extLst>
          </p:cNvPr>
          <p:cNvSpPr>
            <a:spLocks noGrp="1" noChangeArrowheads="1"/>
          </p:cNvSpPr>
          <p:nvPr>
            <p:ph type="title"/>
          </p:nvPr>
        </p:nvSpPr>
        <p:spPr/>
        <p:txBody>
          <a:bodyPr/>
          <a:lstStyle/>
          <a:p>
            <a:r>
              <a:rPr lang="en-GB" altLang="en-US"/>
              <a:t>Autonomy in Agents</a:t>
            </a:r>
          </a:p>
        </p:txBody>
      </p:sp>
      <p:sp>
        <p:nvSpPr>
          <p:cNvPr id="10243" name="Rectangle 3">
            <a:extLst>
              <a:ext uri="{FF2B5EF4-FFF2-40B4-BE49-F238E27FC236}">
                <a16:creationId xmlns:a16="http://schemas.microsoft.com/office/drawing/2014/main" id="{F04F21A6-7A6F-F14E-65A6-816778B05EDB}"/>
              </a:ext>
            </a:extLst>
          </p:cNvPr>
          <p:cNvSpPr>
            <a:spLocks noGrp="1" noChangeArrowheads="1"/>
          </p:cNvSpPr>
          <p:nvPr>
            <p:ph idx="1"/>
          </p:nvPr>
        </p:nvSpPr>
        <p:spPr>
          <a:xfrm>
            <a:off x="578498" y="2304661"/>
            <a:ext cx="10014857" cy="3433666"/>
          </a:xfrm>
        </p:spPr>
        <p:txBody>
          <a:bodyPr/>
          <a:lstStyle/>
          <a:p>
            <a:r>
              <a:rPr lang="en-GB" altLang="en-US" dirty="0"/>
              <a:t>Extremes</a:t>
            </a:r>
          </a:p>
          <a:p>
            <a:pPr lvl="1"/>
            <a:r>
              <a:rPr lang="en-GB" altLang="en-US" dirty="0"/>
              <a:t>No autonomy – ignores environment/data</a:t>
            </a:r>
          </a:p>
          <a:p>
            <a:pPr lvl="1"/>
            <a:r>
              <a:rPr lang="en-GB" altLang="en-US" dirty="0"/>
              <a:t>Complete autonomy – no internal knowledge</a:t>
            </a:r>
          </a:p>
          <a:p>
            <a:r>
              <a:rPr lang="en-GB" altLang="en-US" dirty="0"/>
              <a:t>Example – Baby learning to crawl</a:t>
            </a:r>
          </a:p>
          <a:p>
            <a:r>
              <a:rPr lang="en-GB" altLang="en-US" dirty="0"/>
              <a:t>Ideal – design agents to have some autonomy</a:t>
            </a:r>
          </a:p>
          <a:p>
            <a:pPr lvl="1"/>
            <a:r>
              <a:rPr lang="en-GB" altLang="en-US" dirty="0"/>
              <a:t>Possibly good to become more autonomous in time</a:t>
            </a:r>
          </a:p>
        </p:txBody>
      </p:sp>
      <p:sp>
        <p:nvSpPr>
          <p:cNvPr id="10244" name="AutoShape 4">
            <a:extLst>
              <a:ext uri="{FF2B5EF4-FFF2-40B4-BE49-F238E27FC236}">
                <a16:creationId xmlns:a16="http://schemas.microsoft.com/office/drawing/2014/main" id="{2A72D29E-1D98-B5AD-FC03-B6960F0DF208}"/>
              </a:ext>
            </a:extLst>
          </p:cNvPr>
          <p:cNvSpPr>
            <a:spLocks noChangeArrowheads="1"/>
          </p:cNvSpPr>
          <p:nvPr/>
        </p:nvSpPr>
        <p:spPr bwMode="auto">
          <a:xfrm>
            <a:off x="475861" y="1217645"/>
            <a:ext cx="11381518" cy="914400"/>
          </a:xfrm>
          <a:prstGeom prst="roundRect">
            <a:avLst>
              <a:gd name="adj"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sz="2400" dirty="0">
                <a:solidFill>
                  <a:schemeClr val="bg1"/>
                </a:solidFill>
                <a:latin typeface="Times New Roman" panose="02020603050405020304" pitchFamily="18" charset="0"/>
              </a:rPr>
              <a:t>The </a:t>
            </a:r>
            <a:r>
              <a:rPr lang="en-GB" altLang="en-US" sz="2400" b="1" dirty="0">
                <a:solidFill>
                  <a:schemeClr val="bg1"/>
                </a:solidFill>
                <a:latin typeface="Times New Roman" panose="02020603050405020304" pitchFamily="18" charset="0"/>
              </a:rPr>
              <a:t>autonomy </a:t>
            </a:r>
            <a:r>
              <a:rPr lang="en-GB" altLang="en-US" sz="2400" dirty="0">
                <a:solidFill>
                  <a:schemeClr val="bg1"/>
                </a:solidFill>
                <a:latin typeface="Times New Roman" panose="02020603050405020304" pitchFamily="18" charset="0"/>
              </a:rPr>
              <a:t>of an agent is the extent to which its</a:t>
            </a:r>
          </a:p>
          <a:p>
            <a:pPr algn="ctr" eaLnBrk="1" hangingPunct="1"/>
            <a:r>
              <a:rPr lang="en-GB" altLang="en-US" sz="2400" dirty="0">
                <a:solidFill>
                  <a:schemeClr val="bg1"/>
                </a:solidFill>
                <a:latin typeface="Times New Roman" panose="02020603050405020304" pitchFamily="18" charset="0"/>
              </a:rPr>
              <a:t>behaviour is determined by its own experience</a:t>
            </a:r>
          </a:p>
        </p:txBody>
      </p:sp>
      <p:sp>
        <p:nvSpPr>
          <p:cNvPr id="2" name="Slide Number Placeholder 1">
            <a:extLst>
              <a:ext uri="{FF2B5EF4-FFF2-40B4-BE49-F238E27FC236}">
                <a16:creationId xmlns:a16="http://schemas.microsoft.com/office/drawing/2014/main" id="{99BE926F-836B-CF86-6A3F-378F1140611A}"/>
              </a:ext>
            </a:extLst>
          </p:cNvPr>
          <p:cNvSpPr>
            <a:spLocks noGrp="1"/>
          </p:cNvSpPr>
          <p:nvPr>
            <p:ph type="sldNum" sz="quarter" idx="4"/>
          </p:nvPr>
        </p:nvSpPr>
        <p:spPr/>
        <p:txBody>
          <a:bodyPr/>
          <a:lstStyle/>
          <a:p>
            <a:fld id="{7472CE09-311C-4CDB-87AD-5FE14EBCB3AD}" type="slidenum">
              <a:rPr lang="en-US" smtClean="0"/>
              <a:pPr/>
              <a:t>61</a:t>
            </a:fld>
            <a:endParaRPr lang="en-US" dirty="0"/>
          </a:p>
        </p:txBody>
      </p:sp>
    </p:spTree>
    <p:extLst>
      <p:ext uri="{BB962C8B-B14F-4D97-AF65-F5344CB8AC3E}">
        <p14:creationId xmlns:p14="http://schemas.microsoft.com/office/powerpoint/2010/main" val="2205024531"/>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40833-56E8-EE3E-4805-9305A1807711}"/>
              </a:ext>
            </a:extLst>
          </p:cNvPr>
          <p:cNvSpPr>
            <a:spLocks noGrp="1"/>
          </p:cNvSpPr>
          <p:nvPr>
            <p:ph type="ctrTitle"/>
          </p:nvPr>
        </p:nvSpPr>
        <p:spPr/>
        <p:txBody>
          <a:bodyPr>
            <a:normAutofit fontScale="90000"/>
          </a:bodyPr>
          <a:lstStyle/>
          <a:p>
            <a:r>
              <a:rPr lang="en-US" altLang="en-US" dirty="0">
                <a:solidFill>
                  <a:srgbClr val="0000FF"/>
                </a:solidFill>
              </a:rPr>
              <a:t>P</a:t>
            </a:r>
            <a:r>
              <a:rPr lang="en-US" altLang="en-US" dirty="0"/>
              <a:t>erformance, </a:t>
            </a:r>
            <a:r>
              <a:rPr lang="en-US" altLang="en-US" dirty="0">
                <a:solidFill>
                  <a:srgbClr val="0000FF"/>
                </a:solidFill>
              </a:rPr>
              <a:t>E</a:t>
            </a:r>
            <a:r>
              <a:rPr lang="en-US" altLang="en-US" dirty="0"/>
              <a:t>nvironment, </a:t>
            </a:r>
            <a:r>
              <a:rPr lang="en-US" altLang="en-US" dirty="0">
                <a:solidFill>
                  <a:srgbClr val="0000FF"/>
                </a:solidFill>
              </a:rPr>
              <a:t>A</a:t>
            </a:r>
            <a:r>
              <a:rPr lang="en-US" altLang="en-US" dirty="0"/>
              <a:t>ctuators, </a:t>
            </a:r>
            <a:r>
              <a:rPr lang="en-US" altLang="en-US" dirty="0">
                <a:solidFill>
                  <a:srgbClr val="0000FF"/>
                </a:solidFill>
              </a:rPr>
              <a:t>S</a:t>
            </a:r>
            <a:r>
              <a:rPr lang="en-US" altLang="en-US" dirty="0"/>
              <a:t>ensors</a:t>
            </a:r>
            <a:endParaRPr lang="en-US" dirty="0"/>
          </a:p>
        </p:txBody>
      </p:sp>
      <p:sp>
        <p:nvSpPr>
          <p:cNvPr id="3" name="Subtitle 2">
            <a:extLst>
              <a:ext uri="{FF2B5EF4-FFF2-40B4-BE49-F238E27FC236}">
                <a16:creationId xmlns:a16="http://schemas.microsoft.com/office/drawing/2014/main" id="{27817D1C-04ED-6D89-1626-9A853DADD1E8}"/>
              </a:ext>
            </a:extLst>
          </p:cNvPr>
          <p:cNvSpPr>
            <a:spLocks noGrp="1"/>
          </p:cNvSpPr>
          <p:nvPr>
            <p:ph type="subTitle" idx="1"/>
          </p:nvPr>
        </p:nvSpPr>
        <p:spPr/>
        <p:txBody>
          <a:bodyPr>
            <a:normAutofit fontScale="92500" lnSpcReduction="10000"/>
          </a:bodyPr>
          <a:lstStyle/>
          <a:p>
            <a:endParaRPr lang="en-US" dirty="0"/>
          </a:p>
          <a:p>
            <a:endParaRPr lang="en-US" dirty="0"/>
          </a:p>
          <a:p>
            <a:r>
              <a:rPr lang="en-US" sz="6500" dirty="0">
                <a:latin typeface="Consolas" panose="020B0609020204030204" pitchFamily="49" charset="0"/>
              </a:rPr>
              <a:t>(PEAS)</a:t>
            </a:r>
          </a:p>
        </p:txBody>
      </p:sp>
    </p:spTree>
    <p:extLst>
      <p:ext uri="{BB962C8B-B14F-4D97-AF65-F5344CB8AC3E}">
        <p14:creationId xmlns:p14="http://schemas.microsoft.com/office/powerpoint/2010/main" val="448202911"/>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66831-6CCF-F92A-8E83-0CE0D3F66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C1E2F-C179-09D0-2FEF-3D6EFCE16808}"/>
              </a:ext>
            </a:extLst>
          </p:cNvPr>
          <p:cNvSpPr>
            <a:spLocks noGrp="1"/>
          </p:cNvSpPr>
          <p:nvPr>
            <p:ph type="title"/>
          </p:nvPr>
        </p:nvSpPr>
        <p:spPr/>
        <p:txBody>
          <a:bodyPr>
            <a:noAutofit/>
          </a:bodyPr>
          <a:lstStyle/>
          <a:p>
            <a:r>
              <a:rPr lang="en-US" sz="3200" dirty="0"/>
              <a:t>PEAS in AI </a:t>
            </a:r>
            <a:r>
              <a:rPr lang="en-US" sz="2400" b="0" dirty="0"/>
              <a:t>(Performance Measure, Environment, Actuators, Sensors)</a:t>
            </a:r>
            <a:endParaRPr lang="en-US" sz="3200" b="0" dirty="0"/>
          </a:p>
        </p:txBody>
      </p:sp>
      <p:sp>
        <p:nvSpPr>
          <p:cNvPr id="3" name="Content Placeholder 2">
            <a:extLst>
              <a:ext uri="{FF2B5EF4-FFF2-40B4-BE49-F238E27FC236}">
                <a16:creationId xmlns:a16="http://schemas.microsoft.com/office/drawing/2014/main" id="{8B2F73DE-F96F-4338-4FC7-10766B3CDB6D}"/>
              </a:ext>
            </a:extLst>
          </p:cNvPr>
          <p:cNvSpPr>
            <a:spLocks noGrp="1"/>
          </p:cNvSpPr>
          <p:nvPr>
            <p:ph idx="1"/>
          </p:nvPr>
        </p:nvSpPr>
        <p:spPr/>
        <p:txBody>
          <a:bodyPr>
            <a:noAutofit/>
          </a:bodyPr>
          <a:lstStyle/>
          <a:p>
            <a:r>
              <a:rPr lang="en-US" sz="3000" dirty="0"/>
              <a:t>PEAS is a framework used to </a:t>
            </a:r>
            <a:r>
              <a:rPr lang="en-US" sz="3000" b="1" dirty="0"/>
              <a:t>define and evaluate an AI agent’s environment and functionality</a:t>
            </a:r>
            <a:r>
              <a:rPr lang="en-US" sz="3000" dirty="0"/>
              <a:t>. </a:t>
            </a:r>
          </a:p>
          <a:p>
            <a:r>
              <a:rPr lang="en-US" sz="3000" dirty="0"/>
              <a:t>It helps in </a:t>
            </a:r>
            <a:r>
              <a:rPr lang="en-US" sz="3000" b="1" dirty="0"/>
              <a:t>designing intelligent agents</a:t>
            </a:r>
            <a:r>
              <a:rPr lang="en-US" sz="3000" dirty="0"/>
              <a:t> by clearly specifying </a:t>
            </a:r>
            <a:r>
              <a:rPr lang="en-US" sz="3000" b="1" dirty="0"/>
              <a:t>how they perceive the world, what actions they can take, and how their performance is measured</a:t>
            </a:r>
            <a:r>
              <a:rPr lang="en-US" sz="3000" dirty="0"/>
              <a:t>.</a:t>
            </a:r>
          </a:p>
          <a:p>
            <a:r>
              <a:rPr lang="en-US" sz="3000" dirty="0"/>
              <a:t>It stands for:</a:t>
            </a:r>
            <a:r>
              <a:rPr lang="en-US" altLang="en-US" sz="3000" dirty="0"/>
              <a:t>.</a:t>
            </a:r>
          </a:p>
          <a:p>
            <a:pPr lvl="1"/>
            <a:r>
              <a:rPr lang="en-US" sz="3000" b="1" dirty="0">
                <a:solidFill>
                  <a:srgbClr val="0070C0"/>
                </a:solidFill>
              </a:rPr>
              <a:t>Performance Measure:</a:t>
            </a:r>
            <a:r>
              <a:rPr lang="en-US" sz="3000" dirty="0"/>
              <a:t> Output we get from the agent.</a:t>
            </a:r>
          </a:p>
          <a:p>
            <a:pPr lvl="1"/>
            <a:r>
              <a:rPr lang="en-US" sz="3000" b="1" dirty="0">
                <a:solidFill>
                  <a:srgbClr val="0070C0"/>
                </a:solidFill>
              </a:rPr>
              <a:t>Environment</a:t>
            </a:r>
            <a:r>
              <a:rPr lang="en-US" sz="3000" dirty="0"/>
              <a:t>: All surrounding things and conditions.</a:t>
            </a:r>
          </a:p>
          <a:p>
            <a:pPr lvl="1"/>
            <a:r>
              <a:rPr lang="en-US" sz="3000" b="1" dirty="0">
                <a:solidFill>
                  <a:srgbClr val="0070C0"/>
                </a:solidFill>
              </a:rPr>
              <a:t>Actuators</a:t>
            </a:r>
            <a:r>
              <a:rPr lang="en-US" sz="3000" dirty="0"/>
              <a:t>: Devices (hardware, software) through which agent performs actions on the environment</a:t>
            </a:r>
          </a:p>
          <a:p>
            <a:pPr lvl="1"/>
            <a:r>
              <a:rPr lang="en-US" sz="3000" b="1" dirty="0">
                <a:solidFill>
                  <a:srgbClr val="0070C0"/>
                </a:solidFill>
              </a:rPr>
              <a:t>Sensors</a:t>
            </a:r>
            <a:r>
              <a:rPr lang="en-US" sz="3000" dirty="0"/>
              <a:t>: Devices from which agent perceives information from the environment.</a:t>
            </a:r>
          </a:p>
        </p:txBody>
      </p:sp>
      <p:sp>
        <p:nvSpPr>
          <p:cNvPr id="4" name="Slide Number Placeholder 3">
            <a:extLst>
              <a:ext uri="{FF2B5EF4-FFF2-40B4-BE49-F238E27FC236}">
                <a16:creationId xmlns:a16="http://schemas.microsoft.com/office/drawing/2014/main" id="{43BA8434-5468-5A38-A0A2-B1A5D7AC3C04}"/>
              </a:ext>
            </a:extLst>
          </p:cNvPr>
          <p:cNvSpPr>
            <a:spLocks noGrp="1"/>
          </p:cNvSpPr>
          <p:nvPr>
            <p:ph type="sldNum" sz="quarter" idx="4"/>
          </p:nvPr>
        </p:nvSpPr>
        <p:spPr/>
        <p:txBody>
          <a:bodyPr/>
          <a:lstStyle/>
          <a:p>
            <a:fld id="{7472CE09-311C-4CDB-87AD-5FE14EBCB3AD}" type="slidenum">
              <a:rPr lang="en-US" smtClean="0"/>
              <a:pPr/>
              <a:t>63</a:t>
            </a:fld>
            <a:endParaRPr lang="en-US" dirty="0"/>
          </a:p>
        </p:txBody>
      </p:sp>
    </p:spTree>
    <p:extLst>
      <p:ext uri="{BB962C8B-B14F-4D97-AF65-F5344CB8AC3E}">
        <p14:creationId xmlns:p14="http://schemas.microsoft.com/office/powerpoint/2010/main" val="1900577513"/>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B0537-5883-4ACE-8717-D9486961BCB2}"/>
              </a:ext>
            </a:extLst>
          </p:cNvPr>
          <p:cNvSpPr>
            <a:spLocks noGrp="1"/>
          </p:cNvSpPr>
          <p:nvPr>
            <p:ph type="title"/>
          </p:nvPr>
        </p:nvSpPr>
        <p:spPr/>
        <p:txBody>
          <a:bodyPr/>
          <a:lstStyle/>
          <a:p>
            <a:r>
              <a:rPr lang="en-US" altLang="en-US" dirty="0"/>
              <a:t>PEAS</a:t>
            </a:r>
            <a:endParaRPr lang="en-US" dirty="0"/>
          </a:p>
        </p:txBody>
      </p:sp>
      <p:sp>
        <p:nvSpPr>
          <p:cNvPr id="3" name="Content Placeholder 2">
            <a:extLst>
              <a:ext uri="{FF2B5EF4-FFF2-40B4-BE49-F238E27FC236}">
                <a16:creationId xmlns:a16="http://schemas.microsoft.com/office/drawing/2014/main" id="{6E6A2080-F35D-480E-9668-38447C5DF617}"/>
              </a:ext>
            </a:extLst>
          </p:cNvPr>
          <p:cNvSpPr>
            <a:spLocks noGrp="1"/>
          </p:cNvSpPr>
          <p:nvPr>
            <p:ph idx="1"/>
          </p:nvPr>
        </p:nvSpPr>
        <p:spPr/>
        <p:txBody>
          <a:bodyPr/>
          <a:lstStyle/>
          <a:p>
            <a:r>
              <a:rPr lang="en-US" altLang="en-US" sz="3000" dirty="0"/>
              <a:t>In designing an agent, the first step must always be to specify the task environment as fully as possible.</a:t>
            </a:r>
          </a:p>
          <a:p>
            <a:r>
              <a:rPr lang="en-US" altLang="en-US" sz="3000" dirty="0"/>
              <a:t>The following table shows PEAS description of the task  environment  for  a Medical Diagnosis System</a:t>
            </a:r>
            <a:endParaRPr lang="en-US" dirty="0"/>
          </a:p>
        </p:txBody>
      </p:sp>
      <p:pic>
        <p:nvPicPr>
          <p:cNvPr id="4" name="Picture 4">
            <a:extLst>
              <a:ext uri="{FF2B5EF4-FFF2-40B4-BE49-F238E27FC236}">
                <a16:creationId xmlns:a16="http://schemas.microsoft.com/office/drawing/2014/main" id="{D05918F6-BD91-4C69-9697-F0070CAFC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781" y="3051110"/>
            <a:ext cx="11086453" cy="3166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7BD35549-19AA-A8D5-5D03-7ACC15B6DE62}"/>
              </a:ext>
            </a:extLst>
          </p:cNvPr>
          <p:cNvSpPr>
            <a:spLocks noGrp="1"/>
          </p:cNvSpPr>
          <p:nvPr>
            <p:ph type="sldNum" sz="quarter" idx="4"/>
          </p:nvPr>
        </p:nvSpPr>
        <p:spPr/>
        <p:txBody>
          <a:bodyPr/>
          <a:lstStyle/>
          <a:p>
            <a:fld id="{7472CE09-311C-4CDB-87AD-5FE14EBCB3AD}" type="slidenum">
              <a:rPr lang="en-US" smtClean="0"/>
              <a:pPr/>
              <a:t>64</a:t>
            </a:fld>
            <a:endParaRPr lang="en-US" dirty="0"/>
          </a:p>
        </p:txBody>
      </p:sp>
    </p:spTree>
    <p:extLst>
      <p:ext uri="{BB962C8B-B14F-4D97-AF65-F5344CB8AC3E}">
        <p14:creationId xmlns:p14="http://schemas.microsoft.com/office/powerpoint/2010/main" val="3878221437"/>
      </p:ext>
    </p:extLst>
  </p:cSld>
  <p:clrMapOvr>
    <a:masterClrMapping/>
  </p:clrMapOvr>
  <p:transition>
    <p:comb/>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D6915-ABBA-5E7B-72D0-0807391167B9}"/>
              </a:ext>
            </a:extLst>
          </p:cNvPr>
          <p:cNvSpPr>
            <a:spLocks noGrp="1"/>
          </p:cNvSpPr>
          <p:nvPr>
            <p:ph type="ctrTitle"/>
          </p:nvPr>
        </p:nvSpPr>
        <p:spPr/>
        <p:txBody>
          <a:bodyPr>
            <a:normAutofit/>
          </a:bodyPr>
          <a:lstStyle/>
          <a:p>
            <a:r>
              <a:rPr lang="en-GB" dirty="0"/>
              <a:t>Environment of an Agent</a:t>
            </a:r>
            <a:endParaRPr lang="en-US" dirty="0"/>
          </a:p>
        </p:txBody>
      </p:sp>
      <p:sp>
        <p:nvSpPr>
          <p:cNvPr id="3" name="Subtitle 2">
            <a:extLst>
              <a:ext uri="{FF2B5EF4-FFF2-40B4-BE49-F238E27FC236}">
                <a16:creationId xmlns:a16="http://schemas.microsoft.com/office/drawing/2014/main" id="{A186CAD2-BCF1-18CC-C358-FC6BE5BDD68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86673797"/>
      </p:ext>
    </p:extLst>
  </p:cSld>
  <p:clrMapOvr>
    <a:masterClrMapping/>
  </p:clrMapOvr>
  <p:transition>
    <p:comb/>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C85FB-6442-4C2C-A822-38664913F39E}"/>
              </a:ext>
            </a:extLst>
          </p:cNvPr>
          <p:cNvSpPr>
            <a:spLocks noGrp="1"/>
          </p:cNvSpPr>
          <p:nvPr>
            <p:ph type="title"/>
          </p:nvPr>
        </p:nvSpPr>
        <p:spPr/>
        <p:txBody>
          <a:bodyPr/>
          <a:lstStyle/>
          <a:p>
            <a:r>
              <a:rPr lang="en-GB" dirty="0"/>
              <a:t>What is the Environment of an Agent</a:t>
            </a:r>
            <a:endParaRPr lang="en-US" dirty="0"/>
          </a:p>
        </p:txBody>
      </p:sp>
      <p:sp>
        <p:nvSpPr>
          <p:cNvPr id="3" name="Content Placeholder 2">
            <a:extLst>
              <a:ext uri="{FF2B5EF4-FFF2-40B4-BE49-F238E27FC236}">
                <a16:creationId xmlns:a16="http://schemas.microsoft.com/office/drawing/2014/main" id="{44B55D0C-E559-9454-4CEC-F36AA08583FB}"/>
              </a:ext>
            </a:extLst>
          </p:cNvPr>
          <p:cNvSpPr>
            <a:spLocks noGrp="1"/>
          </p:cNvSpPr>
          <p:nvPr>
            <p:ph idx="1"/>
          </p:nvPr>
        </p:nvSpPr>
        <p:spPr/>
        <p:txBody>
          <a:bodyPr/>
          <a:lstStyle/>
          <a:p>
            <a:pPr marL="0" indent="0">
              <a:buNone/>
            </a:pPr>
            <a:r>
              <a:rPr lang="en-GB" dirty="0"/>
              <a:t>The </a:t>
            </a:r>
            <a:r>
              <a:rPr lang="en-GB" b="1" dirty="0"/>
              <a:t>environment</a:t>
            </a:r>
            <a:r>
              <a:rPr lang="en-GB" dirty="0"/>
              <a:t> is </a:t>
            </a:r>
            <a:r>
              <a:rPr lang="en-GB" b="1" dirty="0"/>
              <a:t>everything external to the agent</a:t>
            </a:r>
            <a:r>
              <a:rPr lang="en-GB" dirty="0"/>
              <a:t> that the agent interacts with.</a:t>
            </a:r>
          </a:p>
          <a:p>
            <a:pPr marL="0" indent="0">
              <a:buNone/>
            </a:pPr>
            <a:r>
              <a:rPr lang="en-GB" dirty="0"/>
              <a:t>It provides </a:t>
            </a:r>
            <a:r>
              <a:rPr lang="en-GB" b="1" dirty="0"/>
              <a:t>inputs (</a:t>
            </a:r>
            <a:r>
              <a:rPr lang="en-GB" b="1" dirty="0" err="1"/>
              <a:t>percepts</a:t>
            </a:r>
            <a:r>
              <a:rPr lang="en-GB" b="1" dirty="0"/>
              <a:t>)</a:t>
            </a:r>
            <a:r>
              <a:rPr lang="en-GB" dirty="0"/>
              <a:t> to the agent and </a:t>
            </a:r>
            <a:r>
              <a:rPr lang="en-GB" b="1" dirty="0"/>
              <a:t>receives outputs (actions)</a:t>
            </a:r>
            <a:r>
              <a:rPr lang="en-GB" dirty="0"/>
              <a:t> from the agent.</a:t>
            </a:r>
          </a:p>
          <a:p>
            <a:pPr marL="0" indent="0">
              <a:buNone/>
            </a:pPr>
            <a:endParaRPr lang="en-GB" b="1" dirty="0"/>
          </a:p>
          <a:p>
            <a:pPr marL="0" indent="0">
              <a:buNone/>
            </a:pPr>
            <a:r>
              <a:rPr lang="en-GB" b="1" dirty="0">
                <a:highlight>
                  <a:srgbClr val="00FFFF"/>
                </a:highlight>
              </a:rPr>
              <a:t>Example Environments:</a:t>
            </a:r>
            <a:endParaRPr lang="en-GB" dirty="0">
              <a:highlight>
                <a:srgbClr val="00FFFF"/>
              </a:highlight>
            </a:endParaRPr>
          </a:p>
          <a:p>
            <a:r>
              <a:rPr lang="en-GB" dirty="0"/>
              <a:t>For a </a:t>
            </a:r>
            <a:r>
              <a:rPr lang="en-GB" b="1" dirty="0"/>
              <a:t>self-driving car:</a:t>
            </a:r>
            <a:r>
              <a:rPr lang="en-GB" dirty="0"/>
              <a:t> roads, traffic lights, pedestrians, other cars.</a:t>
            </a:r>
          </a:p>
          <a:p>
            <a:r>
              <a:rPr lang="en-GB" dirty="0"/>
              <a:t>For a </a:t>
            </a:r>
            <a:r>
              <a:rPr lang="en-GB" b="1" dirty="0"/>
              <a:t>chess-playing AI:</a:t>
            </a:r>
            <a:r>
              <a:rPr lang="en-GB" dirty="0"/>
              <a:t> the chessboard and opponent’s moves.</a:t>
            </a:r>
          </a:p>
          <a:p>
            <a:r>
              <a:rPr lang="en-GB" dirty="0"/>
              <a:t>For a </a:t>
            </a:r>
            <a:r>
              <a:rPr lang="en-GB" b="1" dirty="0"/>
              <a:t>cleaning robot:</a:t>
            </a:r>
            <a:r>
              <a:rPr lang="en-GB" dirty="0"/>
              <a:t> room layout, dust, furniture, walls.</a:t>
            </a:r>
          </a:p>
        </p:txBody>
      </p:sp>
      <p:sp>
        <p:nvSpPr>
          <p:cNvPr id="4" name="Slide Number Placeholder 3">
            <a:extLst>
              <a:ext uri="{FF2B5EF4-FFF2-40B4-BE49-F238E27FC236}">
                <a16:creationId xmlns:a16="http://schemas.microsoft.com/office/drawing/2014/main" id="{F5C3DC9B-ABDE-F096-D247-0D839CA76E90}"/>
              </a:ext>
            </a:extLst>
          </p:cNvPr>
          <p:cNvSpPr>
            <a:spLocks noGrp="1"/>
          </p:cNvSpPr>
          <p:nvPr>
            <p:ph type="sldNum" sz="quarter" idx="4"/>
          </p:nvPr>
        </p:nvSpPr>
        <p:spPr/>
        <p:txBody>
          <a:bodyPr/>
          <a:lstStyle/>
          <a:p>
            <a:fld id="{7472CE09-311C-4CDB-87AD-5FE14EBCB3AD}" type="slidenum">
              <a:rPr lang="en-US" smtClean="0"/>
              <a:pPr/>
              <a:t>66</a:t>
            </a:fld>
            <a:endParaRPr lang="en-US" dirty="0"/>
          </a:p>
        </p:txBody>
      </p:sp>
    </p:spTree>
    <p:extLst>
      <p:ext uri="{BB962C8B-B14F-4D97-AF65-F5344CB8AC3E}">
        <p14:creationId xmlns:p14="http://schemas.microsoft.com/office/powerpoint/2010/main" val="2830923147"/>
      </p:ext>
    </p:extLst>
  </p:cSld>
  <p:clrMapOvr>
    <a:masterClrMapping/>
  </p:clrMapOvr>
  <p:transition>
    <p:comb/>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A1677-C66A-58F0-3EAB-EA471B3EB4B5}"/>
              </a:ext>
            </a:extLst>
          </p:cNvPr>
          <p:cNvSpPr>
            <a:spLocks noGrp="1"/>
          </p:cNvSpPr>
          <p:nvPr>
            <p:ph type="title"/>
          </p:nvPr>
        </p:nvSpPr>
        <p:spPr/>
        <p:txBody>
          <a:bodyPr>
            <a:normAutofit/>
          </a:bodyPr>
          <a:lstStyle/>
          <a:p>
            <a:r>
              <a:rPr lang="en-GB" dirty="0"/>
              <a:t>Agent Reflect Changes in the Environment</a:t>
            </a:r>
            <a:endParaRPr lang="en-US" dirty="0"/>
          </a:p>
        </p:txBody>
      </p:sp>
      <p:sp>
        <p:nvSpPr>
          <p:cNvPr id="3" name="Content Placeholder 2">
            <a:extLst>
              <a:ext uri="{FF2B5EF4-FFF2-40B4-BE49-F238E27FC236}">
                <a16:creationId xmlns:a16="http://schemas.microsoft.com/office/drawing/2014/main" id="{4FECF10D-D575-06E9-B730-C77572C40D1F}"/>
              </a:ext>
            </a:extLst>
          </p:cNvPr>
          <p:cNvSpPr>
            <a:spLocks noGrp="1"/>
          </p:cNvSpPr>
          <p:nvPr>
            <p:ph idx="1"/>
          </p:nvPr>
        </p:nvSpPr>
        <p:spPr/>
        <p:txBody>
          <a:bodyPr/>
          <a:lstStyle/>
          <a:p>
            <a:pPr marL="0" indent="0">
              <a:buNone/>
            </a:pPr>
            <a:r>
              <a:rPr lang="en-GB" dirty="0"/>
              <a:t>An intelligent agent continuously performs </a:t>
            </a:r>
            <a:r>
              <a:rPr lang="en-GB" dirty="0">
                <a:highlight>
                  <a:srgbClr val="00FFFF"/>
                </a:highlight>
              </a:rPr>
              <a:t>a </a:t>
            </a:r>
            <a:r>
              <a:rPr lang="en-GB" b="1" dirty="0">
                <a:highlight>
                  <a:srgbClr val="00FFFF"/>
                </a:highlight>
              </a:rPr>
              <a:t>sense → think → act</a:t>
            </a:r>
            <a:r>
              <a:rPr lang="en-GB" dirty="0">
                <a:highlight>
                  <a:srgbClr val="00FFFF"/>
                </a:highlight>
              </a:rPr>
              <a:t> </a:t>
            </a:r>
            <a:r>
              <a:rPr lang="en-GB" dirty="0"/>
              <a:t>cycle:</a:t>
            </a:r>
          </a:p>
          <a:p>
            <a:endParaRPr lang="en-GB" b="1" dirty="0"/>
          </a:p>
          <a:p>
            <a:pPr marL="514350" indent="-514350">
              <a:buFont typeface="+mj-lt"/>
              <a:buAutoNum type="arabicPeriod"/>
            </a:pPr>
            <a:r>
              <a:rPr lang="en-GB" b="1" dirty="0"/>
              <a:t>Sense:</a:t>
            </a:r>
            <a:r>
              <a:rPr lang="en-GB" dirty="0"/>
              <a:t> It </a:t>
            </a:r>
            <a:r>
              <a:rPr lang="en-GB" b="1" dirty="0"/>
              <a:t>perceives</a:t>
            </a:r>
            <a:r>
              <a:rPr lang="en-GB" dirty="0"/>
              <a:t> or collects data from the environment using sensors.</a:t>
            </a:r>
          </a:p>
          <a:p>
            <a:pPr marL="514350" indent="-514350">
              <a:buFont typeface="+mj-lt"/>
              <a:buAutoNum type="arabicPeriod"/>
            </a:pPr>
            <a:r>
              <a:rPr lang="en-GB" b="1" dirty="0"/>
              <a:t>Think:</a:t>
            </a:r>
            <a:r>
              <a:rPr lang="en-GB" dirty="0"/>
              <a:t> It </a:t>
            </a:r>
            <a:r>
              <a:rPr lang="en-GB" b="1" dirty="0"/>
              <a:t>analyses</a:t>
            </a:r>
            <a:r>
              <a:rPr lang="en-GB" dirty="0"/>
              <a:t> that data and </a:t>
            </a:r>
            <a:r>
              <a:rPr lang="en-GB" b="1" dirty="0"/>
              <a:t>decides</a:t>
            </a:r>
            <a:r>
              <a:rPr lang="en-GB" dirty="0"/>
              <a:t> what action to take.</a:t>
            </a:r>
          </a:p>
          <a:p>
            <a:pPr marL="514350" indent="-514350">
              <a:buFont typeface="+mj-lt"/>
              <a:buAutoNum type="arabicPeriod"/>
            </a:pPr>
            <a:r>
              <a:rPr lang="en-GB" b="1" dirty="0"/>
              <a:t>Act:</a:t>
            </a:r>
            <a:r>
              <a:rPr lang="en-GB" dirty="0"/>
              <a:t> It </a:t>
            </a:r>
            <a:r>
              <a:rPr lang="en-GB" b="1" dirty="0"/>
              <a:t>executes</a:t>
            </a:r>
            <a:r>
              <a:rPr lang="en-GB" dirty="0"/>
              <a:t> an action that may </a:t>
            </a:r>
            <a:r>
              <a:rPr lang="en-GB" b="1" dirty="0"/>
              <a:t>change the environment</a:t>
            </a:r>
            <a:r>
              <a:rPr lang="en-GB" dirty="0"/>
              <a:t>.</a:t>
            </a:r>
          </a:p>
          <a:p>
            <a:pPr marL="514350" indent="-514350">
              <a:buFont typeface="+mj-lt"/>
              <a:buAutoNum type="arabicPeriod"/>
            </a:pPr>
            <a:r>
              <a:rPr lang="en-GB" b="1" dirty="0"/>
              <a:t>Learn:</a:t>
            </a:r>
            <a:r>
              <a:rPr lang="en-GB" dirty="0"/>
              <a:t> It </a:t>
            </a:r>
            <a:r>
              <a:rPr lang="en-GB" b="1" dirty="0"/>
              <a:t>observes the result</a:t>
            </a:r>
            <a:r>
              <a:rPr lang="en-GB" dirty="0"/>
              <a:t> of its action and </a:t>
            </a:r>
            <a:r>
              <a:rPr lang="en-GB" b="1" dirty="0"/>
              <a:t>updates</a:t>
            </a:r>
            <a:r>
              <a:rPr lang="en-GB" dirty="0"/>
              <a:t> its knowledge.</a:t>
            </a:r>
          </a:p>
          <a:p>
            <a:pPr marL="0" indent="0">
              <a:buNone/>
            </a:pPr>
            <a:endParaRPr lang="en-GB" b="1" dirty="0"/>
          </a:p>
          <a:p>
            <a:pPr marL="0" indent="0">
              <a:buNone/>
            </a:pPr>
            <a:r>
              <a:rPr lang="en-GB" b="1" dirty="0"/>
              <a:t>Example:</a:t>
            </a:r>
          </a:p>
          <a:p>
            <a:pPr marL="0" indent="0">
              <a:buNone/>
            </a:pPr>
            <a:r>
              <a:rPr lang="en-GB" dirty="0"/>
              <a:t>A self-driving car detects an obstacle (sense), decides to slow down (think), applies brakes (act), and then checks if the road is clear (learn).</a:t>
            </a:r>
          </a:p>
          <a:p>
            <a:endParaRPr lang="en-US" dirty="0"/>
          </a:p>
        </p:txBody>
      </p:sp>
      <p:sp>
        <p:nvSpPr>
          <p:cNvPr id="4" name="Slide Number Placeholder 3">
            <a:extLst>
              <a:ext uri="{FF2B5EF4-FFF2-40B4-BE49-F238E27FC236}">
                <a16:creationId xmlns:a16="http://schemas.microsoft.com/office/drawing/2014/main" id="{B9F00866-6946-9D1C-F7AF-0FC731EC76DE}"/>
              </a:ext>
            </a:extLst>
          </p:cNvPr>
          <p:cNvSpPr>
            <a:spLocks noGrp="1"/>
          </p:cNvSpPr>
          <p:nvPr>
            <p:ph type="sldNum" sz="quarter" idx="4"/>
          </p:nvPr>
        </p:nvSpPr>
        <p:spPr/>
        <p:txBody>
          <a:bodyPr/>
          <a:lstStyle/>
          <a:p>
            <a:fld id="{7472CE09-311C-4CDB-87AD-5FE14EBCB3AD}" type="slidenum">
              <a:rPr lang="en-US" smtClean="0"/>
              <a:pPr/>
              <a:t>67</a:t>
            </a:fld>
            <a:endParaRPr lang="en-US" dirty="0"/>
          </a:p>
        </p:txBody>
      </p:sp>
    </p:spTree>
    <p:extLst>
      <p:ext uri="{BB962C8B-B14F-4D97-AF65-F5344CB8AC3E}">
        <p14:creationId xmlns:p14="http://schemas.microsoft.com/office/powerpoint/2010/main" val="3026003443"/>
      </p:ext>
    </p:extLst>
  </p:cSld>
  <p:clrMapOvr>
    <a:masterClrMapping/>
  </p:clrMapOvr>
  <p:transition>
    <p:comb/>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56C0-30E2-B01E-3430-E4B3C42E5181}"/>
              </a:ext>
            </a:extLst>
          </p:cNvPr>
          <p:cNvSpPr>
            <a:spLocks noGrp="1"/>
          </p:cNvSpPr>
          <p:nvPr>
            <p:ph type="title"/>
          </p:nvPr>
        </p:nvSpPr>
        <p:spPr/>
        <p:txBody>
          <a:bodyPr>
            <a:normAutofit fontScale="90000"/>
          </a:bodyPr>
          <a:lstStyle/>
          <a:p>
            <a:r>
              <a:rPr lang="en-GB" dirty="0"/>
              <a:t>Types of Environments in Artificial Intelligence</a:t>
            </a:r>
            <a:endParaRPr lang="en-US" dirty="0"/>
          </a:p>
        </p:txBody>
      </p:sp>
      <p:sp>
        <p:nvSpPr>
          <p:cNvPr id="3" name="Content Placeholder 2">
            <a:extLst>
              <a:ext uri="{FF2B5EF4-FFF2-40B4-BE49-F238E27FC236}">
                <a16:creationId xmlns:a16="http://schemas.microsoft.com/office/drawing/2014/main" id="{468E3816-86E0-EA38-9EB8-4801A198333A}"/>
              </a:ext>
            </a:extLst>
          </p:cNvPr>
          <p:cNvSpPr>
            <a:spLocks noGrp="1"/>
          </p:cNvSpPr>
          <p:nvPr>
            <p:ph idx="1"/>
          </p:nvPr>
        </p:nvSpPr>
        <p:spPr/>
        <p:txBody>
          <a:bodyPr/>
          <a:lstStyle/>
          <a:p>
            <a:endParaRPr lang="en-GB" dirty="0"/>
          </a:p>
          <a:p>
            <a:r>
              <a:rPr lang="en-GB" dirty="0"/>
              <a:t>An </a:t>
            </a:r>
            <a:r>
              <a:rPr lang="en-GB" b="1" dirty="0"/>
              <a:t>environment</a:t>
            </a:r>
            <a:r>
              <a:rPr lang="en-GB" dirty="0"/>
              <a:t> is the </a:t>
            </a:r>
            <a:r>
              <a:rPr lang="en-GB" b="1" dirty="0"/>
              <a:t>world</a:t>
            </a:r>
            <a:r>
              <a:rPr lang="en-GB" dirty="0"/>
              <a:t> in which an agent operates.</a:t>
            </a:r>
            <a:br>
              <a:rPr lang="en-GB" dirty="0"/>
            </a:br>
            <a:endParaRPr lang="en-GB" dirty="0"/>
          </a:p>
          <a:p>
            <a:r>
              <a:rPr lang="en-GB" dirty="0"/>
              <a:t>Different AI applications (like robots, chatbots, or self-driving cars) exist in </a:t>
            </a:r>
            <a:r>
              <a:rPr lang="en-GB" b="1" dirty="0"/>
              <a:t>different kinds of environments</a:t>
            </a:r>
            <a:r>
              <a:rPr lang="en-GB" dirty="0"/>
              <a:t>, each having unique challenges.</a:t>
            </a:r>
            <a:endParaRPr lang="en-US" dirty="0"/>
          </a:p>
        </p:txBody>
      </p:sp>
      <p:sp>
        <p:nvSpPr>
          <p:cNvPr id="4" name="Slide Number Placeholder 3">
            <a:extLst>
              <a:ext uri="{FF2B5EF4-FFF2-40B4-BE49-F238E27FC236}">
                <a16:creationId xmlns:a16="http://schemas.microsoft.com/office/drawing/2014/main" id="{EE24CC9F-CCF2-834D-1638-67096716FFFB}"/>
              </a:ext>
            </a:extLst>
          </p:cNvPr>
          <p:cNvSpPr>
            <a:spLocks noGrp="1"/>
          </p:cNvSpPr>
          <p:nvPr>
            <p:ph type="sldNum" sz="quarter" idx="4"/>
          </p:nvPr>
        </p:nvSpPr>
        <p:spPr/>
        <p:txBody>
          <a:bodyPr/>
          <a:lstStyle/>
          <a:p>
            <a:fld id="{7472CE09-311C-4CDB-87AD-5FE14EBCB3AD}" type="slidenum">
              <a:rPr lang="en-US" smtClean="0"/>
              <a:pPr/>
              <a:t>68</a:t>
            </a:fld>
            <a:endParaRPr lang="en-US" dirty="0"/>
          </a:p>
        </p:txBody>
      </p:sp>
    </p:spTree>
    <p:extLst>
      <p:ext uri="{BB962C8B-B14F-4D97-AF65-F5344CB8AC3E}">
        <p14:creationId xmlns:p14="http://schemas.microsoft.com/office/powerpoint/2010/main" val="605363796"/>
      </p:ext>
    </p:extLst>
  </p:cSld>
  <p:clrMapOvr>
    <a:masterClrMapping/>
  </p:clrMapOvr>
  <p:transition>
    <p:comb/>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A8EFF-80A3-AB7D-35DF-7F29F97B3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20FF1-EDF9-DAAD-3F8A-F7FBDF7A4397}"/>
              </a:ext>
            </a:extLst>
          </p:cNvPr>
          <p:cNvSpPr>
            <a:spLocks noGrp="1"/>
          </p:cNvSpPr>
          <p:nvPr>
            <p:ph type="title"/>
          </p:nvPr>
        </p:nvSpPr>
        <p:spPr/>
        <p:txBody>
          <a:bodyPr>
            <a:normAutofit fontScale="90000"/>
          </a:bodyPr>
          <a:lstStyle/>
          <a:p>
            <a:r>
              <a:rPr lang="en-GB" dirty="0"/>
              <a:t>Types of Environments in Artificial Intelligence</a:t>
            </a:r>
            <a:endParaRPr lang="en-US" dirty="0"/>
          </a:p>
        </p:txBody>
      </p:sp>
      <p:sp>
        <p:nvSpPr>
          <p:cNvPr id="3" name="Content Placeholder 2">
            <a:extLst>
              <a:ext uri="{FF2B5EF4-FFF2-40B4-BE49-F238E27FC236}">
                <a16:creationId xmlns:a16="http://schemas.microsoft.com/office/drawing/2014/main" id="{AA8088B0-82C1-4D5A-2852-F4CC9961E49F}"/>
              </a:ext>
            </a:extLst>
          </p:cNvPr>
          <p:cNvSpPr>
            <a:spLocks noGrp="1"/>
          </p:cNvSpPr>
          <p:nvPr>
            <p:ph idx="1"/>
          </p:nvPr>
        </p:nvSpPr>
        <p:spPr/>
        <p:txBody>
          <a:bodyPr/>
          <a:lstStyle/>
          <a:p>
            <a:pPr marL="0" indent="0">
              <a:buNone/>
            </a:pPr>
            <a:r>
              <a:rPr lang="en-GB" b="1" dirty="0">
                <a:highlight>
                  <a:srgbClr val="00FFFF"/>
                </a:highlight>
              </a:rPr>
              <a:t>1. Fully Observable vs. Partially Observable</a:t>
            </a:r>
          </a:p>
          <a:p>
            <a:r>
              <a:rPr lang="en-GB" b="1" dirty="0"/>
              <a:t>Fully Observable Environment:</a:t>
            </a:r>
            <a:endParaRPr lang="en-GB" dirty="0"/>
          </a:p>
          <a:p>
            <a:pPr lvl="1"/>
            <a:r>
              <a:rPr lang="en-GB" dirty="0"/>
              <a:t>The agent has </a:t>
            </a:r>
            <a:r>
              <a:rPr lang="en-GB" b="1" dirty="0"/>
              <a:t>complete access</a:t>
            </a:r>
            <a:r>
              <a:rPr lang="en-GB" dirty="0"/>
              <a:t> to all relevant information about the environment’s state.</a:t>
            </a:r>
          </a:p>
          <a:p>
            <a:pPr lvl="1"/>
            <a:r>
              <a:rPr lang="en-GB" dirty="0"/>
              <a:t>It can make decisions confidently based on full data.</a:t>
            </a:r>
          </a:p>
          <a:p>
            <a:pPr marL="457200" lvl="1" indent="0">
              <a:buNone/>
            </a:pPr>
            <a:r>
              <a:rPr lang="en-GB" i="1" dirty="0"/>
              <a:t>Example:</a:t>
            </a:r>
            <a:r>
              <a:rPr lang="en-GB" dirty="0"/>
              <a:t> Chess game (the AI can see the entire board).</a:t>
            </a:r>
          </a:p>
          <a:p>
            <a:endParaRPr lang="en-GB" b="1" dirty="0"/>
          </a:p>
          <a:p>
            <a:r>
              <a:rPr lang="en-GB" b="1" dirty="0"/>
              <a:t>Partially Observable Environment:</a:t>
            </a:r>
            <a:endParaRPr lang="en-GB" dirty="0"/>
          </a:p>
          <a:p>
            <a:pPr lvl="1"/>
            <a:r>
              <a:rPr lang="en-GB" dirty="0"/>
              <a:t>The agent can </a:t>
            </a:r>
            <a:r>
              <a:rPr lang="en-GB" b="1" dirty="0"/>
              <a:t>only see part</a:t>
            </a:r>
            <a:r>
              <a:rPr lang="en-GB" dirty="0"/>
              <a:t> of the environment at any given time.</a:t>
            </a:r>
          </a:p>
          <a:p>
            <a:pPr lvl="1"/>
            <a:r>
              <a:rPr lang="en-GB" dirty="0"/>
              <a:t>It must </a:t>
            </a:r>
            <a:r>
              <a:rPr lang="en-GB" b="1" dirty="0"/>
              <a:t>infer missing information</a:t>
            </a:r>
            <a:r>
              <a:rPr lang="en-GB" dirty="0"/>
              <a:t> using memory or estimation.</a:t>
            </a:r>
          </a:p>
          <a:p>
            <a:pPr marL="457200" lvl="1" indent="0">
              <a:buNone/>
            </a:pPr>
            <a:r>
              <a:rPr lang="en-GB" i="1" dirty="0"/>
              <a:t>Example:</a:t>
            </a:r>
            <a:r>
              <a:rPr lang="en-GB" dirty="0"/>
              <a:t> A self-driving car (cannot see blind spots or around corners).</a:t>
            </a:r>
          </a:p>
          <a:p>
            <a:endParaRPr lang="en-US" dirty="0"/>
          </a:p>
        </p:txBody>
      </p:sp>
      <p:sp>
        <p:nvSpPr>
          <p:cNvPr id="4" name="Slide Number Placeholder 3">
            <a:extLst>
              <a:ext uri="{FF2B5EF4-FFF2-40B4-BE49-F238E27FC236}">
                <a16:creationId xmlns:a16="http://schemas.microsoft.com/office/drawing/2014/main" id="{CE7C88D2-0689-FCAE-994E-B0E36AB89BAD}"/>
              </a:ext>
            </a:extLst>
          </p:cNvPr>
          <p:cNvSpPr>
            <a:spLocks noGrp="1"/>
          </p:cNvSpPr>
          <p:nvPr>
            <p:ph type="sldNum" sz="quarter" idx="4"/>
          </p:nvPr>
        </p:nvSpPr>
        <p:spPr/>
        <p:txBody>
          <a:bodyPr/>
          <a:lstStyle/>
          <a:p>
            <a:fld id="{7472CE09-311C-4CDB-87AD-5FE14EBCB3AD}" type="slidenum">
              <a:rPr lang="en-US" smtClean="0"/>
              <a:pPr/>
              <a:t>69</a:t>
            </a:fld>
            <a:endParaRPr lang="en-US" dirty="0"/>
          </a:p>
        </p:txBody>
      </p:sp>
    </p:spTree>
    <p:extLst>
      <p:ext uri="{BB962C8B-B14F-4D97-AF65-F5344CB8AC3E}">
        <p14:creationId xmlns:p14="http://schemas.microsoft.com/office/powerpoint/2010/main" val="3581909050"/>
      </p:ext>
    </p:extLst>
  </p:cSld>
  <p:clrMapOvr>
    <a:masterClrMapping/>
  </p:clrMapOvr>
  <p:transition>
    <p:comb/>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1309C-36D7-7923-8A3E-22458BC0C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8A0E9-28AF-9855-F9DB-4F7CAE6C758B}"/>
              </a:ext>
            </a:extLst>
          </p:cNvPr>
          <p:cNvSpPr>
            <a:spLocks noGrp="1"/>
          </p:cNvSpPr>
          <p:nvPr>
            <p:ph type="title"/>
          </p:nvPr>
        </p:nvSpPr>
        <p:spPr/>
        <p:txBody>
          <a:bodyPr>
            <a:normAutofit fontScale="90000"/>
          </a:bodyPr>
          <a:lstStyle/>
          <a:p>
            <a:r>
              <a:rPr lang="en-GB" dirty="0"/>
              <a:t>Types of Environments in Artificial Intelligence</a:t>
            </a:r>
            <a:endParaRPr lang="en-US" dirty="0"/>
          </a:p>
        </p:txBody>
      </p:sp>
      <p:sp>
        <p:nvSpPr>
          <p:cNvPr id="3" name="Content Placeholder 2">
            <a:extLst>
              <a:ext uri="{FF2B5EF4-FFF2-40B4-BE49-F238E27FC236}">
                <a16:creationId xmlns:a16="http://schemas.microsoft.com/office/drawing/2014/main" id="{03F4915E-A0AC-C015-82AB-B44C66823480}"/>
              </a:ext>
            </a:extLst>
          </p:cNvPr>
          <p:cNvSpPr>
            <a:spLocks noGrp="1"/>
          </p:cNvSpPr>
          <p:nvPr>
            <p:ph idx="1"/>
          </p:nvPr>
        </p:nvSpPr>
        <p:spPr/>
        <p:txBody>
          <a:bodyPr/>
          <a:lstStyle/>
          <a:p>
            <a:pPr marL="0" indent="0">
              <a:buNone/>
            </a:pPr>
            <a:r>
              <a:rPr lang="en-GB" b="1" dirty="0">
                <a:highlight>
                  <a:srgbClr val="00FFFF"/>
                </a:highlight>
              </a:rPr>
              <a:t>2. Deterministic vs. Stochastic</a:t>
            </a:r>
          </a:p>
          <a:p>
            <a:r>
              <a:rPr lang="en-GB" b="1" dirty="0"/>
              <a:t>Deterministic Environment:</a:t>
            </a:r>
            <a:endParaRPr lang="en-GB" dirty="0"/>
          </a:p>
          <a:p>
            <a:pPr lvl="1"/>
            <a:r>
              <a:rPr lang="en-GB" dirty="0"/>
              <a:t>Every action has a </a:t>
            </a:r>
            <a:r>
              <a:rPr lang="en-GB" b="1" dirty="0"/>
              <a:t>predictable and fixed outcome</a:t>
            </a:r>
            <a:r>
              <a:rPr lang="en-GB" dirty="0"/>
              <a:t>.</a:t>
            </a:r>
          </a:p>
          <a:p>
            <a:pPr lvl="1"/>
            <a:r>
              <a:rPr lang="en-GB" dirty="0"/>
              <a:t>No randomness is involved.</a:t>
            </a:r>
          </a:p>
          <a:p>
            <a:pPr marL="457200" lvl="1" indent="0">
              <a:buNone/>
            </a:pPr>
            <a:r>
              <a:rPr lang="en-GB" i="1" dirty="0"/>
              <a:t>Example:</a:t>
            </a:r>
            <a:r>
              <a:rPr lang="en-GB" dirty="0"/>
              <a:t> Solving a mathematical equation or playing checkers.</a:t>
            </a:r>
          </a:p>
          <a:p>
            <a:endParaRPr lang="en-GB" b="1" dirty="0"/>
          </a:p>
          <a:p>
            <a:r>
              <a:rPr lang="en-GB" b="1" dirty="0"/>
              <a:t>Stochastic/Non-Deterministic Environment:</a:t>
            </a:r>
            <a:endParaRPr lang="en-GB" dirty="0"/>
          </a:p>
          <a:p>
            <a:pPr lvl="1"/>
            <a:r>
              <a:rPr lang="en-GB" dirty="0"/>
              <a:t>Outcomes are </a:t>
            </a:r>
            <a:r>
              <a:rPr lang="en-GB" b="1" dirty="0"/>
              <a:t>uncertain or probabilistic</a:t>
            </a:r>
            <a:r>
              <a:rPr lang="en-GB" dirty="0"/>
              <a:t> due to randomness.</a:t>
            </a:r>
          </a:p>
          <a:p>
            <a:pPr lvl="1"/>
            <a:r>
              <a:rPr lang="en-GB" dirty="0"/>
              <a:t>The agent must plan for multiple possible outcomes.</a:t>
            </a:r>
          </a:p>
          <a:p>
            <a:pPr marL="457200" lvl="1" indent="0">
              <a:buNone/>
            </a:pPr>
            <a:r>
              <a:rPr lang="en-GB" i="1" dirty="0"/>
              <a:t>Example:</a:t>
            </a:r>
            <a:r>
              <a:rPr lang="en-GB" dirty="0"/>
              <a:t> Stock market prediction, weather forecasting.</a:t>
            </a:r>
          </a:p>
          <a:p>
            <a:endParaRPr lang="en-US" dirty="0"/>
          </a:p>
        </p:txBody>
      </p:sp>
      <p:sp>
        <p:nvSpPr>
          <p:cNvPr id="4" name="Slide Number Placeholder 3">
            <a:extLst>
              <a:ext uri="{FF2B5EF4-FFF2-40B4-BE49-F238E27FC236}">
                <a16:creationId xmlns:a16="http://schemas.microsoft.com/office/drawing/2014/main" id="{6E5C4552-6981-EBF2-A888-9F39D3D606D9}"/>
              </a:ext>
            </a:extLst>
          </p:cNvPr>
          <p:cNvSpPr>
            <a:spLocks noGrp="1"/>
          </p:cNvSpPr>
          <p:nvPr>
            <p:ph type="sldNum" sz="quarter" idx="4"/>
          </p:nvPr>
        </p:nvSpPr>
        <p:spPr/>
        <p:txBody>
          <a:bodyPr/>
          <a:lstStyle/>
          <a:p>
            <a:fld id="{7472CE09-311C-4CDB-87AD-5FE14EBCB3AD}" type="slidenum">
              <a:rPr lang="en-US" smtClean="0"/>
              <a:pPr/>
              <a:t>70</a:t>
            </a:fld>
            <a:endParaRPr lang="en-US" dirty="0"/>
          </a:p>
        </p:txBody>
      </p:sp>
    </p:spTree>
    <p:extLst>
      <p:ext uri="{BB962C8B-B14F-4D97-AF65-F5344CB8AC3E}">
        <p14:creationId xmlns:p14="http://schemas.microsoft.com/office/powerpoint/2010/main" val="1004404318"/>
      </p:ext>
    </p:extLst>
  </p:cSld>
  <p:clrMapOvr>
    <a:masterClrMapping/>
  </p:clrMapOvr>
  <p:transition>
    <p:comb/>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5349C-F465-608B-FB54-418E8A23C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348D5-C893-91E9-CB60-FDB15BD05AEA}"/>
              </a:ext>
            </a:extLst>
          </p:cNvPr>
          <p:cNvSpPr>
            <a:spLocks noGrp="1"/>
          </p:cNvSpPr>
          <p:nvPr>
            <p:ph type="title"/>
          </p:nvPr>
        </p:nvSpPr>
        <p:spPr/>
        <p:txBody>
          <a:bodyPr>
            <a:normAutofit fontScale="90000"/>
          </a:bodyPr>
          <a:lstStyle/>
          <a:p>
            <a:r>
              <a:rPr lang="en-GB" dirty="0"/>
              <a:t>Types of Environments in Artificial Intelligence</a:t>
            </a:r>
            <a:endParaRPr lang="en-US" dirty="0"/>
          </a:p>
        </p:txBody>
      </p:sp>
      <p:sp>
        <p:nvSpPr>
          <p:cNvPr id="3" name="Content Placeholder 2">
            <a:extLst>
              <a:ext uri="{FF2B5EF4-FFF2-40B4-BE49-F238E27FC236}">
                <a16:creationId xmlns:a16="http://schemas.microsoft.com/office/drawing/2014/main" id="{05BDA04B-C99A-D01D-49F5-EBA220A554EF}"/>
              </a:ext>
            </a:extLst>
          </p:cNvPr>
          <p:cNvSpPr>
            <a:spLocks noGrp="1"/>
          </p:cNvSpPr>
          <p:nvPr>
            <p:ph idx="1"/>
          </p:nvPr>
        </p:nvSpPr>
        <p:spPr/>
        <p:txBody>
          <a:bodyPr/>
          <a:lstStyle/>
          <a:p>
            <a:pPr marL="0" indent="0">
              <a:buNone/>
            </a:pPr>
            <a:r>
              <a:rPr lang="en-GB" b="1" dirty="0">
                <a:highlight>
                  <a:srgbClr val="00FFFF"/>
                </a:highlight>
              </a:rPr>
              <a:t>3. Static vs. Dynamic</a:t>
            </a:r>
          </a:p>
          <a:p>
            <a:r>
              <a:rPr lang="en-GB" b="1" dirty="0"/>
              <a:t>Static Environment:</a:t>
            </a:r>
            <a:endParaRPr lang="en-GB" dirty="0"/>
          </a:p>
          <a:p>
            <a:pPr lvl="1"/>
            <a:r>
              <a:rPr lang="en-GB" dirty="0"/>
              <a:t>The environment </a:t>
            </a:r>
            <a:r>
              <a:rPr lang="en-GB" b="1" dirty="0"/>
              <a:t>does not change</a:t>
            </a:r>
            <a:r>
              <a:rPr lang="en-GB" dirty="0"/>
              <a:t> while the agent is making a decision.</a:t>
            </a:r>
          </a:p>
          <a:p>
            <a:pPr lvl="1"/>
            <a:r>
              <a:rPr lang="en-GB" dirty="0"/>
              <a:t>Time does not affect the agent’s reasoning.</a:t>
            </a:r>
          </a:p>
          <a:p>
            <a:pPr marL="457200" lvl="1" indent="0">
              <a:buNone/>
            </a:pPr>
            <a:r>
              <a:rPr lang="en-GB" i="1" dirty="0"/>
              <a:t>Example:</a:t>
            </a:r>
            <a:r>
              <a:rPr lang="en-GB" dirty="0"/>
              <a:t> Crossword puzzle (the puzzle remains the same).</a:t>
            </a:r>
          </a:p>
          <a:p>
            <a:endParaRPr lang="en-GB" b="1" dirty="0"/>
          </a:p>
          <a:p>
            <a:r>
              <a:rPr lang="en-GB" b="1" dirty="0"/>
              <a:t>Dynamic Environment:</a:t>
            </a:r>
            <a:endParaRPr lang="en-GB" dirty="0"/>
          </a:p>
          <a:p>
            <a:pPr lvl="1"/>
            <a:r>
              <a:rPr lang="en-GB" dirty="0"/>
              <a:t>The environment </a:t>
            </a:r>
            <a:r>
              <a:rPr lang="en-GB" b="1" dirty="0"/>
              <a:t>changes over time</a:t>
            </a:r>
            <a:r>
              <a:rPr lang="en-GB" dirty="0"/>
              <a:t>, even while the agent is deciding.</a:t>
            </a:r>
          </a:p>
          <a:p>
            <a:pPr lvl="1"/>
            <a:r>
              <a:rPr lang="en-GB" dirty="0"/>
              <a:t>The agent must act quickly and update its perception frequently.</a:t>
            </a:r>
          </a:p>
          <a:p>
            <a:pPr marL="457200" lvl="1" indent="0">
              <a:buNone/>
            </a:pPr>
            <a:r>
              <a:rPr lang="en-GB" i="1" dirty="0"/>
              <a:t>Example:</a:t>
            </a:r>
            <a:r>
              <a:rPr lang="en-GB" dirty="0"/>
              <a:t> Driving in traffic or playing a real-time video game.</a:t>
            </a:r>
          </a:p>
          <a:p>
            <a:endParaRPr lang="en-US" dirty="0"/>
          </a:p>
        </p:txBody>
      </p:sp>
      <p:sp>
        <p:nvSpPr>
          <p:cNvPr id="4" name="Slide Number Placeholder 3">
            <a:extLst>
              <a:ext uri="{FF2B5EF4-FFF2-40B4-BE49-F238E27FC236}">
                <a16:creationId xmlns:a16="http://schemas.microsoft.com/office/drawing/2014/main" id="{8E0FFAA9-E27E-F63E-F108-26F46F46F5D9}"/>
              </a:ext>
            </a:extLst>
          </p:cNvPr>
          <p:cNvSpPr>
            <a:spLocks noGrp="1"/>
          </p:cNvSpPr>
          <p:nvPr>
            <p:ph type="sldNum" sz="quarter" idx="4"/>
          </p:nvPr>
        </p:nvSpPr>
        <p:spPr/>
        <p:txBody>
          <a:bodyPr/>
          <a:lstStyle/>
          <a:p>
            <a:fld id="{7472CE09-311C-4CDB-87AD-5FE14EBCB3AD}" type="slidenum">
              <a:rPr lang="en-US" smtClean="0"/>
              <a:pPr/>
              <a:t>71</a:t>
            </a:fld>
            <a:endParaRPr lang="en-US" dirty="0"/>
          </a:p>
        </p:txBody>
      </p:sp>
    </p:spTree>
    <p:extLst>
      <p:ext uri="{BB962C8B-B14F-4D97-AF65-F5344CB8AC3E}">
        <p14:creationId xmlns:p14="http://schemas.microsoft.com/office/powerpoint/2010/main" val="990138515"/>
      </p:ext>
    </p:extLst>
  </p:cSld>
  <p:clrMapOvr>
    <a:masterClrMapping/>
  </p:clrMapOvr>
  <p:transition>
    <p:comb/>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424F8-4F8B-4418-E651-41D4FB84B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7BA72-74D7-E95C-224B-E18293F405E5}"/>
              </a:ext>
            </a:extLst>
          </p:cNvPr>
          <p:cNvSpPr>
            <a:spLocks noGrp="1"/>
          </p:cNvSpPr>
          <p:nvPr>
            <p:ph type="title"/>
          </p:nvPr>
        </p:nvSpPr>
        <p:spPr/>
        <p:txBody>
          <a:bodyPr>
            <a:normAutofit fontScale="90000"/>
          </a:bodyPr>
          <a:lstStyle/>
          <a:p>
            <a:r>
              <a:rPr lang="en-GB" dirty="0"/>
              <a:t>Types of Environments in Artificial Intelligence</a:t>
            </a:r>
            <a:endParaRPr lang="en-US" dirty="0"/>
          </a:p>
        </p:txBody>
      </p:sp>
      <p:sp>
        <p:nvSpPr>
          <p:cNvPr id="3" name="Content Placeholder 2">
            <a:extLst>
              <a:ext uri="{FF2B5EF4-FFF2-40B4-BE49-F238E27FC236}">
                <a16:creationId xmlns:a16="http://schemas.microsoft.com/office/drawing/2014/main" id="{A3842F08-0215-0DC1-686A-999CC17F7225}"/>
              </a:ext>
            </a:extLst>
          </p:cNvPr>
          <p:cNvSpPr>
            <a:spLocks noGrp="1"/>
          </p:cNvSpPr>
          <p:nvPr>
            <p:ph idx="1"/>
          </p:nvPr>
        </p:nvSpPr>
        <p:spPr/>
        <p:txBody>
          <a:bodyPr/>
          <a:lstStyle/>
          <a:p>
            <a:pPr marL="0" indent="0">
              <a:buNone/>
            </a:pPr>
            <a:r>
              <a:rPr lang="en-GB" b="1" dirty="0">
                <a:highlight>
                  <a:srgbClr val="00FFFF"/>
                </a:highlight>
              </a:rPr>
              <a:t>4. Discrete vs. Continuous</a:t>
            </a:r>
          </a:p>
          <a:p>
            <a:r>
              <a:rPr lang="en-GB" b="1" dirty="0"/>
              <a:t>Discrete Environment:</a:t>
            </a:r>
            <a:endParaRPr lang="en-GB" dirty="0"/>
          </a:p>
          <a:p>
            <a:pPr lvl="1"/>
            <a:r>
              <a:rPr lang="en-GB" dirty="0"/>
              <a:t>Has a </a:t>
            </a:r>
            <a:r>
              <a:rPr lang="en-GB" b="1" dirty="0"/>
              <a:t>finite number of states, actions, or </a:t>
            </a:r>
            <a:r>
              <a:rPr lang="en-GB" b="1" dirty="0" err="1"/>
              <a:t>percepts</a:t>
            </a:r>
            <a:r>
              <a:rPr lang="en-GB" dirty="0"/>
              <a:t>.</a:t>
            </a:r>
          </a:p>
          <a:p>
            <a:pPr lvl="1"/>
            <a:r>
              <a:rPr lang="en-GB" dirty="0"/>
              <a:t>Decisions occur in different steps.</a:t>
            </a:r>
          </a:p>
          <a:p>
            <a:pPr marL="457200" lvl="1" indent="0">
              <a:buNone/>
            </a:pPr>
            <a:r>
              <a:rPr lang="en-GB" i="1" dirty="0"/>
              <a:t>Example:</a:t>
            </a:r>
            <a:r>
              <a:rPr lang="en-GB" dirty="0"/>
              <a:t> Chess, turn-based board games.</a:t>
            </a:r>
          </a:p>
          <a:p>
            <a:endParaRPr lang="en-GB" b="1" dirty="0"/>
          </a:p>
          <a:p>
            <a:r>
              <a:rPr lang="en-GB" b="1" dirty="0"/>
              <a:t>Continuous Environment:</a:t>
            </a:r>
            <a:endParaRPr lang="en-GB" dirty="0"/>
          </a:p>
          <a:p>
            <a:pPr lvl="1"/>
            <a:r>
              <a:rPr lang="en-GB" dirty="0"/>
              <a:t>Involves </a:t>
            </a:r>
            <a:r>
              <a:rPr lang="en-GB" b="1" dirty="0"/>
              <a:t>infinite states and actions</a:t>
            </a:r>
            <a:r>
              <a:rPr lang="en-GB" dirty="0"/>
              <a:t>, where changes are smooth and gradual.</a:t>
            </a:r>
          </a:p>
          <a:p>
            <a:pPr marL="457200" lvl="1" indent="0">
              <a:buNone/>
            </a:pPr>
            <a:r>
              <a:rPr lang="en-GB" i="1" dirty="0"/>
              <a:t>Example:</a:t>
            </a:r>
            <a:r>
              <a:rPr lang="en-GB" dirty="0"/>
              <a:t> A robot moving through real-world space or a drone flying in 3D airspace.</a:t>
            </a:r>
          </a:p>
          <a:p>
            <a:endParaRPr lang="en-US" dirty="0"/>
          </a:p>
        </p:txBody>
      </p:sp>
      <p:sp>
        <p:nvSpPr>
          <p:cNvPr id="4" name="Slide Number Placeholder 3">
            <a:extLst>
              <a:ext uri="{FF2B5EF4-FFF2-40B4-BE49-F238E27FC236}">
                <a16:creationId xmlns:a16="http://schemas.microsoft.com/office/drawing/2014/main" id="{43029F66-2D22-0F25-F103-4D35328DD977}"/>
              </a:ext>
            </a:extLst>
          </p:cNvPr>
          <p:cNvSpPr>
            <a:spLocks noGrp="1"/>
          </p:cNvSpPr>
          <p:nvPr>
            <p:ph type="sldNum" sz="quarter" idx="4"/>
          </p:nvPr>
        </p:nvSpPr>
        <p:spPr/>
        <p:txBody>
          <a:bodyPr/>
          <a:lstStyle/>
          <a:p>
            <a:fld id="{7472CE09-311C-4CDB-87AD-5FE14EBCB3AD}" type="slidenum">
              <a:rPr lang="en-US" smtClean="0"/>
              <a:pPr/>
              <a:t>72</a:t>
            </a:fld>
            <a:endParaRPr lang="en-US" dirty="0"/>
          </a:p>
        </p:txBody>
      </p:sp>
    </p:spTree>
    <p:extLst>
      <p:ext uri="{BB962C8B-B14F-4D97-AF65-F5344CB8AC3E}">
        <p14:creationId xmlns:p14="http://schemas.microsoft.com/office/powerpoint/2010/main" val="2018292143"/>
      </p:ext>
    </p:extLst>
  </p:cSld>
  <p:clrMapOvr>
    <a:masterClrMapping/>
  </p:clrMapOvr>
  <p:transition>
    <p:comb/>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6E54-78E3-C782-7270-C6C905290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3DDCE-3C82-773F-C55D-46173CEF500A}"/>
              </a:ext>
            </a:extLst>
          </p:cNvPr>
          <p:cNvSpPr>
            <a:spLocks noGrp="1"/>
          </p:cNvSpPr>
          <p:nvPr>
            <p:ph type="title"/>
          </p:nvPr>
        </p:nvSpPr>
        <p:spPr/>
        <p:txBody>
          <a:bodyPr>
            <a:normAutofit fontScale="90000"/>
          </a:bodyPr>
          <a:lstStyle/>
          <a:p>
            <a:r>
              <a:rPr lang="en-GB" dirty="0"/>
              <a:t>Types of Environments in Artificial Intelligence</a:t>
            </a:r>
            <a:endParaRPr lang="en-US" dirty="0"/>
          </a:p>
        </p:txBody>
      </p:sp>
      <p:sp>
        <p:nvSpPr>
          <p:cNvPr id="3" name="Content Placeholder 2">
            <a:extLst>
              <a:ext uri="{FF2B5EF4-FFF2-40B4-BE49-F238E27FC236}">
                <a16:creationId xmlns:a16="http://schemas.microsoft.com/office/drawing/2014/main" id="{ABE4006D-F408-3EBF-3104-BF4BA77E2C24}"/>
              </a:ext>
            </a:extLst>
          </p:cNvPr>
          <p:cNvSpPr>
            <a:spLocks noGrp="1"/>
          </p:cNvSpPr>
          <p:nvPr>
            <p:ph idx="1"/>
          </p:nvPr>
        </p:nvSpPr>
        <p:spPr/>
        <p:txBody>
          <a:bodyPr/>
          <a:lstStyle/>
          <a:p>
            <a:pPr marL="0" indent="0">
              <a:buNone/>
            </a:pPr>
            <a:r>
              <a:rPr lang="en-US" b="1" dirty="0">
                <a:highlight>
                  <a:srgbClr val="00FFFF"/>
                </a:highlight>
              </a:rPr>
              <a:t>5. Single-Agent vs. Multi-Agent</a:t>
            </a:r>
          </a:p>
          <a:p>
            <a:r>
              <a:rPr lang="en-US" b="1" dirty="0"/>
              <a:t>Single-Agent Environment:</a:t>
            </a:r>
            <a:endParaRPr lang="en-US" dirty="0"/>
          </a:p>
          <a:p>
            <a:pPr lvl="1"/>
            <a:r>
              <a:rPr lang="en-US" dirty="0"/>
              <a:t>Only </a:t>
            </a:r>
            <a:r>
              <a:rPr lang="en-US" b="1" dirty="0"/>
              <a:t>one agent</a:t>
            </a:r>
            <a:r>
              <a:rPr lang="en-US" dirty="0"/>
              <a:t> is acting in the environment.</a:t>
            </a:r>
          </a:p>
          <a:p>
            <a:pPr marL="457200" lvl="1" indent="0">
              <a:buNone/>
            </a:pPr>
            <a:r>
              <a:rPr lang="en-US" i="1" dirty="0"/>
              <a:t>Example:</a:t>
            </a:r>
            <a:r>
              <a:rPr lang="en-US" dirty="0"/>
              <a:t> A robot vacuum cleaner cleaning a room.</a:t>
            </a:r>
          </a:p>
          <a:p>
            <a:endParaRPr lang="en-US" b="1" dirty="0"/>
          </a:p>
          <a:p>
            <a:r>
              <a:rPr lang="en-US" b="1" dirty="0"/>
              <a:t>Multi-Agent Environment:</a:t>
            </a:r>
            <a:endParaRPr lang="en-US" dirty="0"/>
          </a:p>
          <a:p>
            <a:pPr lvl="1"/>
            <a:r>
              <a:rPr lang="en-US" b="1" dirty="0"/>
              <a:t>Multiple agents</a:t>
            </a:r>
            <a:r>
              <a:rPr lang="en-US" dirty="0"/>
              <a:t> operate and may </a:t>
            </a:r>
            <a:r>
              <a:rPr lang="en-US" b="1" dirty="0"/>
              <a:t>cooperate or compete</a:t>
            </a:r>
            <a:r>
              <a:rPr lang="en-US" dirty="0"/>
              <a:t> a task.</a:t>
            </a:r>
          </a:p>
          <a:p>
            <a:pPr marL="457200" lvl="1" indent="0">
              <a:buNone/>
            </a:pPr>
            <a:r>
              <a:rPr lang="en-US" i="1" dirty="0"/>
              <a:t>Example:</a:t>
            </a:r>
            <a:r>
              <a:rPr lang="en-US" dirty="0"/>
              <a:t> Online multiplayer games, autonomous car traffic, stock market trading bots.</a:t>
            </a:r>
          </a:p>
          <a:p>
            <a:endParaRPr lang="en-US" dirty="0"/>
          </a:p>
        </p:txBody>
      </p:sp>
      <p:sp>
        <p:nvSpPr>
          <p:cNvPr id="4" name="Slide Number Placeholder 3">
            <a:extLst>
              <a:ext uri="{FF2B5EF4-FFF2-40B4-BE49-F238E27FC236}">
                <a16:creationId xmlns:a16="http://schemas.microsoft.com/office/drawing/2014/main" id="{CB5F979F-364C-8562-74FA-E58649AC8E04}"/>
              </a:ext>
            </a:extLst>
          </p:cNvPr>
          <p:cNvSpPr>
            <a:spLocks noGrp="1"/>
          </p:cNvSpPr>
          <p:nvPr>
            <p:ph type="sldNum" sz="quarter" idx="4"/>
          </p:nvPr>
        </p:nvSpPr>
        <p:spPr/>
        <p:txBody>
          <a:bodyPr/>
          <a:lstStyle/>
          <a:p>
            <a:fld id="{7472CE09-311C-4CDB-87AD-5FE14EBCB3AD}" type="slidenum">
              <a:rPr lang="en-US" smtClean="0"/>
              <a:pPr/>
              <a:t>73</a:t>
            </a:fld>
            <a:endParaRPr lang="en-US" dirty="0"/>
          </a:p>
        </p:txBody>
      </p:sp>
    </p:spTree>
    <p:extLst>
      <p:ext uri="{BB962C8B-B14F-4D97-AF65-F5344CB8AC3E}">
        <p14:creationId xmlns:p14="http://schemas.microsoft.com/office/powerpoint/2010/main" val="1553286051"/>
      </p:ext>
    </p:extLst>
  </p:cSld>
  <p:clrMapOvr>
    <a:masterClrMapping/>
  </p:clrMapOvr>
  <p:transition>
    <p:comb/>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CB7E6-B451-1BFC-05EC-B7F6C2C4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CF12E-78BD-F8F7-8303-991DE02B19D8}"/>
              </a:ext>
            </a:extLst>
          </p:cNvPr>
          <p:cNvSpPr>
            <a:spLocks noGrp="1"/>
          </p:cNvSpPr>
          <p:nvPr>
            <p:ph type="title"/>
          </p:nvPr>
        </p:nvSpPr>
        <p:spPr/>
        <p:txBody>
          <a:bodyPr>
            <a:normAutofit fontScale="90000"/>
          </a:bodyPr>
          <a:lstStyle/>
          <a:p>
            <a:r>
              <a:rPr lang="en-GB" dirty="0"/>
              <a:t>Types of Environments in Artificial Intelligence</a:t>
            </a:r>
            <a:endParaRPr lang="en-US" dirty="0"/>
          </a:p>
        </p:txBody>
      </p:sp>
      <p:sp>
        <p:nvSpPr>
          <p:cNvPr id="3" name="Content Placeholder 2">
            <a:extLst>
              <a:ext uri="{FF2B5EF4-FFF2-40B4-BE49-F238E27FC236}">
                <a16:creationId xmlns:a16="http://schemas.microsoft.com/office/drawing/2014/main" id="{CF33AC3C-B4DC-AC98-A59F-12D81D68D003}"/>
              </a:ext>
            </a:extLst>
          </p:cNvPr>
          <p:cNvSpPr>
            <a:spLocks noGrp="1"/>
          </p:cNvSpPr>
          <p:nvPr>
            <p:ph idx="1"/>
          </p:nvPr>
        </p:nvSpPr>
        <p:spPr/>
        <p:txBody>
          <a:bodyPr/>
          <a:lstStyle/>
          <a:p>
            <a:pPr marL="0" indent="0">
              <a:buNone/>
            </a:pPr>
            <a:r>
              <a:rPr lang="en-GB" b="1" dirty="0">
                <a:highlight>
                  <a:srgbClr val="00FFFF"/>
                </a:highlight>
              </a:rPr>
              <a:t>6. Episodic vs. Sequential</a:t>
            </a:r>
          </a:p>
          <a:p>
            <a:r>
              <a:rPr lang="en-GB" b="1" dirty="0"/>
              <a:t>Episodic Environment:</a:t>
            </a:r>
            <a:endParaRPr lang="en-GB" dirty="0"/>
          </a:p>
          <a:p>
            <a:pPr lvl="1"/>
            <a:r>
              <a:rPr lang="en-GB" dirty="0"/>
              <a:t>Each action is </a:t>
            </a:r>
            <a:r>
              <a:rPr lang="en-GB" b="1" dirty="0"/>
              <a:t>independent</a:t>
            </a:r>
            <a:r>
              <a:rPr lang="en-GB" dirty="0"/>
              <a:t> of previous actions.</a:t>
            </a:r>
          </a:p>
          <a:p>
            <a:pPr lvl="1"/>
            <a:r>
              <a:rPr lang="en-GB" dirty="0"/>
              <a:t>The agent does not need to remember the past.</a:t>
            </a:r>
          </a:p>
          <a:p>
            <a:pPr marL="457200" lvl="1" indent="0">
              <a:buNone/>
            </a:pPr>
            <a:r>
              <a:rPr lang="en-GB" i="1" dirty="0"/>
              <a:t>Example:</a:t>
            </a:r>
            <a:r>
              <a:rPr lang="en-GB" dirty="0"/>
              <a:t> Image classification (each image is a new episode).</a:t>
            </a:r>
          </a:p>
          <a:p>
            <a:endParaRPr lang="en-GB" b="1" dirty="0"/>
          </a:p>
          <a:p>
            <a:r>
              <a:rPr lang="en-GB" b="1" dirty="0"/>
              <a:t>Sequential Environment:</a:t>
            </a:r>
            <a:endParaRPr lang="en-GB" dirty="0"/>
          </a:p>
          <a:p>
            <a:pPr lvl="1"/>
            <a:r>
              <a:rPr lang="en-GB" dirty="0"/>
              <a:t>Current decisions </a:t>
            </a:r>
            <a:r>
              <a:rPr lang="en-GB" b="1" dirty="0"/>
              <a:t>depend on previous actions</a:t>
            </a:r>
            <a:r>
              <a:rPr lang="en-GB" dirty="0"/>
              <a:t> and will affect future states.</a:t>
            </a:r>
          </a:p>
          <a:p>
            <a:pPr marL="457200" lvl="1" indent="0">
              <a:buNone/>
            </a:pPr>
            <a:r>
              <a:rPr lang="en-GB" i="1" dirty="0"/>
              <a:t>Example:</a:t>
            </a:r>
            <a:r>
              <a:rPr lang="en-GB" dirty="0"/>
              <a:t> Playing chess or navigating through a maze.</a:t>
            </a:r>
          </a:p>
          <a:p>
            <a:endParaRPr lang="en-US" dirty="0"/>
          </a:p>
        </p:txBody>
      </p:sp>
      <p:sp>
        <p:nvSpPr>
          <p:cNvPr id="4" name="Slide Number Placeholder 3">
            <a:extLst>
              <a:ext uri="{FF2B5EF4-FFF2-40B4-BE49-F238E27FC236}">
                <a16:creationId xmlns:a16="http://schemas.microsoft.com/office/drawing/2014/main" id="{381136AC-D54E-0F9D-E0CB-1FAD7D0AED48}"/>
              </a:ext>
            </a:extLst>
          </p:cNvPr>
          <p:cNvSpPr>
            <a:spLocks noGrp="1"/>
          </p:cNvSpPr>
          <p:nvPr>
            <p:ph type="sldNum" sz="quarter" idx="4"/>
          </p:nvPr>
        </p:nvSpPr>
        <p:spPr/>
        <p:txBody>
          <a:bodyPr/>
          <a:lstStyle/>
          <a:p>
            <a:fld id="{7472CE09-311C-4CDB-87AD-5FE14EBCB3AD}" type="slidenum">
              <a:rPr lang="en-US" smtClean="0"/>
              <a:pPr/>
              <a:t>74</a:t>
            </a:fld>
            <a:endParaRPr lang="en-US" dirty="0"/>
          </a:p>
        </p:txBody>
      </p:sp>
    </p:spTree>
    <p:extLst>
      <p:ext uri="{BB962C8B-B14F-4D97-AF65-F5344CB8AC3E}">
        <p14:creationId xmlns:p14="http://schemas.microsoft.com/office/powerpoint/2010/main" val="3021784099"/>
      </p:ext>
    </p:extLst>
  </p:cSld>
  <p:clrMapOvr>
    <a:masterClrMapping/>
  </p:clrMapOvr>
  <p:transition>
    <p:comb/>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87E6D-AA1C-497D-AF59-EA5C4465AC1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4286929E-2ED5-41DB-B4A7-0B1635A06179}"/>
              </a:ext>
            </a:extLst>
          </p:cNvPr>
          <p:cNvSpPr>
            <a:spLocks noGrp="1"/>
          </p:cNvSpPr>
          <p:nvPr>
            <p:ph idx="1"/>
          </p:nvPr>
        </p:nvSpPr>
        <p:spPr/>
        <p:txBody>
          <a:bodyPr>
            <a:normAutofit/>
          </a:bodyPr>
          <a:lstStyle/>
          <a:p>
            <a:pPr marL="514350" indent="-514350" algn="just">
              <a:buFont typeface="Franklin Gothic Book" panose="020B0503020102020204" pitchFamily="34" charset="0"/>
              <a:buAutoNum type="arabicPeriod"/>
            </a:pPr>
            <a:r>
              <a:rPr lang="en-GB" altLang="en-US" sz="1800" i="1" dirty="0">
                <a:latin typeface="Arial" panose="020B0604020202020204" pitchFamily="34" charset="0"/>
                <a:cs typeface="Arial" panose="020B0604020202020204" pitchFamily="34" charset="0"/>
              </a:rPr>
              <a:t>Artificial Intelligence”, by Elaine Rich and Kevin Knight, (2006), McGraw Hill companies Inc., Chapter 1-22 page 1-613.</a:t>
            </a:r>
          </a:p>
          <a:p>
            <a:pPr marL="514350" indent="-514350" algn="just">
              <a:buFont typeface="Franklin Gothic Book" panose="020B0503020102020204" pitchFamily="34" charset="0"/>
              <a:buAutoNum type="arabicPeriod"/>
            </a:pPr>
            <a:r>
              <a:rPr lang="en-GB" altLang="en-US" sz="1800" i="1" dirty="0">
                <a:latin typeface="Arial" panose="020B0604020202020204" pitchFamily="34" charset="0"/>
                <a:cs typeface="Arial" panose="020B0604020202020204" pitchFamily="34" charset="0"/>
              </a:rPr>
              <a:t>“Artificial Intelligence: A Modern Approach” by Stuart Russell and Peter </a:t>
            </a:r>
            <a:r>
              <a:rPr lang="en-GB" altLang="en-US" sz="1800" i="1" dirty="0" err="1">
                <a:latin typeface="Arial" panose="020B0604020202020204" pitchFamily="34" charset="0"/>
                <a:cs typeface="Arial" panose="020B0604020202020204" pitchFamily="34" charset="0"/>
              </a:rPr>
              <a:t>Norvig</a:t>
            </a:r>
            <a:r>
              <a:rPr lang="en-GB" altLang="en-US" sz="1800" i="1" dirty="0">
                <a:latin typeface="Arial" panose="020B0604020202020204" pitchFamily="34" charset="0"/>
                <a:cs typeface="Arial" panose="020B0604020202020204" pitchFamily="34" charset="0"/>
              </a:rPr>
              <a:t>, (2009), Prentice Hall, Chapter 1-27. page 1-1151.</a:t>
            </a:r>
          </a:p>
          <a:p>
            <a:pPr marL="514350" indent="-514350" algn="just">
              <a:buFont typeface="Franklin Gothic Book" panose="020B0503020102020204" pitchFamily="34" charset="0"/>
              <a:buAutoNum type="arabicPeriod"/>
            </a:pPr>
            <a:r>
              <a:rPr lang="en-GB" altLang="en-US" sz="1800" i="1" dirty="0">
                <a:latin typeface="Arial" panose="020B0604020202020204" pitchFamily="34" charset="0"/>
                <a:cs typeface="Arial" panose="020B0604020202020204" pitchFamily="34" charset="0"/>
              </a:rPr>
              <a:t>“Computational Intelligence: A logical Approach”, by David Poole, Alan Mackworth, and Randy Goebel, (1998), Oxford University Press, Chapter 1-12, page 1-608.</a:t>
            </a:r>
          </a:p>
          <a:p>
            <a:pPr marL="514350" indent="-514350" algn="just">
              <a:buFont typeface="Franklin Gothic Book" panose="020B0503020102020204" pitchFamily="34" charset="0"/>
              <a:buAutoNum type="arabicPeriod"/>
            </a:pPr>
            <a:r>
              <a:rPr lang="en-GB" altLang="en-US" sz="1800" i="1" dirty="0">
                <a:latin typeface="Arial" panose="020B0604020202020204" pitchFamily="34" charset="0"/>
                <a:cs typeface="Arial" panose="020B0604020202020204" pitchFamily="34" charset="0"/>
              </a:rPr>
              <a:t>“Artificial Intelligence: Structures and Strategies for Complex Problem Solving”, by George </a:t>
            </a:r>
            <a:r>
              <a:rPr lang="en-GB" altLang="en-US" sz="1800" i="1" dirty="0" err="1">
                <a:latin typeface="Arial" panose="020B0604020202020204" pitchFamily="34" charset="0"/>
                <a:cs typeface="Arial" panose="020B0604020202020204" pitchFamily="34" charset="0"/>
              </a:rPr>
              <a:t>F.Lugar</a:t>
            </a:r>
            <a:r>
              <a:rPr lang="en-GB" altLang="en-US" sz="1800" i="1" dirty="0">
                <a:latin typeface="Arial" panose="020B0604020202020204" pitchFamily="34" charset="0"/>
                <a:cs typeface="Arial" panose="020B0604020202020204" pitchFamily="34" charset="0"/>
              </a:rPr>
              <a:t>, (2002), Addison-Wesley, Chapter 1-16, page 1-743.</a:t>
            </a:r>
          </a:p>
          <a:p>
            <a:pPr marL="514350" indent="-514350" algn="just">
              <a:buFont typeface="Franklin Gothic Book" panose="020B0503020102020204" pitchFamily="34" charset="0"/>
              <a:buAutoNum type="arabicPeriod"/>
            </a:pPr>
            <a:r>
              <a:rPr lang="en-GB" altLang="en-US" sz="1800" i="1" dirty="0">
                <a:latin typeface="Arial" panose="020B0604020202020204" pitchFamily="34" charset="0"/>
                <a:cs typeface="Arial" panose="020B0604020202020204" pitchFamily="34" charset="0"/>
              </a:rPr>
              <a:t>“AI: A new Synthesis”, by Nils </a:t>
            </a:r>
            <a:r>
              <a:rPr lang="en-GB" altLang="en-US" sz="1800" i="1" dirty="0" err="1">
                <a:latin typeface="Arial" panose="020B0604020202020204" pitchFamily="34" charset="0"/>
                <a:cs typeface="Arial" panose="020B0604020202020204" pitchFamily="34" charset="0"/>
              </a:rPr>
              <a:t>J.Nilsson</a:t>
            </a:r>
            <a:r>
              <a:rPr lang="en-GB" altLang="en-US" sz="1800" i="1" dirty="0">
                <a:latin typeface="Arial" panose="020B0604020202020204" pitchFamily="34" charset="0"/>
                <a:cs typeface="Arial" panose="020B0604020202020204" pitchFamily="34" charset="0"/>
              </a:rPr>
              <a:t>, (1998), Morgan Kaufmann Inc., Chapter 1-25, Page 1-493.</a:t>
            </a:r>
          </a:p>
          <a:p>
            <a:pPr marL="514350" indent="-514350" algn="just">
              <a:buFont typeface="Franklin Gothic Book" panose="020B0503020102020204" pitchFamily="34" charset="0"/>
              <a:buAutoNum type="arabicPeriod"/>
            </a:pPr>
            <a:r>
              <a:rPr lang="en-GB" altLang="en-US" sz="1800" i="1" dirty="0">
                <a:latin typeface="Arial" panose="020B0604020202020204" pitchFamily="34" charset="0"/>
                <a:cs typeface="Arial" panose="020B0604020202020204" pitchFamily="34" charset="0"/>
              </a:rPr>
              <a:t>“Artificial Intelligence: Theory and Practice” by Thomas Dean, (1994), Addison-Wesley, Chapter 1-10, Page 1-650.</a:t>
            </a:r>
          </a:p>
          <a:p>
            <a:pPr marL="514350" indent="-514350" algn="just">
              <a:buFont typeface="Franklin Gothic Book" panose="020B0503020102020204" pitchFamily="34" charset="0"/>
              <a:buAutoNum type="arabicPeriod"/>
            </a:pPr>
            <a:r>
              <a:rPr lang="en-GB" altLang="en-US" sz="1800" i="1" dirty="0">
                <a:latin typeface="Arial" panose="020B0604020202020204" pitchFamily="34" charset="0"/>
                <a:cs typeface="Arial" panose="020B0604020202020204" pitchFamily="34" charset="0"/>
              </a:rPr>
              <a:t>Related documents from open source, mainly internet.</a:t>
            </a:r>
          </a:p>
          <a:p>
            <a:pPr marL="514350" indent="-514350" algn="just">
              <a:buFont typeface="Franklin Gothic Book" panose="020B0503020102020204" pitchFamily="34" charset="0"/>
              <a:buAutoNum type="arabicPeriod"/>
            </a:pPr>
            <a:endParaRPr lang="en-GB" altLang="en-US" sz="2000" i="1" dirty="0">
              <a:latin typeface="Arial" panose="020B0604020202020204" pitchFamily="34" charset="0"/>
              <a:cs typeface="Arial" panose="020B0604020202020204" pitchFamily="34" charset="0"/>
            </a:endParaRPr>
          </a:p>
          <a:p>
            <a:endParaRPr lang="en-US" sz="1800" dirty="0"/>
          </a:p>
        </p:txBody>
      </p:sp>
      <p:sp>
        <p:nvSpPr>
          <p:cNvPr id="4" name="Slide Number Placeholder 3">
            <a:extLst>
              <a:ext uri="{FF2B5EF4-FFF2-40B4-BE49-F238E27FC236}">
                <a16:creationId xmlns:a16="http://schemas.microsoft.com/office/drawing/2014/main" id="{311C73BF-F996-CEC4-CEC4-E0DFBBEA5E30}"/>
              </a:ext>
            </a:extLst>
          </p:cNvPr>
          <p:cNvSpPr>
            <a:spLocks noGrp="1"/>
          </p:cNvSpPr>
          <p:nvPr>
            <p:ph type="sldNum" sz="quarter" idx="4"/>
          </p:nvPr>
        </p:nvSpPr>
        <p:spPr/>
        <p:txBody>
          <a:bodyPr/>
          <a:lstStyle/>
          <a:p>
            <a:fld id="{7472CE09-311C-4CDB-87AD-5FE14EBCB3AD}" type="slidenum">
              <a:rPr lang="en-US" smtClean="0"/>
              <a:pPr/>
              <a:t>75</a:t>
            </a:fld>
            <a:endParaRPr lang="en-US" dirty="0"/>
          </a:p>
        </p:txBody>
      </p:sp>
    </p:spTree>
    <p:extLst>
      <p:ext uri="{BB962C8B-B14F-4D97-AF65-F5344CB8AC3E}">
        <p14:creationId xmlns:p14="http://schemas.microsoft.com/office/powerpoint/2010/main" val="1179022010"/>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D5271-5E87-AB73-B39A-85345BABC64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FAE2F9A-93AC-F5D9-1DF8-7C6A85F03F26}"/>
              </a:ext>
            </a:extLst>
          </p:cNvPr>
          <p:cNvSpPr/>
          <p:nvPr/>
        </p:nvSpPr>
        <p:spPr>
          <a:xfrm>
            <a:off x="1174967" y="5827190"/>
            <a:ext cx="9842062" cy="584775"/>
          </a:xfrm>
          <a:prstGeom prst="rect">
            <a:avLst/>
          </a:prstGeom>
        </p:spPr>
        <p:txBody>
          <a:bodyPr wrap="square">
            <a:spAutoFit/>
          </a:bodyPr>
          <a:lstStyle/>
          <a:p>
            <a:pPr algn="ctr"/>
            <a:r>
              <a:rPr lang="en-US" sz="3200" dirty="0"/>
              <a:t>If you are taking a Nap, </a:t>
            </a:r>
            <a:r>
              <a:rPr lang="en-US" sz="3200" b="1" dirty="0"/>
              <a:t>wake up</a:t>
            </a:r>
            <a:r>
              <a:rPr lang="en-US" sz="3200" dirty="0"/>
              <a:t>........Lecture Over</a:t>
            </a:r>
          </a:p>
        </p:txBody>
      </p:sp>
      <p:sp>
        <p:nvSpPr>
          <p:cNvPr id="4" name="TextBox 3">
            <a:extLst>
              <a:ext uri="{FF2B5EF4-FFF2-40B4-BE49-F238E27FC236}">
                <a16:creationId xmlns:a16="http://schemas.microsoft.com/office/drawing/2014/main" id="{5AA72759-E1E1-46A0-235C-9097038DAA31}"/>
              </a:ext>
            </a:extLst>
          </p:cNvPr>
          <p:cNvSpPr txBox="1"/>
          <p:nvPr/>
        </p:nvSpPr>
        <p:spPr>
          <a:xfrm>
            <a:off x="0" y="-38602"/>
            <a:ext cx="11372850" cy="338041"/>
          </a:xfrm>
          <a:prstGeom prst="rect">
            <a:avLst/>
          </a:prstGeom>
          <a:noFill/>
        </p:spPr>
        <p:txBody>
          <a:bodyPr wrap="square" rtlCol="0">
            <a:spAutoFit/>
          </a:bodyPr>
          <a:lstStyle/>
          <a:p>
            <a:pPr marR="0">
              <a:lnSpc>
                <a:spcPct val="107000"/>
              </a:lnSpc>
              <a:spcAft>
                <a:spcPts val="800"/>
              </a:spcAft>
            </a:pPr>
            <a:r>
              <a:rPr lang="en-GB" sz="1600" b="1" dirty="0">
                <a:solidFill>
                  <a:srgbClr val="EE0000"/>
                </a:solidFill>
                <a:effectLst/>
                <a:latin typeface="Times New Roman" panose="02020603050405020304" pitchFamily="18" charset="0"/>
                <a:ea typeface="Aptos" panose="020B0004020202020204" pitchFamily="34" charset="0"/>
                <a:cs typeface="Times New Roman" panose="02020603050405020304" pitchFamily="18" charset="0"/>
              </a:rPr>
              <a:t>Not included in Syllabus</a:t>
            </a:r>
            <a:endParaRPr lang="en-US" sz="1600" b="1" dirty="0">
              <a:solidFill>
                <a:srgbClr val="EE0000"/>
              </a:solidFill>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2050" name="Picture 2" descr="Bad Student GIFs | Tenor">
            <a:extLst>
              <a:ext uri="{FF2B5EF4-FFF2-40B4-BE49-F238E27FC236}">
                <a16:creationId xmlns:a16="http://schemas.microsoft.com/office/drawing/2014/main" id="{163AA660-EE54-251E-B5C5-07AC4E526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7548" y="128130"/>
            <a:ext cx="5699060" cy="569906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B16BFC8-C11B-BA22-04E9-64205A765131}"/>
              </a:ext>
            </a:extLst>
          </p:cNvPr>
          <p:cNvSpPr>
            <a:spLocks noGrp="1"/>
          </p:cNvSpPr>
          <p:nvPr>
            <p:ph type="sldNum" sz="quarter" idx="4"/>
          </p:nvPr>
        </p:nvSpPr>
        <p:spPr/>
        <p:txBody>
          <a:bodyPr/>
          <a:lstStyle/>
          <a:p>
            <a:fld id="{7472CE09-311C-4CDB-87AD-5FE14EBCB3AD}" type="slidenum">
              <a:rPr lang="en-US" smtClean="0"/>
              <a:pPr/>
              <a:t>76</a:t>
            </a:fld>
            <a:endParaRPr lang="en-US" dirty="0"/>
          </a:p>
        </p:txBody>
      </p:sp>
    </p:spTree>
    <p:extLst>
      <p:ext uri="{BB962C8B-B14F-4D97-AF65-F5344CB8AC3E}">
        <p14:creationId xmlns:p14="http://schemas.microsoft.com/office/powerpoint/2010/main" val="586814807"/>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C81DD-3FDE-7CD3-9DA7-930076B591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1AC7A2-55B2-2E6E-0966-BB6A5447C8FD}"/>
              </a:ext>
            </a:extLst>
          </p:cNvPr>
          <p:cNvSpPr>
            <a:spLocks noGrp="1"/>
          </p:cNvSpPr>
          <p:nvPr>
            <p:ph type="sldNum" sz="quarter" idx="12"/>
          </p:nvPr>
        </p:nvSpPr>
        <p:spPr>
          <a:xfrm>
            <a:off x="10319823" y="6406356"/>
            <a:ext cx="1689100" cy="365125"/>
          </a:xfrm>
          <a:prstGeom prst="rect">
            <a:avLst/>
          </a:prstGeom>
        </p:spPr>
        <p:txBody>
          <a:bodyPr vert="horz" lIns="91440" tIns="45720" rIns="91440" bIns="45720" rtlCol="0" anchor="ctr"/>
          <a:lstStyle>
            <a:defPPr>
              <a:defRPr lang="en-US"/>
            </a:defPPr>
            <a:lvl1pPr marL="0" algn="r" defTabSz="914400" rtl="0" eaLnBrk="1" latinLnBrk="0" hangingPunct="1">
              <a:defRPr sz="1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472CE09-311C-4CDB-87AD-5FE14EBCB3AD}" type="slidenum">
              <a:rPr lang="en-US" smtClean="0"/>
              <a:pPr/>
              <a:t>77</a:t>
            </a:fld>
            <a:endParaRPr lang="en-US" dirty="0"/>
          </a:p>
        </p:txBody>
      </p:sp>
      <p:pic>
        <p:nvPicPr>
          <p:cNvPr id="3074" name="Picture 2" descr="My Only Question When Can You Start GIF - My Only Question When Can You  Start Asking - Discover &amp; Share GIFs">
            <a:extLst>
              <a:ext uri="{FF2B5EF4-FFF2-40B4-BE49-F238E27FC236}">
                <a16:creationId xmlns:a16="http://schemas.microsoft.com/office/drawing/2014/main" id="{0220A671-CA38-D6AA-A16F-534673E29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7258" y="220374"/>
            <a:ext cx="6872853" cy="6279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382082"/>
      </p:ext>
    </p:extLst>
  </p:cSld>
  <p:clrMapOvr>
    <a:masterClrMapping/>
  </p:clrMapOvr>
  <mc:AlternateContent xmlns:mc="http://schemas.openxmlformats.org/markup-compatibility/2006" xmlns:p14="http://schemas.microsoft.com/office/powerpoint/2010/main">
    <mc:Choice Requires="p14">
      <p:transition>
        <p14:pan dir="u"/>
      </p:transition>
    </mc:Choice>
    <mc:Fallback xmlns="">
      <p:transition>
        <p:fade/>
      </p:transition>
    </mc:Fallback>
  </mc:AlternateContent>
</p:sld>
</file>

<file path=ppt/theme/theme1.xml><?xml version="1.0" encoding="utf-8"?>
<a:theme xmlns:a="http://schemas.openxmlformats.org/drawingml/2006/main" name="Office Theme">
  <a:themeElements>
    <a:clrScheme name="HITEC Color Templete">
      <a:dk1>
        <a:srgbClr val="0F1A1D"/>
      </a:dk1>
      <a:lt1>
        <a:srgbClr val="D6E5EA"/>
      </a:lt1>
      <a:dk2>
        <a:srgbClr val="0F1A1D"/>
      </a:dk2>
      <a:lt2>
        <a:srgbClr val="DBE9F7"/>
      </a:lt2>
      <a:accent1>
        <a:srgbClr val="081726"/>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3956</TotalTime>
  <Words>3392</Words>
  <Application>Microsoft Office PowerPoint</Application>
  <PresentationFormat>Widescreen</PresentationFormat>
  <Paragraphs>536</Paragraphs>
  <Slides>77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Aptos</vt:lpstr>
      <vt:lpstr>Arial</vt:lpstr>
      <vt:lpstr>Cambria Math</vt:lpstr>
      <vt:lpstr>Consolas</vt:lpstr>
      <vt:lpstr>Franklin Gothic Book</vt:lpstr>
      <vt:lpstr>Times New Roman</vt:lpstr>
      <vt:lpstr>Wingdings</vt:lpstr>
      <vt:lpstr>Office Theme</vt:lpstr>
      <vt:lpstr>CS312 Artificial Intelligence</vt:lpstr>
      <vt:lpstr>Alan M. Turing</vt:lpstr>
      <vt:lpstr>Turing Test – Measuring Machine Intelligence</vt:lpstr>
      <vt:lpstr>Turing Test – Definition</vt:lpstr>
      <vt:lpstr>Turing Test – How It Works (Process)</vt:lpstr>
      <vt:lpstr>Science Fiction Movie Example</vt:lpstr>
      <vt:lpstr>Turing Test</vt:lpstr>
      <vt:lpstr>The Imitation Game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Intelligent Agents</vt:lpstr>
      <vt:lpstr>Intelligent Agents</vt:lpstr>
      <vt:lpstr>Agents Acting in an Environment</vt:lpstr>
      <vt:lpstr>Example Agent: Robot</vt:lpstr>
      <vt:lpstr>Example Agent: Teacher</vt:lpstr>
      <vt:lpstr>Examples of Agents</vt:lpstr>
      <vt:lpstr>Intelligent Agents</vt:lpstr>
      <vt:lpstr>Types of Agent</vt:lpstr>
      <vt:lpstr>Types of Agent Programs</vt:lpstr>
      <vt:lpstr>Types of Agent Programs</vt:lpstr>
      <vt:lpstr>Types of Agent Programs</vt:lpstr>
      <vt:lpstr>Types of Agent Programs</vt:lpstr>
      <vt:lpstr>Types of Agent Programs</vt:lpstr>
      <vt:lpstr>Types of Agent Programs</vt:lpstr>
      <vt:lpstr>Types of Agent Programs</vt:lpstr>
      <vt:lpstr>Types of Agent Programs</vt:lpstr>
      <vt:lpstr>Types of Agent Programs</vt:lpstr>
      <vt:lpstr>Types of Agent Programs</vt:lpstr>
      <vt:lpstr>Types of Agent Programs</vt:lpstr>
      <vt:lpstr>Types of Agent Programs</vt:lpstr>
      <vt:lpstr>Types of Agent Programs</vt:lpstr>
      <vt:lpstr>Types of Agent Programs</vt:lpstr>
      <vt:lpstr>Rational Agents</vt:lpstr>
      <vt:lpstr>Autonomy in Agents</vt:lpstr>
      <vt:lpstr>Performance, Environment, Actuators, Sensors</vt:lpstr>
      <vt:lpstr>PEAS in AI (Performance Measure, Environment, Actuators, Sensors)</vt:lpstr>
      <vt:lpstr>PEAS</vt:lpstr>
      <vt:lpstr>Environment of an Agent</vt:lpstr>
      <vt:lpstr>What is the Environment of an Agent</vt:lpstr>
      <vt:lpstr>Agent Reflect Changes in the Environment</vt:lpstr>
      <vt:lpstr>Types of Environments in Artificial Intelligence</vt:lpstr>
      <vt:lpstr>Types of Environments in Artificial Intelligence</vt:lpstr>
      <vt:lpstr>Types of Environments in Artificial Intelligence</vt:lpstr>
      <vt:lpstr>Types of Environments in Artificial Intelligence</vt:lpstr>
      <vt:lpstr>Types of Environments in Artificial Intelligence</vt:lpstr>
      <vt:lpstr>Types of Environments in Artificial Intelligence</vt:lpstr>
      <vt:lpstr>Types of Environments in Artificial Intelligence</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BS105 - Applied Physics</dc:title>
  <dc:creator>Mubashir Iqbal</dc:creator>
  <cp:lastModifiedBy>Mubashir Iqbal</cp:lastModifiedBy>
  <cp:revision>751</cp:revision>
  <dcterms:created xsi:type="dcterms:W3CDTF">2025-02-22T18:08:14Z</dcterms:created>
  <dcterms:modified xsi:type="dcterms:W3CDTF">2025-10-15T06:10:56Z</dcterms:modified>
</cp:coreProperties>
</file>