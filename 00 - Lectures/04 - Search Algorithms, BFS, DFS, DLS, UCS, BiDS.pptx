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sldIdLst>
    <p:sldId id="256" r:id="rId2"/>
    <p:sldId id="261" r:id="rId3"/>
    <p:sldId id="633" r:id="rId4"/>
    <p:sldId id="644" r:id="rId5"/>
    <p:sldId id="634" r:id="rId6"/>
    <p:sldId id="645" r:id="rId7"/>
    <p:sldId id="643" r:id="rId8"/>
    <p:sldId id="361" r:id="rId9"/>
    <p:sldId id="629" r:id="rId10"/>
    <p:sldId id="630" r:id="rId11"/>
    <p:sldId id="631" r:id="rId12"/>
    <p:sldId id="638" r:id="rId13"/>
    <p:sldId id="632" r:id="rId14"/>
    <p:sldId id="639" r:id="rId15"/>
    <p:sldId id="640" r:id="rId16"/>
    <p:sldId id="641" r:id="rId17"/>
    <p:sldId id="642" r:id="rId18"/>
    <p:sldId id="622" r:id="rId19"/>
    <p:sldId id="646" r:id="rId20"/>
    <p:sldId id="647" r:id="rId21"/>
    <p:sldId id="648" r:id="rId22"/>
    <p:sldId id="652" r:id="rId23"/>
    <p:sldId id="653" r:id="rId24"/>
    <p:sldId id="654" r:id="rId25"/>
    <p:sldId id="623" r:id="rId26"/>
    <p:sldId id="655" r:id="rId27"/>
    <p:sldId id="666" r:id="rId28"/>
    <p:sldId id="628" r:id="rId29"/>
    <p:sldId id="662" r:id="rId30"/>
    <p:sldId id="663" r:id="rId31"/>
    <p:sldId id="664" r:id="rId32"/>
    <p:sldId id="667" r:id="rId33"/>
    <p:sldId id="624" r:id="rId34"/>
    <p:sldId id="656" r:id="rId35"/>
    <p:sldId id="657" r:id="rId36"/>
    <p:sldId id="670" r:id="rId37"/>
    <p:sldId id="671" r:id="rId38"/>
    <p:sldId id="668" r:id="rId39"/>
    <p:sldId id="626" r:id="rId40"/>
    <p:sldId id="659" r:id="rId41"/>
    <p:sldId id="660" r:id="rId42"/>
    <p:sldId id="661" r:id="rId43"/>
    <p:sldId id="621" r:id="rId44"/>
    <p:sldId id="66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4D4"/>
    <a:srgbClr val="B2B3AD"/>
    <a:srgbClr val="96978D"/>
    <a:srgbClr val="A4A59D"/>
    <a:srgbClr val="C6C7C1"/>
    <a:srgbClr val="BEB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649" autoAdjust="0"/>
  </p:normalViewPr>
  <p:slideViewPr>
    <p:cSldViewPr snapToGrid="0">
      <p:cViewPr varScale="1">
        <p:scale>
          <a:sx n="103" d="100"/>
          <a:sy n="103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67043-1ED9-4280-B30D-13F4B4DE324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4BD96-1AF7-4450-99A7-A00EE4A95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4689AE-CB4D-5E97-1D4C-63AB686A07C3}"/>
              </a:ext>
            </a:extLst>
          </p:cNvPr>
          <p:cNvSpPr/>
          <p:nvPr userDrawn="1"/>
        </p:nvSpPr>
        <p:spPr>
          <a:xfrm>
            <a:off x="0" y="-42532"/>
            <a:ext cx="12192000" cy="69005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873A6-FC85-F129-0FF3-6D9468FF2A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56515" y="2208190"/>
            <a:ext cx="10259568" cy="1305404"/>
          </a:xfrm>
        </p:spPr>
        <p:txBody>
          <a:bodyPr anchor="b"/>
          <a:lstStyle>
            <a:lvl1pPr algn="ctr">
              <a:defRPr sz="6000"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CS302 –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6E857-2B66-8433-D469-E0F15F21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6515" y="3602038"/>
            <a:ext cx="1025956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466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F40D-520F-F4CA-0576-5338E0573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65" y="33251"/>
            <a:ext cx="11381518" cy="820694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DA2AB-11BE-1B22-FF80-605EED1A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751834" cy="5724764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  <a:latin typeface="+mj-lt"/>
              </a:defRPr>
            </a:lvl1pPr>
            <a:lvl2pPr algn="just">
              <a:defRPr>
                <a:solidFill>
                  <a:schemeClr val="tx1"/>
                </a:solidFill>
                <a:latin typeface="+mj-lt"/>
              </a:defRPr>
            </a:lvl2pPr>
            <a:lvl3pPr algn="just">
              <a:defRPr>
                <a:solidFill>
                  <a:schemeClr val="tx1"/>
                </a:solidFill>
                <a:latin typeface="+mj-lt"/>
              </a:defRPr>
            </a:lvl3pPr>
            <a:lvl4pPr algn="just">
              <a:defRPr>
                <a:solidFill>
                  <a:schemeClr val="tx1"/>
                </a:solidFill>
                <a:latin typeface="+mj-lt"/>
              </a:defRPr>
            </a:lvl4pPr>
            <a:lvl5pPr algn="just"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17B780-5025-987F-3DC3-184DB53C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45378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952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390B-285F-2C66-D3FE-5B823F0A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5860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06B-72EC-43BE-409D-39B6E53EB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62451"/>
            <a:ext cx="10515600" cy="17272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F5279-CD73-19B5-AEA6-B78C3CC5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8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74FB-C9E5-C168-20A6-B3138D43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2E0BE-046F-1656-A145-BBACA25D7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C35C7-5AD0-4BB9-3A77-57B8F6E98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E76BB-C4E6-01DD-0010-DFAB60E0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79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54BE-9621-56F0-9219-A17957FD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43CC7-D7C2-023B-1C8F-090430ACA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24881-EEE8-DDD3-EDE0-54CB2733B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64512-393A-A3D4-FBDE-1188EEFE4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3AABB-DAFA-7136-A2A0-006C345D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6C1CE-5C88-9011-ACE6-158D2F0C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63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E0DF-359C-3772-3B71-EFDA2F53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212C9-60ED-12F0-F460-F845501CD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9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46D-2B95-949D-3D28-C145FC36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054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4F23-B588-F794-09EC-A2398E2B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56CA-F0FE-7F30-B301-68E86B42D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5B6BF-FC9D-7271-45F2-8A2CDC471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451AB9-EA21-649F-D191-F1AC7A87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9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EF64-BD0E-7FFD-41EF-96D6A291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D307B4-313F-A6E9-69DA-57E1B9E03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4F3271-8CA8-9B7C-8ED5-D3E0D8F23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880D-EF92-559D-6033-0C6E972C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8D9B-387D-38BF-CFF6-74C54DBC1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C8C8-5343-9FD0-1205-5ED3586DA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01AF-A25D-1B2E-85CC-A8223D7F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6F6999-1A20-3F30-1A01-EF7DEE430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003C-3203-B1B0-D7FA-247447BB0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57813-20CF-6AD1-51DD-95ACB0B1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64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6000" r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27C1B2-D306-5234-FCB6-417DA2E74BB8}"/>
              </a:ext>
            </a:extLst>
          </p:cNvPr>
          <p:cNvSpPr/>
          <p:nvPr userDrawn="1"/>
        </p:nvSpPr>
        <p:spPr>
          <a:xfrm>
            <a:off x="0" y="6366"/>
            <a:ext cx="12188949" cy="688353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  <a:alpha val="92000"/>
                </a:schemeClr>
              </a:gs>
              <a:gs pos="20000">
                <a:schemeClr val="bg1">
                  <a:lumMod val="75000"/>
                  <a:alpha val="92000"/>
                </a:schemeClr>
              </a:gs>
              <a:gs pos="100000">
                <a:schemeClr val="bg1">
                  <a:lumMod val="90000"/>
                  <a:alpha val="92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CBC0-7F92-F92F-3AA1-0BDB8B916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4741" y="994522"/>
            <a:ext cx="11817767" cy="5681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</a:t>
            </a:r>
            <a:r>
              <a:rPr lang="en-US" dirty="0" err="1"/>
              <a:t>fksdfkljaslkfjlkasjflkajslfkjalskf</a:t>
            </a:r>
            <a:r>
              <a:rPr lang="en-US" dirty="0"/>
              <a:t> </a:t>
            </a:r>
            <a:r>
              <a:rPr lang="en-US" dirty="0" err="1"/>
              <a:t>jas</a:t>
            </a:r>
            <a:r>
              <a:rPr lang="en-US" dirty="0"/>
              <a:t> </a:t>
            </a:r>
            <a:r>
              <a:rPr lang="en-US" dirty="0" err="1"/>
              <a:t>fkljasl</a:t>
            </a:r>
            <a:r>
              <a:rPr lang="en-US" dirty="0"/>
              <a:t> </a:t>
            </a:r>
            <a:r>
              <a:rPr lang="en-US" dirty="0" err="1"/>
              <a:t>fjlas</a:t>
            </a:r>
            <a:r>
              <a:rPr lang="en-US" dirty="0"/>
              <a:t> </a:t>
            </a:r>
            <a:r>
              <a:rPr lang="en-US" dirty="0" err="1"/>
              <a:t>flkajsfjjaslfjalskfjlasjflsajlfjaslfjl</a:t>
            </a:r>
            <a:endParaRPr lang="en-US" dirty="0"/>
          </a:p>
          <a:p>
            <a:pPr lvl="0"/>
            <a:r>
              <a:rPr lang="en-US" dirty="0"/>
              <a:t>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89EA-4E88-4DB2-DE6D-8FD6A4839D49}"/>
              </a:ext>
            </a:extLst>
          </p:cNvPr>
          <p:cNvSpPr/>
          <p:nvPr userDrawn="1"/>
        </p:nvSpPr>
        <p:spPr>
          <a:xfrm>
            <a:off x="10633" y="-12512"/>
            <a:ext cx="12192000" cy="905228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0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10800000" scaled="1"/>
          </a:gra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68E77-43C7-C229-9E42-88482BF4F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472CE09-311C-4CDB-87AD-5FE14EBCB3A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AA29F4-108E-4774-317D-15F8F3E82F0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1475" y="-25532"/>
            <a:ext cx="1047475" cy="10491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BC85BD5-EE8B-11F4-28D8-9421929526E2}"/>
              </a:ext>
            </a:extLst>
          </p:cNvPr>
          <p:cNvSpPr/>
          <p:nvPr userDrawn="1"/>
        </p:nvSpPr>
        <p:spPr>
          <a:xfrm>
            <a:off x="11461072" y="6459624"/>
            <a:ext cx="62143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/>
          <a:p>
            <a:pPr lvl="0"/>
            <a:endParaRPr lang="en-US" sz="1600" b="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1503D-3365-9FDA-1D27-9F09309E3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" y="47830"/>
            <a:ext cx="11503151" cy="873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90BF7-2D25-BFDB-733C-742A7A37279C}"/>
              </a:ext>
            </a:extLst>
          </p:cNvPr>
          <p:cNvSpPr/>
          <p:nvPr userDrawn="1"/>
        </p:nvSpPr>
        <p:spPr>
          <a:xfrm>
            <a:off x="0" y="6366"/>
            <a:ext cx="264741" cy="6870684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66000">
                <a:schemeClr val="bg1">
                  <a:lumMod val="75000"/>
                </a:schemeClr>
              </a:gs>
              <a:gs pos="100000">
                <a:schemeClr val="bg1">
                  <a:lumMod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8CC72BD-F9D4-1C23-2FA6-E96748298632}"/>
              </a:ext>
            </a:extLst>
          </p:cNvPr>
          <p:cNvSpPr txBox="1">
            <a:spLocks/>
          </p:cNvSpPr>
          <p:nvPr userDrawn="1"/>
        </p:nvSpPr>
        <p:spPr>
          <a:xfrm>
            <a:off x="0" y="6464095"/>
            <a:ext cx="2183907" cy="3651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1832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678D8-39C5-136D-7DE7-C372254E5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CS312</a:t>
            </a:r>
            <a:br>
              <a:rPr lang="en-US" dirty="0"/>
            </a:br>
            <a:r>
              <a:rPr lang="en-US" dirty="0"/>
              <a:t>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CAE1AE-E1E7-EFE4-AB97-134DB7127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3225" y="4814596"/>
            <a:ext cx="9144000" cy="1873541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highlight>
                  <a:srgbClr val="00FFFF"/>
                </a:highlight>
              </a:rPr>
              <a:t>Lecture  #  04</a:t>
            </a:r>
          </a:p>
          <a:p>
            <a:pPr algn="r"/>
            <a:r>
              <a:rPr lang="en-US" b="1" dirty="0"/>
              <a:t>HITEC University, Taxila</a:t>
            </a:r>
          </a:p>
          <a:p>
            <a:pPr algn="r"/>
            <a:r>
              <a:rPr lang="en-US" b="1" dirty="0"/>
              <a:t>Mr. Mubashir Iqbal</a:t>
            </a:r>
          </a:p>
          <a:p>
            <a:pPr algn="r"/>
            <a:r>
              <a:rPr lang="en-US" b="1" dirty="0"/>
              <a:t>Fall-2025</a:t>
            </a:r>
          </a:p>
        </p:txBody>
      </p:sp>
    </p:spTree>
    <p:extLst>
      <p:ext uri="{BB962C8B-B14F-4D97-AF65-F5344CB8AC3E}">
        <p14:creationId xmlns:p14="http://schemas.microsoft.com/office/powerpoint/2010/main" val="393172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C066-B27D-AA38-885C-2397EF3ED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6D9A2-03FB-796F-DEE1-8BF6927A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Time Complexity and </a:t>
            </a:r>
            <a:r>
              <a:rPr lang="en-US" b="1"/>
              <a:t>Space Complexity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Uninformed Search Algorithms: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Breadth First Search (BFS)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Depth First Search (DFS)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Depth Limited Search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Iterative Deepening Depth First Search.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Uniform Cost Search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Bidirectional Search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9F48D-8FC8-EA4C-9F18-AB41CC3B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z="1800" b="1" smtClean="0"/>
              <a:pPr/>
              <a:t>2</a:t>
            </a:fld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7277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1B19-CF3A-E9E1-9CBE-6E76A5BDF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B8C8-35CB-821C-88F7-11BE05541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Time Complexity measures how much time an algorithm takes to complete as the input size increases.</a:t>
            </a:r>
          </a:p>
          <a:p>
            <a:r>
              <a:rPr lang="en-GB" dirty="0"/>
              <a:t>It is expressed as a mathematical function of the input size (n). </a:t>
            </a:r>
            <a:r>
              <a:rPr lang="en-GB" dirty="0">
                <a:highlight>
                  <a:srgbClr val="00FF00"/>
                </a:highlight>
              </a:rPr>
              <a:t>It helps us compare algorithms based on their efficiency — how fast they solve a problem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Simple Explanation</a:t>
            </a:r>
          </a:p>
          <a:p>
            <a:r>
              <a:rPr lang="en-GB" dirty="0"/>
              <a:t>Time complexity tells us </a:t>
            </a:r>
            <a:r>
              <a:rPr lang="en-GB" i="1" dirty="0"/>
              <a:t>how the running time of an algorithm grows</a:t>
            </a:r>
            <a:r>
              <a:rPr lang="en-GB" dirty="0"/>
              <a:t> when we give it more data to process.</a:t>
            </a:r>
          </a:p>
          <a:p>
            <a:pPr marL="0" indent="0">
              <a:buNone/>
            </a:pPr>
            <a:r>
              <a:rPr lang="en-GB" b="1" dirty="0"/>
              <a:t>For example:</a:t>
            </a:r>
          </a:p>
          <a:p>
            <a:pPr lvl="1"/>
            <a:r>
              <a:rPr lang="en-GB" dirty="0"/>
              <a:t>Sorting </a:t>
            </a:r>
            <a:r>
              <a:rPr lang="en-GB" b="1" dirty="0"/>
              <a:t>10 numbers</a:t>
            </a:r>
            <a:r>
              <a:rPr lang="en-GB" dirty="0"/>
              <a:t> takes 1 second.</a:t>
            </a:r>
          </a:p>
          <a:p>
            <a:pPr lvl="1"/>
            <a:r>
              <a:rPr lang="en-GB" dirty="0"/>
              <a:t>Sorting </a:t>
            </a:r>
            <a:r>
              <a:rPr lang="en-GB" b="1" dirty="0"/>
              <a:t>1,000 numbers</a:t>
            </a:r>
            <a:r>
              <a:rPr lang="en-GB" dirty="0"/>
              <a:t> might take 100 seconds. The </a:t>
            </a:r>
            <a:r>
              <a:rPr lang="en-GB" i="1" dirty="0"/>
              <a:t>rate of increase</a:t>
            </a:r>
            <a:r>
              <a:rPr lang="en-GB" dirty="0"/>
              <a:t> in time shows the </a:t>
            </a:r>
            <a:r>
              <a:rPr lang="en-GB" b="1" dirty="0"/>
              <a:t>time complexity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144C5-5C2D-B551-6574-B28484915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86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9C7F-BDB7-4018-93A6-29DD9127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9A54-E8A8-B7E4-E7C6-FF311069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6FCC-448D-16F9-49E0-EAE279860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/>
              <a:t>Why It Matters</a:t>
            </a:r>
          </a:p>
          <a:p>
            <a:r>
              <a:rPr lang="en-GB" dirty="0"/>
              <a:t>Helps developers </a:t>
            </a:r>
            <a:r>
              <a:rPr lang="en-GB" b="1" dirty="0"/>
              <a:t>predict performance</a:t>
            </a:r>
            <a:r>
              <a:rPr lang="en-GB" dirty="0"/>
              <a:t> before running the code.</a:t>
            </a:r>
          </a:p>
          <a:p>
            <a:r>
              <a:rPr lang="en-GB" dirty="0"/>
              <a:t>Important for </a:t>
            </a:r>
            <a:r>
              <a:rPr lang="en-GB" b="1" dirty="0"/>
              <a:t>optimization</a:t>
            </a:r>
            <a:r>
              <a:rPr lang="en-GB" dirty="0"/>
              <a:t> in AI, data science, and cybersecurity applications.</a:t>
            </a:r>
          </a:p>
          <a:p>
            <a:r>
              <a:rPr lang="en-GB" dirty="0"/>
              <a:t>Allows </a:t>
            </a:r>
            <a:r>
              <a:rPr lang="en-GB" b="1" dirty="0"/>
              <a:t>fair comparison</a:t>
            </a:r>
            <a:r>
              <a:rPr lang="en-GB" dirty="0"/>
              <a:t> between different algorithms (e.g., BFS vs DFS).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015D0-EE1A-B8F0-FBB6-B99EC4D7A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F96119-9C5E-A401-B33B-4324E4269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95706"/>
              </p:ext>
            </p:extLst>
          </p:nvPr>
        </p:nvGraphicFramePr>
        <p:xfrm>
          <a:off x="1328193" y="3526953"/>
          <a:ext cx="8991630" cy="191022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35901">
                  <a:extLst>
                    <a:ext uri="{9D8B030D-6E8A-4147-A177-3AD203B41FA5}">
                      <a16:colId xmlns:a16="http://schemas.microsoft.com/office/drawing/2014/main" val="2276173032"/>
                    </a:ext>
                  </a:extLst>
                </a:gridCol>
                <a:gridCol w="2123900">
                  <a:extLst>
                    <a:ext uri="{9D8B030D-6E8A-4147-A177-3AD203B41FA5}">
                      <a16:colId xmlns:a16="http://schemas.microsoft.com/office/drawing/2014/main" val="1876857213"/>
                    </a:ext>
                  </a:extLst>
                </a:gridCol>
                <a:gridCol w="4331829">
                  <a:extLst>
                    <a:ext uri="{9D8B030D-6E8A-4147-A177-3AD203B41FA5}">
                      <a16:colId xmlns:a16="http://schemas.microsoft.com/office/drawing/2014/main" val="245283171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Algorithm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Time Complexity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Description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4114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BFS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O(V + 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Visits each vertex and edge once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2160577"/>
                  </a:ext>
                </a:extLst>
              </a:tr>
              <a:tr h="447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DFS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O(V + 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Same as BFS, but different traversal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0282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Uniform Cost Search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O(E + V log V)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Uses priority queue (depends on cost)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0786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A*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O(b^d) worst-case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Depends on branching factor and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576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780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520D-F108-FB44-4466-D0B26F19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5FA35-11EB-C860-C97A-FA116717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Space Complexity measures the total amount of memory an algorithm needs to execute completely.</a:t>
            </a:r>
          </a:p>
          <a:p>
            <a:r>
              <a:rPr lang="en-GB" dirty="0"/>
              <a:t>It includes all memory used for:</a:t>
            </a:r>
          </a:p>
          <a:p>
            <a:pPr lvl="1"/>
            <a:r>
              <a:rPr lang="en-GB" dirty="0"/>
              <a:t>Input data</a:t>
            </a:r>
          </a:p>
          <a:p>
            <a:pPr lvl="1"/>
            <a:r>
              <a:rPr lang="en-GB" dirty="0"/>
              <a:t>Variables and constants</a:t>
            </a:r>
          </a:p>
          <a:p>
            <a:pPr lvl="1"/>
            <a:r>
              <a:rPr lang="en-GB" dirty="0"/>
              <a:t>Temporary data structures (like queues, stacks, recursion memory)</a:t>
            </a:r>
          </a:p>
          <a:p>
            <a:pPr lvl="1"/>
            <a:r>
              <a:rPr lang="en-GB" dirty="0"/>
              <a:t>Function call overhead</a:t>
            </a:r>
            <a:endParaRPr lang="en-US" dirty="0"/>
          </a:p>
          <a:p>
            <a:pPr marL="0" indent="0">
              <a:buNone/>
            </a:pPr>
            <a:r>
              <a:rPr lang="en-GB" b="1" dirty="0"/>
              <a:t>Simple Explanation: </a:t>
            </a:r>
            <a:r>
              <a:rPr lang="en-GB" dirty="0"/>
              <a:t>Space Complexity tells us </a:t>
            </a:r>
            <a:r>
              <a:rPr lang="en-GB" b="1" dirty="0"/>
              <a:t>how much memory (RAM)</a:t>
            </a:r>
            <a:r>
              <a:rPr lang="en-GB" dirty="0"/>
              <a:t> an algorithm needs as the input size grows.</a:t>
            </a:r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pPr lvl="1"/>
            <a:r>
              <a:rPr lang="en-GB" dirty="0"/>
              <a:t>A simple addition program that adds two numbers → needs </a:t>
            </a:r>
            <a:r>
              <a:rPr lang="en-GB" b="1" dirty="0"/>
              <a:t>constant memory (O(1))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BFS algorithm → needs </a:t>
            </a:r>
            <a:r>
              <a:rPr lang="en-GB" b="1" dirty="0"/>
              <a:t>large memory</a:t>
            </a:r>
            <a:r>
              <a:rPr lang="en-GB" dirty="0"/>
              <a:t> to store all visited nodes in a </a:t>
            </a:r>
            <a:r>
              <a:rPr lang="en-GB" b="1" dirty="0"/>
              <a:t>queue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D5035-3065-0A46-F330-1F2BE1A83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21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7A42-FEF0-2B73-AA8E-2953D5A41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F9A1-0095-0EFF-BC58-CE29334C9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28A95-F1F2-1520-4C33-B745E7E73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Formula 	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/>
                      <m:t>Space</m:t>
                    </m:r>
                    <m:r>
                      <m:rPr>
                        <m:nor/>
                      </m:rPr>
                      <a:rPr lang="en-GB" b="0" i="1"/>
                      <m:t> </m:t>
                    </m:r>
                    <m:r>
                      <m:rPr>
                        <m:nor/>
                      </m:rPr>
                      <a:rPr lang="en-GB" b="0" i="1"/>
                      <m:t>Complexity</m:t>
                    </m:r>
                    <m:r>
                      <m:rPr>
                        <m:nor/>
                      </m:rPr>
                      <a:rPr lang="en-GB" b="0" i="1"/>
                      <m:t> (</m:t>
                    </m:r>
                    <m:r>
                      <m:rPr>
                        <m:nor/>
                      </m:rPr>
                      <a:rPr lang="en-GB" b="0" i="1"/>
                      <m:t>S</m:t>
                    </m:r>
                    <m:r>
                      <m:rPr>
                        <m:nor/>
                      </m:rPr>
                      <a:rPr lang="en-GB" b="0" i="1"/>
                      <m:t>)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i="1"/>
                      <m:t>Fixed</m:t>
                    </m:r>
                    <m:r>
                      <m:rPr>
                        <m:nor/>
                      </m:rPr>
                      <a:rPr lang="en-GB" i="1"/>
                      <m:t> </m:t>
                    </m:r>
                    <m:r>
                      <m:rPr>
                        <m:nor/>
                      </m:rPr>
                      <a:rPr lang="en-GB" i="1"/>
                      <m:t>Part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GB" i="1"/>
                      <m:t>Variable</m:t>
                    </m:r>
                    <m:r>
                      <m:rPr>
                        <m:nor/>
                      </m:rPr>
                      <a:rPr lang="en-GB" i="1"/>
                      <m:t> </m:t>
                    </m:r>
                    <m:r>
                      <m:rPr>
                        <m:nor/>
                      </m:rPr>
                      <a:rPr lang="en-GB" i="1"/>
                      <m:t>Part</m:t>
                    </m:r>
                  </m:oMath>
                </a14:m>
                <a:endParaRPr lang="en-GB" b="0" dirty="0"/>
              </a:p>
              <a:p>
                <a:pPr lvl="1"/>
                <a:r>
                  <a:rPr lang="en-GB" b="1" dirty="0"/>
                  <a:t>Fixed Part:</a:t>
                </a:r>
                <a:r>
                  <a:rPr lang="en-GB" dirty="0"/>
                  <a:t> Memory required for constants, simple variables, and program instructions.</a:t>
                </a:r>
              </a:p>
              <a:p>
                <a:pPr lvl="1"/>
                <a:r>
                  <a:rPr lang="en-GB" b="1" dirty="0"/>
                  <a:t>Variable Part:</a:t>
                </a:r>
                <a:r>
                  <a:rPr lang="en-GB" dirty="0"/>
                  <a:t> Memory needed for dynamic structures like arrays, queues, stacks, and recursion.</a:t>
                </a:r>
              </a:p>
              <a:p>
                <a:pPr marL="0" indent="0">
                  <a:buNone/>
                </a:pPr>
                <a:r>
                  <a:rPr lang="en-GB" b="1" dirty="0"/>
                  <a:t>Why Space Complexity Matters</a:t>
                </a:r>
              </a:p>
              <a:p>
                <a:pPr lvl="1"/>
                <a:r>
                  <a:rPr lang="en-GB" dirty="0"/>
                  <a:t>Determines whether an algorithm can </a:t>
                </a:r>
                <a:r>
                  <a:rPr lang="en-GB" b="1" dirty="0"/>
                  <a:t>fit into limited memory</a:t>
                </a:r>
                <a:r>
                  <a:rPr lang="en-GB" dirty="0"/>
                  <a:t> (important in embedded systems, cybersecurity simulations, etc.).</a:t>
                </a:r>
              </a:p>
              <a:p>
                <a:pPr lvl="1"/>
                <a:r>
                  <a:rPr lang="en-GB" dirty="0"/>
                  <a:t>Helps select algorithms that are </a:t>
                </a:r>
                <a:r>
                  <a:rPr lang="en-GB" b="1" dirty="0"/>
                  <a:t>efficient in both speed and memory</a:t>
                </a:r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Crucial in AI models where </a:t>
                </a:r>
                <a:r>
                  <a:rPr lang="en-GB" b="1" dirty="0"/>
                  <a:t>large datasets</a:t>
                </a:r>
                <a:r>
                  <a:rPr lang="en-GB" dirty="0"/>
                  <a:t> and </a:t>
                </a:r>
                <a:r>
                  <a:rPr lang="en-GB" b="1" dirty="0"/>
                  <a:t>state-space searches</a:t>
                </a:r>
                <a:r>
                  <a:rPr lang="en-GB" dirty="0"/>
                  <a:t> consume significant memory.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A28A95-F1F2-1520-4C33-B745E7E73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37" t="-1917" r="-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1E3C3-D8D3-83C6-7EFA-A76B9DC17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CA5281-7E1F-2CA1-5CB5-773F5C80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799116"/>
              </p:ext>
            </p:extLst>
          </p:nvPr>
        </p:nvGraphicFramePr>
        <p:xfrm>
          <a:off x="458726" y="4995949"/>
          <a:ext cx="11409914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01447">
                  <a:extLst>
                    <a:ext uri="{9D8B030D-6E8A-4147-A177-3AD203B41FA5}">
                      <a16:colId xmlns:a16="http://schemas.microsoft.com/office/drawing/2014/main" val="91349578"/>
                    </a:ext>
                  </a:extLst>
                </a:gridCol>
                <a:gridCol w="2192694">
                  <a:extLst>
                    <a:ext uri="{9D8B030D-6E8A-4147-A177-3AD203B41FA5}">
                      <a16:colId xmlns:a16="http://schemas.microsoft.com/office/drawing/2014/main" val="2633806513"/>
                    </a:ext>
                  </a:extLst>
                </a:gridCol>
                <a:gridCol w="6715773">
                  <a:extLst>
                    <a:ext uri="{9D8B030D-6E8A-4147-A177-3AD203B41FA5}">
                      <a16:colId xmlns:a16="http://schemas.microsoft.com/office/drawing/2014/main" val="1287344254"/>
                    </a:ext>
                  </a:extLst>
                </a:gridCol>
              </a:tblGrid>
              <a:tr h="1902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Algorithm</a:t>
                      </a:r>
                      <a:endParaRPr lang="en-US" sz="180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/>
                        <a:t>Space Complexity</a:t>
                      </a:r>
                      <a:endParaRPr lang="en-US" sz="180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Reason</a:t>
                      </a:r>
                      <a:endParaRPr lang="en-US" sz="1800" dirty="0"/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94308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BFS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O(bᵈ)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Must store all nodes at each level (uses a queue).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16581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DFS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O(</a:t>
                      </a:r>
                      <a:r>
                        <a:rPr lang="en-US" sz="1800" dirty="0" err="1"/>
                        <a:t>b·m</a:t>
                      </a:r>
                      <a:r>
                        <a:rPr lang="en-US" sz="18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Stores only the path + unexpanded nodes (uses a stack/recursion).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948434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Uniform Cost Search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O(bᵈ)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Stores frontier nodes in a priority queue.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861092"/>
                  </a:ext>
                </a:extLst>
              </a:tr>
              <a:tr h="1902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A*</a:t>
                      </a:r>
                      <a:endParaRPr 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O(bᵈ)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Keeps all nodes in memory for path-cost comparison.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02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17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4B34-8AC3-DAAA-2B31-90AD90DBC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Breadth First Search (BFS)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B075B7-08C8-E3F9-AAD1-CA81082D1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39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9ECF9448-0926-5451-118E-6C764A95F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185" y="1082351"/>
            <a:ext cx="3405673" cy="3405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3965A-2B23-C408-9368-7092DFEA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58928-3A50-207B-4BFF-E652EAE66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8706944" cy="547877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Breadth First Search (BFS) is a graph traversal algorithm that explores nodes </a:t>
            </a:r>
            <a:r>
              <a:rPr lang="en-GB" b="1" dirty="0"/>
              <a:t>level by level</a:t>
            </a:r>
            <a:r>
              <a:rPr lang="en-GB" dirty="0"/>
              <a:t>. </a:t>
            </a:r>
          </a:p>
          <a:p>
            <a:r>
              <a:rPr lang="en-GB" dirty="0"/>
              <a:t>It </a:t>
            </a:r>
            <a:r>
              <a:rPr lang="en-GB" u="sng" dirty="0"/>
              <a:t>starts from a selected node</a:t>
            </a:r>
            <a:r>
              <a:rPr lang="en-GB" dirty="0"/>
              <a:t>, called the </a:t>
            </a:r>
            <a:r>
              <a:rPr lang="en-GB" b="1" dirty="0"/>
              <a:t>root</a:t>
            </a:r>
            <a:r>
              <a:rPr lang="en-GB" dirty="0"/>
              <a:t> or starting point, and </a:t>
            </a:r>
            <a:r>
              <a:rPr lang="en-GB" dirty="0">
                <a:highlight>
                  <a:srgbClr val="00FFFF"/>
                </a:highlight>
              </a:rPr>
              <a:t>visits all its immediate </a:t>
            </a:r>
            <a:r>
              <a:rPr lang="en-GB" dirty="0" err="1">
                <a:highlight>
                  <a:srgbClr val="00FFFF"/>
                </a:highlight>
              </a:rPr>
              <a:t>neighbors</a:t>
            </a:r>
            <a:r>
              <a:rPr lang="en-GB" dirty="0">
                <a:highlight>
                  <a:srgbClr val="00FFFF"/>
                </a:highlight>
              </a:rPr>
              <a:t> </a:t>
            </a:r>
            <a:r>
              <a:rPr lang="en-US" u="sng" noProof="1"/>
              <a:t>before moving on to the next level of neighbors.</a:t>
            </a:r>
            <a:r>
              <a:rPr lang="en-GB" dirty="0"/>
              <a:t> </a:t>
            </a:r>
          </a:p>
          <a:p>
            <a:r>
              <a:rPr lang="en-GB" dirty="0"/>
              <a:t>BFS uses a queue data structure to keep track of nodes that need to be explored. As each node is visited, its unvisited </a:t>
            </a:r>
            <a:r>
              <a:rPr lang="en-GB" dirty="0" err="1"/>
              <a:t>neighbors</a:t>
            </a:r>
            <a:r>
              <a:rPr lang="en-GB" dirty="0"/>
              <a:t> are added to the queue. </a:t>
            </a:r>
          </a:p>
          <a:p>
            <a:r>
              <a:rPr lang="en-GB" dirty="0"/>
              <a:t>This process continues until all reachable nodes are visited. </a:t>
            </a:r>
          </a:p>
          <a:p>
            <a:r>
              <a:rPr lang="en-GB" dirty="0"/>
              <a:t>BFS is especially useful for finding the shortest path in unweighted graphs because it guarantees that the first time a node is reached, it is through the shortest possible route.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6BCD-4715-4324-2394-6F66D666B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7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9BFED-3F2F-ABF5-86B9-E7CE4A66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1F2C01-1C7E-5A0B-1030-38C92B9E0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641" y="1014700"/>
            <a:ext cx="5576596" cy="4182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219C9C-5F12-7062-4062-8AA7FE686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A4E9-FDB7-9C90-09BA-C514757E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6277875" cy="5724764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How BFS Works (Step-by-Step)</a:t>
            </a:r>
          </a:p>
          <a:p>
            <a:pPr lvl="1"/>
            <a:r>
              <a:rPr lang="en-GB" dirty="0"/>
              <a:t>Start from the initial node.</a:t>
            </a:r>
          </a:p>
          <a:p>
            <a:pPr lvl="1"/>
            <a:r>
              <a:rPr lang="en-GB" dirty="0"/>
              <a:t>Add it to a queue.</a:t>
            </a:r>
          </a:p>
          <a:p>
            <a:pPr lvl="1"/>
            <a:r>
              <a:rPr lang="en-GB" dirty="0"/>
              <a:t>While the queue is not empty:</a:t>
            </a:r>
          </a:p>
          <a:p>
            <a:pPr lvl="1"/>
            <a:r>
              <a:rPr lang="en-GB" dirty="0"/>
              <a:t>Remove the front node.</a:t>
            </a:r>
          </a:p>
          <a:p>
            <a:pPr lvl="1"/>
            <a:r>
              <a:rPr lang="en-GB" dirty="0"/>
              <a:t>Visit it.</a:t>
            </a:r>
          </a:p>
          <a:p>
            <a:pPr lvl="1"/>
            <a:r>
              <a:rPr lang="en-GB" dirty="0"/>
              <a:t>Add all its unvisited </a:t>
            </a:r>
            <a:r>
              <a:rPr lang="en-GB" dirty="0" err="1"/>
              <a:t>neighbors</a:t>
            </a:r>
            <a:r>
              <a:rPr lang="en-GB" dirty="0"/>
              <a:t> to the queue.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Benefits of BFS</a:t>
            </a:r>
          </a:p>
          <a:p>
            <a:pPr lvl="1"/>
            <a:r>
              <a:rPr lang="en-GB" dirty="0"/>
              <a:t>Finds the </a:t>
            </a:r>
            <a:r>
              <a:rPr lang="en-GB" b="1" dirty="0"/>
              <a:t>shortest path</a:t>
            </a:r>
            <a:r>
              <a:rPr lang="en-GB" dirty="0"/>
              <a:t> in unweighted graphs.</a:t>
            </a:r>
          </a:p>
          <a:p>
            <a:pPr lvl="1"/>
            <a:r>
              <a:rPr lang="en-GB" dirty="0"/>
              <a:t>Easy to implement. </a:t>
            </a:r>
            <a:r>
              <a:rPr lang="en-US" dirty="0"/>
              <a:t>Simple and systematic.</a:t>
            </a:r>
            <a:endParaRPr lang="en-GB" dirty="0"/>
          </a:p>
          <a:p>
            <a:pPr lvl="1"/>
            <a:r>
              <a:rPr lang="en-GB" dirty="0"/>
              <a:t>Useful for </a:t>
            </a:r>
            <a:r>
              <a:rPr lang="en-GB" b="1" dirty="0"/>
              <a:t>level-order traversal</a:t>
            </a:r>
            <a:r>
              <a:rPr lang="en-GB" dirty="0"/>
              <a:t> in trees.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FDB0E-D692-A3FB-082B-E7FD7E3DD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99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4C45-5E32-6C3C-51D4-87C57DE0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7A74-8B10-762B-BED8-0E71634BB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B94AE-24B7-80E8-3B90-3E5D8088F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7111410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dirty="0"/>
              <a:t>Requires </a:t>
            </a:r>
            <a:r>
              <a:rPr lang="en-GB" b="1" dirty="0"/>
              <a:t>more memory</a:t>
            </a:r>
            <a:r>
              <a:rPr lang="en-GB" dirty="0"/>
              <a:t> (queue may grow large).</a:t>
            </a:r>
          </a:p>
          <a:p>
            <a:pPr lvl="1"/>
            <a:r>
              <a:rPr lang="en-GB" dirty="0"/>
              <a:t>Slower for </a:t>
            </a:r>
            <a:r>
              <a:rPr lang="en-GB" b="1" dirty="0"/>
              <a:t>deep or infinite search spaces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Not suitable for problems where the solution is far from the root.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BFS</a:t>
            </a:r>
            <a:r>
              <a:rPr lang="en-GB" dirty="0"/>
              <a:t> in Computer Science</a:t>
            </a:r>
          </a:p>
          <a:p>
            <a:pPr lvl="1"/>
            <a:r>
              <a:rPr lang="en-GB" b="1" dirty="0"/>
              <a:t>Social networks:</a:t>
            </a:r>
            <a:r>
              <a:rPr lang="en-GB" dirty="0"/>
              <a:t> Finding shortest connection between two people.</a:t>
            </a:r>
          </a:p>
          <a:p>
            <a:pPr lvl="1"/>
            <a:r>
              <a:rPr lang="en-GB" b="1" dirty="0"/>
              <a:t>Web crawlers:</a:t>
            </a:r>
            <a:r>
              <a:rPr lang="en-GB" dirty="0"/>
              <a:t> Exploring websites level by level.</a:t>
            </a:r>
          </a:p>
          <a:p>
            <a:pPr lvl="1"/>
            <a:r>
              <a:rPr lang="en-GB" b="1" dirty="0"/>
              <a:t>GPS systems:</a:t>
            </a:r>
            <a:r>
              <a:rPr lang="en-GB" dirty="0"/>
              <a:t> Finding shortest route in road maps.</a:t>
            </a:r>
          </a:p>
          <a:p>
            <a:pPr lvl="1"/>
            <a:r>
              <a:rPr lang="en-GB" b="1" dirty="0"/>
              <a:t>AI games:</a:t>
            </a:r>
            <a:r>
              <a:rPr lang="en-GB" dirty="0"/>
              <a:t> Exploring possible moves in game trees.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A7CB6-E1FD-16FA-AB09-B5DC50484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FDBB1B9E-5E0E-588F-8678-ACBF514D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1136197"/>
            <a:ext cx="45529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94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F457-62C8-7F9D-5DB5-00D1218B1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59E9-A180-EB05-81E0-5A404DE5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Breadth First Search (BFS)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181A-271B-5A36-73B1-8B5FA7F3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Time and Space Complexity</a:t>
            </a:r>
          </a:p>
          <a:p>
            <a:pPr marL="0" indent="0">
              <a:buNone/>
            </a:pPr>
            <a:endParaRPr lang="en-GB" i="1" dirty="0"/>
          </a:p>
          <a:p>
            <a:pPr marL="0" indent="0">
              <a:buNone/>
            </a:pPr>
            <a:r>
              <a:rPr lang="en-GB" i="1" dirty="0"/>
              <a:t>(V = number of vertices, E = number of edges)</a:t>
            </a:r>
            <a:endParaRPr lang="en-GB" dirty="0"/>
          </a:p>
          <a:p>
            <a:endParaRPr lang="en-GB" b="1" dirty="0"/>
          </a:p>
          <a:p>
            <a:r>
              <a:rPr lang="en-GB" b="1" dirty="0"/>
              <a:t>Time Complexity:</a:t>
            </a:r>
            <a:r>
              <a:rPr lang="en-GB" dirty="0"/>
              <a:t> O(V + E) </a:t>
            </a:r>
          </a:p>
          <a:p>
            <a:r>
              <a:rPr lang="en-GB" b="1" dirty="0"/>
              <a:t>Space Complexity:</a:t>
            </a:r>
            <a:r>
              <a:rPr lang="en-GB" dirty="0"/>
              <a:t> O(V) </a:t>
            </a:r>
            <a:r>
              <a:rPr lang="en-GB" i="1" dirty="0"/>
              <a:t>(Stores all nodes at a level in memory)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6FF0-FE8E-917E-4956-1E4F9816F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5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AA89F-8D94-3345-0DFF-FEDA19D5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92E7-54B4-BC60-5EB9-19B7ACACB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BFS - </a:t>
            </a:r>
            <a:r>
              <a:rPr lang="en-GB" dirty="0"/>
              <a:t>Example: Simple Graph Search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2D771-7C97-FC42-A35F-D5AEE0310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9CE6D-261C-6B7F-949E-D73DD2BA0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751834" cy="5692606"/>
          </a:xfrm>
        </p:spPr>
        <p:txBody>
          <a:bodyPr>
            <a:normAutofit/>
          </a:bodyPr>
          <a:lstStyle/>
          <a:p>
            <a:r>
              <a:rPr lang="en-US" b="1" dirty="0"/>
              <a:t>Graph Representation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GB" b="1" dirty="0"/>
              <a:t>Goal: Perform BFS starting from node A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65FE72-D59B-AFC7-BD2A-9A4299860B79}"/>
              </a:ext>
            </a:extLst>
          </p:cNvPr>
          <p:cNvGrpSpPr/>
          <p:nvPr/>
        </p:nvGrpSpPr>
        <p:grpSpPr>
          <a:xfrm>
            <a:off x="3067050" y="1473771"/>
            <a:ext cx="5107280" cy="4050729"/>
            <a:chOff x="4432040" y="1473771"/>
            <a:chExt cx="3742290" cy="278985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7EA4D3-2529-53F5-49C1-4F73820366F9}"/>
                </a:ext>
              </a:extLst>
            </p:cNvPr>
            <p:cNvSpPr/>
            <p:nvPr/>
          </p:nvSpPr>
          <p:spPr>
            <a:xfrm>
              <a:off x="5978524" y="1473771"/>
              <a:ext cx="531845" cy="53184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1AB7452-DC6E-660A-01E1-FAB48F590DE6}"/>
                </a:ext>
              </a:extLst>
            </p:cNvPr>
            <p:cNvSpPr/>
            <p:nvPr/>
          </p:nvSpPr>
          <p:spPr>
            <a:xfrm>
              <a:off x="4963885" y="2519265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7E5DCE-2535-3333-79B4-C5EC9E23C710}"/>
                </a:ext>
              </a:extLst>
            </p:cNvPr>
            <p:cNvSpPr/>
            <p:nvPr/>
          </p:nvSpPr>
          <p:spPr>
            <a:xfrm>
              <a:off x="5978524" y="2519265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4F3406-479E-D717-016B-44BC04FE47F1}"/>
                </a:ext>
              </a:extLst>
            </p:cNvPr>
            <p:cNvSpPr/>
            <p:nvPr/>
          </p:nvSpPr>
          <p:spPr>
            <a:xfrm>
              <a:off x="7135520" y="2519264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CF15EEB-5755-3E04-8298-BACCF191C147}"/>
                </a:ext>
              </a:extLst>
            </p:cNvPr>
            <p:cNvSpPr/>
            <p:nvPr/>
          </p:nvSpPr>
          <p:spPr>
            <a:xfrm>
              <a:off x="4432040" y="3731779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8AA340-8E04-EC22-AD5A-2B9ADC620DE7}"/>
                </a:ext>
              </a:extLst>
            </p:cNvPr>
            <p:cNvSpPr/>
            <p:nvPr/>
          </p:nvSpPr>
          <p:spPr>
            <a:xfrm>
              <a:off x="5508560" y="3731779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628E49-BCA5-CB2D-2E9E-888853338653}"/>
                </a:ext>
              </a:extLst>
            </p:cNvPr>
            <p:cNvSpPr/>
            <p:nvPr/>
          </p:nvSpPr>
          <p:spPr>
            <a:xfrm>
              <a:off x="7642485" y="3731778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E1604CB-65A5-F3BE-899D-DEAA8D0DA73F}"/>
                </a:ext>
              </a:extLst>
            </p:cNvPr>
            <p:cNvCxnSpPr>
              <a:stCxn id="7" idx="3"/>
              <a:endCxn id="8" idx="7"/>
            </p:cNvCxnSpPr>
            <p:nvPr/>
          </p:nvCxnSpPr>
          <p:spPr>
            <a:xfrm flipH="1">
              <a:off x="5417843" y="1927729"/>
              <a:ext cx="638568" cy="6694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5A0D3E-131B-7809-F63C-C748EEE2FCFF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6244447" y="2005616"/>
              <a:ext cx="0" cy="5136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74C01D6-FE98-29BC-CFAB-B7E101A5F5F4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6432482" y="1927729"/>
              <a:ext cx="780925" cy="6694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357D635-CE05-8A6F-91F1-256284E2A012}"/>
                </a:ext>
              </a:extLst>
            </p:cNvPr>
            <p:cNvCxnSpPr>
              <a:stCxn id="8" idx="3"/>
              <a:endCxn id="11" idx="0"/>
            </p:cNvCxnSpPr>
            <p:nvPr/>
          </p:nvCxnSpPr>
          <p:spPr>
            <a:xfrm flipH="1">
              <a:off x="4697963" y="2973223"/>
              <a:ext cx="343809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5CCA5EF-FB3B-EFEE-1E0A-2B6EF7144EF0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5417843" y="2973223"/>
              <a:ext cx="356640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649B5D-380D-DDCD-4ADB-F4F105CE53BC}"/>
                </a:ext>
              </a:extLst>
            </p:cNvPr>
            <p:cNvCxnSpPr>
              <a:stCxn id="10" idx="5"/>
              <a:endCxn id="13" idx="0"/>
            </p:cNvCxnSpPr>
            <p:nvPr/>
          </p:nvCxnSpPr>
          <p:spPr>
            <a:xfrm>
              <a:off x="7589478" y="2973222"/>
              <a:ext cx="318930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5413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82AC5-143C-54B9-903A-12F8BD81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4368-F13B-388E-7705-2430E6CF6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BFS - </a:t>
            </a:r>
            <a:r>
              <a:rPr lang="en-GB" dirty="0"/>
              <a:t>Example 1: Simple Graph Search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A35214-E38C-C757-C793-F44DAE1FA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458276"/>
              </p:ext>
            </p:extLst>
          </p:nvPr>
        </p:nvGraphicFramePr>
        <p:xfrm>
          <a:off x="589544" y="1154744"/>
          <a:ext cx="8323221" cy="3287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70822">
                  <a:extLst>
                    <a:ext uri="{9D8B030D-6E8A-4147-A177-3AD203B41FA5}">
                      <a16:colId xmlns:a16="http://schemas.microsoft.com/office/drawing/2014/main" val="3235738307"/>
                    </a:ext>
                  </a:extLst>
                </a:gridCol>
                <a:gridCol w="1629672">
                  <a:extLst>
                    <a:ext uri="{9D8B030D-6E8A-4147-A177-3AD203B41FA5}">
                      <a16:colId xmlns:a16="http://schemas.microsoft.com/office/drawing/2014/main" val="1176662914"/>
                    </a:ext>
                  </a:extLst>
                </a:gridCol>
                <a:gridCol w="1973334">
                  <a:extLst>
                    <a:ext uri="{9D8B030D-6E8A-4147-A177-3AD203B41FA5}">
                      <a16:colId xmlns:a16="http://schemas.microsoft.com/office/drawing/2014/main" val="173036044"/>
                    </a:ext>
                  </a:extLst>
                </a:gridCol>
                <a:gridCol w="4049393">
                  <a:extLst>
                    <a:ext uri="{9D8B030D-6E8A-4147-A177-3AD203B41FA5}">
                      <a16:colId xmlns:a16="http://schemas.microsoft.com/office/drawing/2014/main" val="3577160851"/>
                    </a:ext>
                  </a:extLst>
                </a:gridCol>
              </a:tblGrid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Step</a:t>
                      </a:r>
                    </a:p>
                  </a:txBody>
                  <a:tcPr marL="90936" marR="90936" marT="45468" marB="4546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Queue (FIFO)</a:t>
                      </a:r>
                    </a:p>
                  </a:txBody>
                  <a:tcPr marL="90936" marR="90936" marT="45468" marB="4546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Visited Order</a:t>
                      </a:r>
                    </a:p>
                  </a:txBody>
                  <a:tcPr marL="90936" marR="90936" marT="45468" marB="4546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/>
                        <a:t>Explanation</a:t>
                      </a:r>
                    </a:p>
                  </a:txBody>
                  <a:tcPr marL="90936" marR="90936" marT="45468" marB="4546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957831"/>
                  </a:ext>
                </a:extLst>
              </a:tr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1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[A]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—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Start with A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2792549675"/>
                  </a:ext>
                </a:extLst>
              </a:tr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[B, C, D]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Add A’s neighbors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1811636828"/>
                  </a:ext>
                </a:extLst>
              </a:tr>
              <a:tr h="3462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[C, D, E, F]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A, B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Explore B’s neighbors (E, F)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3886009175"/>
                  </a:ext>
                </a:extLst>
              </a:tr>
              <a:tr h="3462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[D, E, F, G]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A, B, C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/>
                        <a:t>Explore C (no new neighbors)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4071511423"/>
                  </a:ext>
                </a:extLst>
              </a:tr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[E, F, G]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A, B, C, D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Explore D → Add G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699458356"/>
                  </a:ext>
                </a:extLst>
              </a:tr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[F, G]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/>
                        <a:t>A, B, C, D, E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Explore E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3978648855"/>
                  </a:ext>
                </a:extLst>
              </a:tr>
              <a:tr h="2422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[G]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/>
                        <a:t>A, B, C, D, E, F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Explore F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2247893485"/>
                  </a:ext>
                </a:extLst>
              </a:tr>
              <a:tr h="3462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/>
                        <a:t>[]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/>
                        <a:t>A, B, C, D, E, F, G</a:t>
                      </a:r>
                    </a:p>
                  </a:txBody>
                  <a:tcPr marL="90936" marR="90936" marT="45468" marB="4546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800" dirty="0"/>
                        <a:t>Explore G (no new nodes)</a:t>
                      </a:r>
                    </a:p>
                  </a:txBody>
                  <a:tcPr marL="90936" marR="90936" marT="45468" marB="45468" anchor="ctr"/>
                </a:tc>
                <a:extLst>
                  <a:ext uri="{0D108BD9-81ED-4DB2-BD59-A6C34878D82A}">
                    <a16:rowId xmlns:a16="http://schemas.microsoft.com/office/drawing/2014/main" val="68892520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0DAB4-574D-D429-E7F1-9CDAB454F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411F3F-52E5-4138-2C8D-19B508C6E43B}"/>
              </a:ext>
            </a:extLst>
          </p:cNvPr>
          <p:cNvGrpSpPr/>
          <p:nvPr/>
        </p:nvGrpSpPr>
        <p:grpSpPr>
          <a:xfrm>
            <a:off x="8613908" y="1053969"/>
            <a:ext cx="3411830" cy="2708405"/>
            <a:chOff x="4432040" y="1473771"/>
            <a:chExt cx="3742290" cy="278985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C29A7A-CD00-019E-29CB-C87A25FACB0B}"/>
                </a:ext>
              </a:extLst>
            </p:cNvPr>
            <p:cNvSpPr/>
            <p:nvPr/>
          </p:nvSpPr>
          <p:spPr>
            <a:xfrm>
              <a:off x="5978524" y="1473771"/>
              <a:ext cx="531845" cy="531845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6CC06E-78C5-26E1-CCC8-C1C5CDE28094}"/>
                </a:ext>
              </a:extLst>
            </p:cNvPr>
            <p:cNvSpPr/>
            <p:nvPr/>
          </p:nvSpPr>
          <p:spPr>
            <a:xfrm>
              <a:off x="4963885" y="2519265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D2FD0B-9F8D-1745-9DB6-7F0F25EBDBF7}"/>
                </a:ext>
              </a:extLst>
            </p:cNvPr>
            <p:cNvSpPr/>
            <p:nvPr/>
          </p:nvSpPr>
          <p:spPr>
            <a:xfrm>
              <a:off x="5978524" y="2519265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F436CED-CE52-D747-1AE8-C3F05C77DD00}"/>
                </a:ext>
              </a:extLst>
            </p:cNvPr>
            <p:cNvSpPr/>
            <p:nvPr/>
          </p:nvSpPr>
          <p:spPr>
            <a:xfrm>
              <a:off x="7135520" y="2519264"/>
              <a:ext cx="531845" cy="53184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B953364-7E93-8189-6D7F-D04FCC7A2D65}"/>
                </a:ext>
              </a:extLst>
            </p:cNvPr>
            <p:cNvSpPr/>
            <p:nvPr/>
          </p:nvSpPr>
          <p:spPr>
            <a:xfrm>
              <a:off x="4432040" y="3731779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E4C8C7-103E-DC17-16C2-734E04F9C3F8}"/>
                </a:ext>
              </a:extLst>
            </p:cNvPr>
            <p:cNvSpPr/>
            <p:nvPr/>
          </p:nvSpPr>
          <p:spPr>
            <a:xfrm>
              <a:off x="5508560" y="3731779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EA5FD67-FC96-82B9-8151-DF74934EE3CC}"/>
                </a:ext>
              </a:extLst>
            </p:cNvPr>
            <p:cNvSpPr/>
            <p:nvPr/>
          </p:nvSpPr>
          <p:spPr>
            <a:xfrm>
              <a:off x="7642485" y="3731778"/>
              <a:ext cx="531845" cy="531845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32B0769-14F7-6AD6-CB20-45E820E33641}"/>
                </a:ext>
              </a:extLst>
            </p:cNvPr>
            <p:cNvCxnSpPr>
              <a:cxnSpLocks/>
              <a:stCxn id="7" idx="3"/>
              <a:endCxn id="8" idx="7"/>
            </p:cNvCxnSpPr>
            <p:nvPr/>
          </p:nvCxnSpPr>
          <p:spPr>
            <a:xfrm flipH="1">
              <a:off x="5417844" y="1927729"/>
              <a:ext cx="638567" cy="6694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95402BA-2981-ED03-D669-4EEE09F70128}"/>
                </a:ext>
              </a:extLst>
            </p:cNvPr>
            <p:cNvCxnSpPr>
              <a:stCxn id="7" idx="4"/>
              <a:endCxn id="9" idx="0"/>
            </p:cNvCxnSpPr>
            <p:nvPr/>
          </p:nvCxnSpPr>
          <p:spPr>
            <a:xfrm>
              <a:off x="6244447" y="2005616"/>
              <a:ext cx="0" cy="5136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7C80F9B-EB83-85E5-7D20-EF86FC929483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6432482" y="1927729"/>
              <a:ext cx="780925" cy="6694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13BCE62-E210-8D9F-512D-E2419594C38D}"/>
                </a:ext>
              </a:extLst>
            </p:cNvPr>
            <p:cNvCxnSpPr>
              <a:stCxn id="8" idx="3"/>
              <a:endCxn id="11" idx="0"/>
            </p:cNvCxnSpPr>
            <p:nvPr/>
          </p:nvCxnSpPr>
          <p:spPr>
            <a:xfrm flipH="1">
              <a:off x="4697963" y="2973223"/>
              <a:ext cx="343809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D52D0CC-8DD6-F668-C934-85EA9CBCB920}"/>
                </a:ext>
              </a:extLst>
            </p:cNvPr>
            <p:cNvCxnSpPr>
              <a:cxnSpLocks/>
              <a:stCxn id="8" idx="5"/>
              <a:endCxn id="12" idx="0"/>
            </p:cNvCxnSpPr>
            <p:nvPr/>
          </p:nvCxnSpPr>
          <p:spPr>
            <a:xfrm>
              <a:off x="5417843" y="2973223"/>
              <a:ext cx="356640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69286BA-0E84-4CEC-DCF0-FA491CFEEB4B}"/>
                </a:ext>
              </a:extLst>
            </p:cNvPr>
            <p:cNvCxnSpPr>
              <a:stCxn id="10" idx="5"/>
              <a:endCxn id="13" idx="0"/>
            </p:cNvCxnSpPr>
            <p:nvPr/>
          </p:nvCxnSpPr>
          <p:spPr>
            <a:xfrm>
              <a:off x="7589478" y="2973222"/>
              <a:ext cx="318930" cy="75855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B5DC6FF-8F22-1DEA-4628-70C6618002B6}"/>
              </a:ext>
            </a:extLst>
          </p:cNvPr>
          <p:cNvSpPr txBox="1"/>
          <p:nvPr/>
        </p:nvSpPr>
        <p:spPr>
          <a:xfrm>
            <a:off x="589544" y="5154770"/>
            <a:ext cx="11288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Final BFS Traversal:</a:t>
            </a:r>
            <a:r>
              <a:rPr lang="pt-BR" sz="3200" dirty="0"/>
              <a:t> </a:t>
            </a:r>
            <a:r>
              <a:rPr lang="pt-BR" sz="3200" b="1" dirty="0"/>
              <a:t>A → B → C → D → E → F → G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9814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37026-365F-D19C-D37E-041DFB38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Complex Question: Breadth-First Search (BFS)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ED2B5-E791-B2AE-C01B-564AE1A8E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381517" cy="5724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Consider the following </a:t>
            </a:r>
            <a:r>
              <a:rPr lang="en-GB" b="1" dirty="0"/>
              <a:t>unweighted graph</a:t>
            </a:r>
            <a:r>
              <a:rPr lang="en-GB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Perform </a:t>
            </a:r>
            <a:r>
              <a:rPr lang="en-GB" b="1" dirty="0"/>
              <a:t>Breadth-First Search (BFS)</a:t>
            </a:r>
            <a:r>
              <a:rPr lang="en-GB" dirty="0"/>
              <a:t> starting from </a:t>
            </a:r>
            <a:r>
              <a:rPr lang="en-GB" b="1" dirty="0"/>
              <a:t>node A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You are required to: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Write the </a:t>
            </a:r>
            <a:r>
              <a:rPr lang="en-GB" b="1" dirty="0"/>
              <a:t>order of node traversal (Visited order)</a:t>
            </a:r>
            <a:r>
              <a:rPr lang="en-GB" dirty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Show the </a:t>
            </a:r>
            <a:r>
              <a:rPr lang="en-GB" b="1" dirty="0"/>
              <a:t>queue contents</a:t>
            </a:r>
            <a:r>
              <a:rPr lang="en-GB" dirty="0"/>
              <a:t> at each step.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Determine the </a:t>
            </a:r>
            <a:r>
              <a:rPr lang="en-GB" b="1" dirty="0"/>
              <a:t>shortest path</a:t>
            </a:r>
            <a:r>
              <a:rPr lang="en-GB" dirty="0"/>
              <a:t> from </a:t>
            </a:r>
            <a:r>
              <a:rPr lang="en-GB" b="1" dirty="0"/>
              <a:t>A to K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4879A-3585-033A-A120-44ADB0AC6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A34A6B-80A0-3977-8929-2EC2DC946162}"/>
              </a:ext>
            </a:extLst>
          </p:cNvPr>
          <p:cNvGrpSpPr/>
          <p:nvPr/>
        </p:nvGrpSpPr>
        <p:grpSpPr>
          <a:xfrm>
            <a:off x="7817581" y="1092772"/>
            <a:ext cx="3573102" cy="3012504"/>
            <a:chOff x="7817581" y="1092772"/>
            <a:chExt cx="3573102" cy="301250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C565084-E571-4FB8-17CB-EECBC6BDA404}"/>
                </a:ext>
              </a:extLst>
            </p:cNvPr>
            <p:cNvSpPr/>
            <p:nvPr/>
          </p:nvSpPr>
          <p:spPr>
            <a:xfrm>
              <a:off x="9356609" y="1092772"/>
              <a:ext cx="389605" cy="4145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C15F0CA-86A2-1BB6-A449-F599C2CB767C}"/>
                </a:ext>
              </a:extLst>
            </p:cNvPr>
            <p:cNvSpPr/>
            <p:nvPr/>
          </p:nvSpPr>
          <p:spPr>
            <a:xfrm>
              <a:off x="8613332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5BA7C8-07AD-A55F-6CD7-A0F6F57F5FDD}"/>
                </a:ext>
              </a:extLst>
            </p:cNvPr>
            <p:cNvSpPr/>
            <p:nvPr/>
          </p:nvSpPr>
          <p:spPr>
            <a:xfrm>
              <a:off x="9356609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83A5EE3-FC49-8D48-EEAE-5160E69FE124}"/>
                </a:ext>
              </a:extLst>
            </p:cNvPr>
            <p:cNvSpPr/>
            <p:nvPr/>
          </p:nvSpPr>
          <p:spPr>
            <a:xfrm>
              <a:off x="10204170" y="1907589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6DC86F-A00D-9E2B-A0FB-ED127A07220B}"/>
                </a:ext>
              </a:extLst>
            </p:cNvPr>
            <p:cNvSpPr/>
            <p:nvPr/>
          </p:nvSpPr>
          <p:spPr>
            <a:xfrm>
              <a:off x="8223727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20B41FC-C508-1B5D-D6D5-51D51A880495}"/>
                </a:ext>
              </a:extLst>
            </p:cNvPr>
            <p:cNvSpPr/>
            <p:nvPr/>
          </p:nvSpPr>
          <p:spPr>
            <a:xfrm>
              <a:off x="8948835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8A6511E-73E0-730F-3EB7-DA3F0A4D7C27}"/>
                </a:ext>
              </a:extLst>
            </p:cNvPr>
            <p:cNvSpPr/>
            <p:nvPr/>
          </p:nvSpPr>
          <p:spPr>
            <a:xfrm>
              <a:off x="1057554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8DE9CB-434E-3192-57D9-FC2CBC3EA445}"/>
                </a:ext>
              </a:extLst>
            </p:cNvPr>
            <p:cNvCxnSpPr>
              <a:stCxn id="6" idx="3"/>
              <a:endCxn id="7" idx="7"/>
            </p:cNvCxnSpPr>
            <p:nvPr/>
          </p:nvCxnSpPr>
          <p:spPr>
            <a:xfrm flipH="1">
              <a:off x="8945880" y="1446569"/>
              <a:ext cx="467785" cy="521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C244D64-139F-D06C-B50C-F1EC9464E361}"/>
                </a:ext>
              </a:extLst>
            </p:cNvPr>
            <p:cNvCxnSpPr>
              <a:stCxn id="6" idx="4"/>
              <a:endCxn id="8" idx="0"/>
            </p:cNvCxnSpPr>
            <p:nvPr/>
          </p:nvCxnSpPr>
          <p:spPr>
            <a:xfrm>
              <a:off x="9551412" y="1507272"/>
              <a:ext cx="0" cy="4003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95F942-F3D0-A4F4-8BC8-D31F91180AB4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9689157" y="1446569"/>
              <a:ext cx="572069" cy="521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C0CC8A-FCFE-BF94-DB6E-501292D4A587}"/>
                </a:ext>
              </a:extLst>
            </p:cNvPr>
            <p:cNvCxnSpPr>
              <a:stCxn id="7" idx="3"/>
              <a:endCxn id="10" idx="0"/>
            </p:cNvCxnSpPr>
            <p:nvPr/>
          </p:nvCxnSpPr>
          <p:spPr>
            <a:xfrm flipH="1">
              <a:off x="8418530" y="2261387"/>
              <a:ext cx="251858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A0BFDFF-0EB2-E819-7489-F3D9EE43B96B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8945881" y="2261388"/>
              <a:ext cx="19775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933103-5D5F-7FFA-309D-A12F65694D98}"/>
                </a:ext>
              </a:extLst>
            </p:cNvPr>
            <p:cNvCxnSpPr>
              <a:stCxn id="9" idx="5"/>
              <a:endCxn id="12" idx="0"/>
            </p:cNvCxnSpPr>
            <p:nvPr/>
          </p:nvCxnSpPr>
          <p:spPr>
            <a:xfrm>
              <a:off x="10536719" y="2261386"/>
              <a:ext cx="233633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87FF9CF-7DC5-5E12-3C41-9D208357E282}"/>
                </a:ext>
              </a:extLst>
            </p:cNvPr>
            <p:cNvSpPr/>
            <p:nvPr/>
          </p:nvSpPr>
          <p:spPr>
            <a:xfrm>
              <a:off x="973448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627A9C-67C7-109E-613B-475837906336}"/>
                </a:ext>
              </a:extLst>
            </p:cNvPr>
            <p:cNvCxnSpPr>
              <a:stCxn id="8" idx="5"/>
              <a:endCxn id="19" idx="0"/>
            </p:cNvCxnSpPr>
            <p:nvPr/>
          </p:nvCxnSpPr>
          <p:spPr>
            <a:xfrm>
              <a:off x="9689158" y="2261388"/>
              <a:ext cx="240134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BDD2FFA-3734-D997-3196-172DD2979919}"/>
                </a:ext>
              </a:extLst>
            </p:cNvPr>
            <p:cNvCxnSpPr>
              <a:stCxn id="8" idx="3"/>
              <a:endCxn id="11" idx="0"/>
            </p:cNvCxnSpPr>
            <p:nvPr/>
          </p:nvCxnSpPr>
          <p:spPr>
            <a:xfrm flipH="1">
              <a:off x="9143638" y="2261388"/>
              <a:ext cx="27002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FF45221-733F-5588-8185-D1F1FDF255D2}"/>
                </a:ext>
              </a:extLst>
            </p:cNvPr>
            <p:cNvCxnSpPr>
              <a:stCxn id="9" idx="3"/>
              <a:endCxn id="19" idx="0"/>
            </p:cNvCxnSpPr>
            <p:nvPr/>
          </p:nvCxnSpPr>
          <p:spPr>
            <a:xfrm flipH="1">
              <a:off x="9929292" y="2261387"/>
              <a:ext cx="331934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28BB1A5-49C5-DEC1-A81B-282DA3CF2FAC}"/>
                </a:ext>
              </a:extLst>
            </p:cNvPr>
            <p:cNvSpPr/>
            <p:nvPr/>
          </p:nvSpPr>
          <p:spPr>
            <a:xfrm>
              <a:off x="7817581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8BE494F-8C00-A875-F286-760FDEEE8E7C}"/>
                </a:ext>
              </a:extLst>
            </p:cNvPr>
            <p:cNvSpPr/>
            <p:nvPr/>
          </p:nvSpPr>
          <p:spPr>
            <a:xfrm>
              <a:off x="8556275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5FE97A2-1677-C352-1490-0EDB562A04E5}"/>
                </a:ext>
              </a:extLst>
            </p:cNvPr>
            <p:cNvSpPr/>
            <p:nvPr/>
          </p:nvSpPr>
          <p:spPr>
            <a:xfrm>
              <a:off x="9356220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94DFEBF-7130-DCE3-CA8B-3C8D8F05FCD1}"/>
                </a:ext>
              </a:extLst>
            </p:cNvPr>
            <p:cNvSpPr/>
            <p:nvPr/>
          </p:nvSpPr>
          <p:spPr>
            <a:xfrm>
              <a:off x="10178649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DE54FE2-A05C-8A1A-C349-8275A5F36A52}"/>
                </a:ext>
              </a:extLst>
            </p:cNvPr>
            <p:cNvSpPr/>
            <p:nvPr/>
          </p:nvSpPr>
          <p:spPr>
            <a:xfrm>
              <a:off x="11001078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F41EE2A-1B86-F7CA-0EA4-A2DB2F9274F2}"/>
                </a:ext>
              </a:extLst>
            </p:cNvPr>
            <p:cNvCxnSpPr>
              <a:stCxn id="10" idx="3"/>
              <a:endCxn id="28" idx="0"/>
            </p:cNvCxnSpPr>
            <p:nvPr/>
          </p:nvCxnSpPr>
          <p:spPr>
            <a:xfrm flipH="1">
              <a:off x="8012384" y="3206374"/>
              <a:ext cx="26839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337C1EC-42DB-3D88-EDB5-59F5571C6E94}"/>
                </a:ext>
              </a:extLst>
            </p:cNvPr>
            <p:cNvCxnSpPr>
              <a:stCxn id="10" idx="5"/>
              <a:endCxn id="29" idx="0"/>
            </p:cNvCxnSpPr>
            <p:nvPr/>
          </p:nvCxnSpPr>
          <p:spPr>
            <a:xfrm>
              <a:off x="8556276" y="3206374"/>
              <a:ext cx="19480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86DD060-F39B-7D00-CEEE-20BD263305FC}"/>
                </a:ext>
              </a:extLst>
            </p:cNvPr>
            <p:cNvCxnSpPr>
              <a:stCxn id="11" idx="3"/>
              <a:endCxn id="29" idx="0"/>
            </p:cNvCxnSpPr>
            <p:nvPr/>
          </p:nvCxnSpPr>
          <p:spPr>
            <a:xfrm flipH="1">
              <a:off x="8751078" y="3206374"/>
              <a:ext cx="25481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D6F1F0C-E539-ED86-0A2F-5391AB7CADB0}"/>
                </a:ext>
              </a:extLst>
            </p:cNvPr>
            <p:cNvCxnSpPr>
              <a:stCxn id="11" idx="5"/>
              <a:endCxn id="30" idx="0"/>
            </p:cNvCxnSpPr>
            <p:nvPr/>
          </p:nvCxnSpPr>
          <p:spPr>
            <a:xfrm>
              <a:off x="9281384" y="3206374"/>
              <a:ext cx="26963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C34802A-46DD-4D9A-D53F-B8733508A990}"/>
                </a:ext>
              </a:extLst>
            </p:cNvPr>
            <p:cNvCxnSpPr>
              <a:stCxn id="19" idx="3"/>
              <a:endCxn id="30" idx="0"/>
            </p:cNvCxnSpPr>
            <p:nvPr/>
          </p:nvCxnSpPr>
          <p:spPr>
            <a:xfrm flipH="1">
              <a:off x="9551023" y="3206374"/>
              <a:ext cx="24052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2A3B7B4-ADC1-66F3-D462-5321DD6094C2}"/>
                </a:ext>
              </a:extLst>
            </p:cNvPr>
            <p:cNvCxnSpPr>
              <a:stCxn id="19" idx="5"/>
              <a:endCxn id="31" idx="0"/>
            </p:cNvCxnSpPr>
            <p:nvPr/>
          </p:nvCxnSpPr>
          <p:spPr>
            <a:xfrm>
              <a:off x="10067038" y="3206374"/>
              <a:ext cx="306414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4870D7A-702F-B144-306D-B245DC070207}"/>
                </a:ext>
              </a:extLst>
            </p:cNvPr>
            <p:cNvCxnSpPr>
              <a:stCxn id="12" idx="3"/>
              <a:endCxn id="31" idx="0"/>
            </p:cNvCxnSpPr>
            <p:nvPr/>
          </p:nvCxnSpPr>
          <p:spPr>
            <a:xfrm flipH="1">
              <a:off x="10373452" y="3206374"/>
              <a:ext cx="25915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67EB4BC-53C5-39F4-BCBD-EDD68E4D38E2}"/>
                </a:ext>
              </a:extLst>
            </p:cNvPr>
            <p:cNvCxnSpPr>
              <a:stCxn id="12" idx="5"/>
              <a:endCxn id="32" idx="0"/>
            </p:cNvCxnSpPr>
            <p:nvPr/>
          </p:nvCxnSpPr>
          <p:spPr>
            <a:xfrm>
              <a:off x="10908098" y="3206374"/>
              <a:ext cx="28778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1023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0A822-882C-B015-3BDA-D665D64B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9363-FBE5-8755-2208-5324087E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Complex Question: Breadth-First Search (BFS)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D148-03FD-2315-88E1-0F2C98FA4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653184" cy="5724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Initial Setup: </a:t>
            </a:r>
            <a:r>
              <a:rPr lang="en-GB" dirty="0"/>
              <a:t>Start node: A, Queue = [A], Visited = {}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sz="2000" dirty="0"/>
              <a:t>Final BFS Traversal Order: </a:t>
            </a:r>
            <a:r>
              <a:rPr lang="en-US" sz="2000" b="1" dirty="0">
                <a:highlight>
                  <a:srgbClr val="00FFFF"/>
                </a:highlight>
              </a:rPr>
              <a:t>A → B → C → D → E → F → G → H → I → J → K → L → M</a:t>
            </a:r>
            <a:endParaRPr lang="en-US" sz="2000" dirty="0">
              <a:highlight>
                <a:srgbClr val="00FFFF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1D577-3077-7E1A-C234-86182A5562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3AAF65-0110-9BCC-3A10-F850148B1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280558"/>
              </p:ext>
            </p:extLst>
          </p:nvPr>
        </p:nvGraphicFramePr>
        <p:xfrm>
          <a:off x="251050" y="1424186"/>
          <a:ext cx="9801788" cy="45846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3272">
                  <a:extLst>
                    <a:ext uri="{9D8B030D-6E8A-4147-A177-3AD203B41FA5}">
                      <a16:colId xmlns:a16="http://schemas.microsoft.com/office/drawing/2014/main" val="2624692096"/>
                    </a:ext>
                  </a:extLst>
                </a:gridCol>
                <a:gridCol w="1515116">
                  <a:extLst>
                    <a:ext uri="{9D8B030D-6E8A-4147-A177-3AD203B41FA5}">
                      <a16:colId xmlns:a16="http://schemas.microsoft.com/office/drawing/2014/main" val="759417652"/>
                    </a:ext>
                  </a:extLst>
                </a:gridCol>
                <a:gridCol w="2491428">
                  <a:extLst>
                    <a:ext uri="{9D8B030D-6E8A-4147-A177-3AD203B41FA5}">
                      <a16:colId xmlns:a16="http://schemas.microsoft.com/office/drawing/2014/main" val="1850984076"/>
                    </a:ext>
                  </a:extLst>
                </a:gridCol>
                <a:gridCol w="2768542">
                  <a:extLst>
                    <a:ext uri="{9D8B030D-6E8A-4147-A177-3AD203B41FA5}">
                      <a16:colId xmlns:a16="http://schemas.microsoft.com/office/drawing/2014/main" val="2094380171"/>
                    </a:ext>
                  </a:extLst>
                </a:gridCol>
                <a:gridCol w="2393430">
                  <a:extLst>
                    <a:ext uri="{9D8B030D-6E8A-4147-A177-3AD203B41FA5}">
                      <a16:colId xmlns:a16="http://schemas.microsoft.com/office/drawing/2014/main" val="1953658476"/>
                    </a:ext>
                  </a:extLst>
                </a:gridCol>
              </a:tblGrid>
              <a:tr h="290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Step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Current Node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Queue (Before Dequeue)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Visited Order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Newly Enqueued Nodes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90371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A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[A]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A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B, C, D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400419403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2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B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[B, C, D]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A, B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E, F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627293348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3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C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[C, D, E, F]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A, B, C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G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09194637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4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[D, E, F, G]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A, B, C, 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H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139111780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5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E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[E, F, G, H]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I, J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249341643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6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F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[F, G, H, I, J]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28312383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7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G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[G, H, I, J]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K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240992758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8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[H, I, J, K]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(Already visited)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2227974464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9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H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[I, J, K]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L, M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372819096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10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I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[J, K, 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495473277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11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J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[K, 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I, J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612970456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12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K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I, J, K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208803850"/>
                  </a:ext>
                </a:extLst>
              </a:tr>
            </a:tbl>
          </a:graphicData>
        </a:graphic>
      </p:graphicFrame>
      <p:grpSp>
        <p:nvGrpSpPr>
          <p:cNvPr id="49" name="Group 48">
            <a:extLst>
              <a:ext uri="{FF2B5EF4-FFF2-40B4-BE49-F238E27FC236}">
                <a16:creationId xmlns:a16="http://schemas.microsoft.com/office/drawing/2014/main" id="{212F736B-FC28-CF58-C48C-D280F1D7D6ED}"/>
              </a:ext>
            </a:extLst>
          </p:cNvPr>
          <p:cNvGrpSpPr/>
          <p:nvPr/>
        </p:nvGrpSpPr>
        <p:grpSpPr>
          <a:xfrm>
            <a:off x="9579098" y="1030446"/>
            <a:ext cx="2517271" cy="2122326"/>
            <a:chOff x="7817581" y="1092772"/>
            <a:chExt cx="3573102" cy="301250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A807AD5-1DED-E3FD-837E-5EEC0E344DC6}"/>
                </a:ext>
              </a:extLst>
            </p:cNvPr>
            <p:cNvSpPr/>
            <p:nvPr/>
          </p:nvSpPr>
          <p:spPr>
            <a:xfrm>
              <a:off x="9356609" y="1092772"/>
              <a:ext cx="389605" cy="4145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BAD7A87-FC24-E2BE-32FE-FBEB3848388B}"/>
                </a:ext>
              </a:extLst>
            </p:cNvPr>
            <p:cNvSpPr/>
            <p:nvPr/>
          </p:nvSpPr>
          <p:spPr>
            <a:xfrm>
              <a:off x="8613332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C382E2-58A3-AEDD-A44D-066C200BAB73}"/>
                </a:ext>
              </a:extLst>
            </p:cNvPr>
            <p:cNvSpPr/>
            <p:nvPr/>
          </p:nvSpPr>
          <p:spPr>
            <a:xfrm>
              <a:off x="9356609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512201B-01ED-FA71-1EA8-9DBEA4187F0C}"/>
                </a:ext>
              </a:extLst>
            </p:cNvPr>
            <p:cNvSpPr/>
            <p:nvPr/>
          </p:nvSpPr>
          <p:spPr>
            <a:xfrm>
              <a:off x="10204170" y="1907589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A2415D-976B-BBB7-8CC8-B3A29E713CE0}"/>
                </a:ext>
              </a:extLst>
            </p:cNvPr>
            <p:cNvSpPr/>
            <p:nvPr/>
          </p:nvSpPr>
          <p:spPr>
            <a:xfrm>
              <a:off x="8223727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A4C9EC9-5744-6D73-813F-70B79043E1C2}"/>
                </a:ext>
              </a:extLst>
            </p:cNvPr>
            <p:cNvSpPr/>
            <p:nvPr/>
          </p:nvSpPr>
          <p:spPr>
            <a:xfrm>
              <a:off x="8948835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C330B0C-703D-503C-3D91-F1144279CE25}"/>
                </a:ext>
              </a:extLst>
            </p:cNvPr>
            <p:cNvSpPr/>
            <p:nvPr/>
          </p:nvSpPr>
          <p:spPr>
            <a:xfrm>
              <a:off x="1057554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4ABB88-7309-6843-BF74-E1714A0C119D}"/>
                </a:ext>
              </a:extLst>
            </p:cNvPr>
            <p:cNvCxnSpPr>
              <a:stCxn id="6" idx="3"/>
              <a:endCxn id="7" idx="7"/>
            </p:cNvCxnSpPr>
            <p:nvPr/>
          </p:nvCxnSpPr>
          <p:spPr>
            <a:xfrm flipH="1">
              <a:off x="8945880" y="1446569"/>
              <a:ext cx="467785" cy="521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3E1D555-4810-00F4-B8ED-38886237E43A}"/>
                </a:ext>
              </a:extLst>
            </p:cNvPr>
            <p:cNvCxnSpPr>
              <a:stCxn id="6" idx="4"/>
              <a:endCxn id="8" idx="0"/>
            </p:cNvCxnSpPr>
            <p:nvPr/>
          </p:nvCxnSpPr>
          <p:spPr>
            <a:xfrm>
              <a:off x="9551412" y="1507272"/>
              <a:ext cx="0" cy="4003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ECE4F4-D9CD-E03A-9DE3-05E2F48764E3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9689157" y="1446569"/>
              <a:ext cx="572069" cy="521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C09997-BA0E-9D04-CC83-B02E1FEE2FC9}"/>
                </a:ext>
              </a:extLst>
            </p:cNvPr>
            <p:cNvCxnSpPr>
              <a:stCxn id="7" idx="3"/>
              <a:endCxn id="10" idx="0"/>
            </p:cNvCxnSpPr>
            <p:nvPr/>
          </p:nvCxnSpPr>
          <p:spPr>
            <a:xfrm flipH="1">
              <a:off x="8418530" y="2261387"/>
              <a:ext cx="251858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B9F3FB-C892-4A18-D0C5-09080AC98E8E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8945881" y="2261388"/>
              <a:ext cx="19775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6319F5C-BE55-E2E6-8F04-7081565A94C9}"/>
                </a:ext>
              </a:extLst>
            </p:cNvPr>
            <p:cNvCxnSpPr>
              <a:stCxn id="9" idx="5"/>
              <a:endCxn id="12" idx="0"/>
            </p:cNvCxnSpPr>
            <p:nvPr/>
          </p:nvCxnSpPr>
          <p:spPr>
            <a:xfrm>
              <a:off x="10536719" y="2261386"/>
              <a:ext cx="233633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DEC0C1F-D4BC-1864-FC87-724A555D3F79}"/>
                </a:ext>
              </a:extLst>
            </p:cNvPr>
            <p:cNvSpPr/>
            <p:nvPr/>
          </p:nvSpPr>
          <p:spPr>
            <a:xfrm>
              <a:off x="973448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4DF510A-E982-079A-13AA-559E1F0B8AEC}"/>
                </a:ext>
              </a:extLst>
            </p:cNvPr>
            <p:cNvCxnSpPr>
              <a:stCxn id="8" idx="5"/>
              <a:endCxn id="19" idx="0"/>
            </p:cNvCxnSpPr>
            <p:nvPr/>
          </p:nvCxnSpPr>
          <p:spPr>
            <a:xfrm>
              <a:off x="9689158" y="2261388"/>
              <a:ext cx="240134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4027069-2461-3031-9238-97A392F5C25C}"/>
                </a:ext>
              </a:extLst>
            </p:cNvPr>
            <p:cNvCxnSpPr>
              <a:stCxn id="8" idx="3"/>
              <a:endCxn id="11" idx="0"/>
            </p:cNvCxnSpPr>
            <p:nvPr/>
          </p:nvCxnSpPr>
          <p:spPr>
            <a:xfrm flipH="1">
              <a:off x="9143638" y="2261388"/>
              <a:ext cx="27002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D0EBF78-9575-4408-9031-27C69F8C5ED2}"/>
                </a:ext>
              </a:extLst>
            </p:cNvPr>
            <p:cNvCxnSpPr>
              <a:stCxn id="9" idx="3"/>
              <a:endCxn id="19" idx="0"/>
            </p:cNvCxnSpPr>
            <p:nvPr/>
          </p:nvCxnSpPr>
          <p:spPr>
            <a:xfrm flipH="1">
              <a:off x="9929292" y="2261387"/>
              <a:ext cx="331934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4DB6EBF-E46A-A4B9-B7AC-5FA7DBA5ECD8}"/>
                </a:ext>
              </a:extLst>
            </p:cNvPr>
            <p:cNvSpPr/>
            <p:nvPr/>
          </p:nvSpPr>
          <p:spPr>
            <a:xfrm>
              <a:off x="7817581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2A38B5-3363-D522-9E0C-2ABB2458A6EA}"/>
                </a:ext>
              </a:extLst>
            </p:cNvPr>
            <p:cNvSpPr/>
            <p:nvPr/>
          </p:nvSpPr>
          <p:spPr>
            <a:xfrm>
              <a:off x="8556275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61857C3-1270-46B6-8C61-B9A62C766B35}"/>
                </a:ext>
              </a:extLst>
            </p:cNvPr>
            <p:cNvSpPr/>
            <p:nvPr/>
          </p:nvSpPr>
          <p:spPr>
            <a:xfrm>
              <a:off x="9356220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BA782D4-9AC7-AE68-95E0-985D33209E77}"/>
                </a:ext>
              </a:extLst>
            </p:cNvPr>
            <p:cNvSpPr/>
            <p:nvPr/>
          </p:nvSpPr>
          <p:spPr>
            <a:xfrm>
              <a:off x="10178649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3603527-5D9F-1A42-F1F5-8DC828FD4BB0}"/>
                </a:ext>
              </a:extLst>
            </p:cNvPr>
            <p:cNvSpPr/>
            <p:nvPr/>
          </p:nvSpPr>
          <p:spPr>
            <a:xfrm>
              <a:off x="11001078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3CD377E-C3AC-F0BF-9BBF-8E3E9BFD2624}"/>
                </a:ext>
              </a:extLst>
            </p:cNvPr>
            <p:cNvCxnSpPr>
              <a:stCxn id="10" idx="3"/>
              <a:endCxn id="28" idx="0"/>
            </p:cNvCxnSpPr>
            <p:nvPr/>
          </p:nvCxnSpPr>
          <p:spPr>
            <a:xfrm flipH="1">
              <a:off x="8012384" y="3206374"/>
              <a:ext cx="26839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FF8E10-C883-9987-802B-124161133A49}"/>
                </a:ext>
              </a:extLst>
            </p:cNvPr>
            <p:cNvCxnSpPr>
              <a:stCxn id="10" idx="5"/>
              <a:endCxn id="29" idx="0"/>
            </p:cNvCxnSpPr>
            <p:nvPr/>
          </p:nvCxnSpPr>
          <p:spPr>
            <a:xfrm>
              <a:off x="8556276" y="3206374"/>
              <a:ext cx="19480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5323A74-F28E-9B5C-D6DF-1CDCA277585A}"/>
                </a:ext>
              </a:extLst>
            </p:cNvPr>
            <p:cNvCxnSpPr>
              <a:stCxn id="11" idx="3"/>
              <a:endCxn id="29" idx="0"/>
            </p:cNvCxnSpPr>
            <p:nvPr/>
          </p:nvCxnSpPr>
          <p:spPr>
            <a:xfrm flipH="1">
              <a:off x="8751078" y="3206374"/>
              <a:ext cx="25481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D6C77B-0C54-3F0C-8D72-990314ACACD4}"/>
                </a:ext>
              </a:extLst>
            </p:cNvPr>
            <p:cNvCxnSpPr>
              <a:stCxn id="11" idx="5"/>
              <a:endCxn id="30" idx="0"/>
            </p:cNvCxnSpPr>
            <p:nvPr/>
          </p:nvCxnSpPr>
          <p:spPr>
            <a:xfrm>
              <a:off x="9281384" y="3206374"/>
              <a:ext cx="26963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D6D4DA6-F9F5-6E26-17D1-0E599D876C70}"/>
                </a:ext>
              </a:extLst>
            </p:cNvPr>
            <p:cNvCxnSpPr>
              <a:stCxn id="19" idx="3"/>
              <a:endCxn id="30" idx="0"/>
            </p:cNvCxnSpPr>
            <p:nvPr/>
          </p:nvCxnSpPr>
          <p:spPr>
            <a:xfrm flipH="1">
              <a:off x="9551023" y="3206374"/>
              <a:ext cx="24052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34180AD-6CDF-C108-9A33-AFCA69AEFB84}"/>
                </a:ext>
              </a:extLst>
            </p:cNvPr>
            <p:cNvCxnSpPr>
              <a:stCxn id="19" idx="5"/>
              <a:endCxn id="31" idx="0"/>
            </p:cNvCxnSpPr>
            <p:nvPr/>
          </p:nvCxnSpPr>
          <p:spPr>
            <a:xfrm>
              <a:off x="10067038" y="3206374"/>
              <a:ext cx="306414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68EF06A-550B-7530-8D35-D6879644EFFB}"/>
                </a:ext>
              </a:extLst>
            </p:cNvPr>
            <p:cNvCxnSpPr>
              <a:stCxn id="12" idx="3"/>
              <a:endCxn id="31" idx="0"/>
            </p:cNvCxnSpPr>
            <p:nvPr/>
          </p:nvCxnSpPr>
          <p:spPr>
            <a:xfrm flipH="1">
              <a:off x="10373452" y="3206374"/>
              <a:ext cx="25915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1814024-46B3-6EAE-C479-C3F851DBE3AB}"/>
                </a:ext>
              </a:extLst>
            </p:cNvPr>
            <p:cNvCxnSpPr>
              <a:stCxn id="12" idx="5"/>
              <a:endCxn id="32" idx="0"/>
            </p:cNvCxnSpPr>
            <p:nvPr/>
          </p:nvCxnSpPr>
          <p:spPr>
            <a:xfrm>
              <a:off x="10908098" y="3206374"/>
              <a:ext cx="28778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601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8638-4E26-81F5-7C3E-B171522F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E35C-257E-EDC9-2B4E-FCF181CE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Complex Question: Breadth-First Search (BFS)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EFC66-7326-428D-1669-8DA7DACA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653184" cy="5724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>
                <a:highlight>
                  <a:srgbClr val="00FFFF"/>
                </a:highlight>
              </a:rPr>
              <a:t>Shortest Path from A to K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000" b="1" dirty="0"/>
              <a:t>			</a:t>
            </a:r>
            <a:r>
              <a:rPr lang="en-GB" sz="2000" b="1" dirty="0">
                <a:highlight>
                  <a:srgbClr val="00FF00"/>
                </a:highlight>
              </a:rPr>
              <a:t>Shortest Path: A → C → G → K</a:t>
            </a:r>
            <a:endParaRPr lang="en-US" sz="2000" b="1" dirty="0">
              <a:highlight>
                <a:srgbClr val="00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DC55A-D8D5-60CE-3041-B8F966DD4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8F6066A-A9C1-4E6E-9DB1-858A70F08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22273"/>
              </p:ext>
            </p:extLst>
          </p:nvPr>
        </p:nvGraphicFramePr>
        <p:xfrm>
          <a:off x="251050" y="1424186"/>
          <a:ext cx="9801788" cy="46304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3272">
                  <a:extLst>
                    <a:ext uri="{9D8B030D-6E8A-4147-A177-3AD203B41FA5}">
                      <a16:colId xmlns:a16="http://schemas.microsoft.com/office/drawing/2014/main" val="2624692096"/>
                    </a:ext>
                  </a:extLst>
                </a:gridCol>
                <a:gridCol w="1515116">
                  <a:extLst>
                    <a:ext uri="{9D8B030D-6E8A-4147-A177-3AD203B41FA5}">
                      <a16:colId xmlns:a16="http://schemas.microsoft.com/office/drawing/2014/main" val="759417652"/>
                    </a:ext>
                  </a:extLst>
                </a:gridCol>
                <a:gridCol w="2491428">
                  <a:extLst>
                    <a:ext uri="{9D8B030D-6E8A-4147-A177-3AD203B41FA5}">
                      <a16:colId xmlns:a16="http://schemas.microsoft.com/office/drawing/2014/main" val="1850984076"/>
                    </a:ext>
                  </a:extLst>
                </a:gridCol>
                <a:gridCol w="2768542">
                  <a:extLst>
                    <a:ext uri="{9D8B030D-6E8A-4147-A177-3AD203B41FA5}">
                      <a16:colId xmlns:a16="http://schemas.microsoft.com/office/drawing/2014/main" val="2094380171"/>
                    </a:ext>
                  </a:extLst>
                </a:gridCol>
                <a:gridCol w="2393430">
                  <a:extLst>
                    <a:ext uri="{9D8B030D-6E8A-4147-A177-3AD203B41FA5}">
                      <a16:colId xmlns:a16="http://schemas.microsoft.com/office/drawing/2014/main" val="1953658476"/>
                    </a:ext>
                  </a:extLst>
                </a:gridCol>
              </a:tblGrid>
              <a:tr h="2904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Step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Current Node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Queue (Before Dequeue)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Visited Order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Newly Enqueued Nodes</a:t>
                      </a:r>
                    </a:p>
                  </a:txBody>
                  <a:tcPr marL="88776" marR="88776" marT="44388" marB="44388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790371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A</a:t>
                      </a:r>
                    </a:p>
                  </a:txBody>
                  <a:tcPr marL="88776" marR="88776" marT="44388" marB="44388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[A]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A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B, </a:t>
                      </a:r>
                      <a:r>
                        <a:rPr lang="en-US" sz="1800" b="1" dirty="0">
                          <a:highlight>
                            <a:srgbClr val="00FF00"/>
                          </a:highlight>
                        </a:rPr>
                        <a:t>C</a:t>
                      </a:r>
                      <a:r>
                        <a:rPr lang="en-US" sz="1700" b="0" dirty="0"/>
                        <a:t>, D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400419403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2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B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[B, C, D]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A, B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E, F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627293348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3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C</a:t>
                      </a:r>
                    </a:p>
                  </a:txBody>
                  <a:tcPr marL="88776" marR="88776" marT="44388" marB="44388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[C, D, E, F]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A, B, C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highlight>
                            <a:srgbClr val="00FF00"/>
                          </a:highlight>
                        </a:rPr>
                        <a:t>G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09194637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4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[D, E, F, G]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A, B, C, 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H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139111780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5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E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[E, F, G, H]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I, J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249341643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6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F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[F, G, H, I, J]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283123839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7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G</a:t>
                      </a:r>
                    </a:p>
                  </a:txBody>
                  <a:tcPr marL="88776" marR="88776" marT="44388" marB="44388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[G, H, I, J]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highlight>
                            <a:srgbClr val="00FF00"/>
                          </a:highlight>
                        </a:rPr>
                        <a:t>K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240992758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8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D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[H, I, J, K]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(Already visited)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2227974464"/>
                  </a:ext>
                </a:extLst>
              </a:tr>
              <a:tr h="3315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9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H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[I, J, K]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L, M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1372819096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10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I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[J, K, 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495473277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11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J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[K, 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I, J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—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612970456"/>
                  </a:ext>
                </a:extLst>
              </a:tr>
              <a:tr h="3687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12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dirty="0"/>
                        <a:t>K</a:t>
                      </a:r>
                    </a:p>
                  </a:txBody>
                  <a:tcPr marL="88776" marR="88776" marT="44388" marB="44388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/>
                        <a:t>[L, M]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700" b="0"/>
                        <a:t>A, B, C, D, E, F, G, H, I, J, K</a:t>
                      </a:r>
                    </a:p>
                  </a:txBody>
                  <a:tcPr marL="88776" marR="88776" marT="44388" marB="4438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0" dirty="0"/>
                        <a:t>Goal Reached!</a:t>
                      </a:r>
                    </a:p>
                  </a:txBody>
                  <a:tcPr marL="88776" marR="88776" marT="44388" marB="44388" anchor="ctr"/>
                </a:tc>
                <a:extLst>
                  <a:ext uri="{0D108BD9-81ED-4DB2-BD59-A6C34878D82A}">
                    <a16:rowId xmlns:a16="http://schemas.microsoft.com/office/drawing/2014/main" val="3208803850"/>
                  </a:ext>
                </a:extLst>
              </a:tr>
            </a:tbl>
          </a:graphicData>
        </a:graphic>
      </p:graphicFrame>
      <p:grpSp>
        <p:nvGrpSpPr>
          <p:cNvPr id="49" name="Group 48">
            <a:extLst>
              <a:ext uri="{FF2B5EF4-FFF2-40B4-BE49-F238E27FC236}">
                <a16:creationId xmlns:a16="http://schemas.microsoft.com/office/drawing/2014/main" id="{25686FD4-9114-A363-5007-61106175D77C}"/>
              </a:ext>
            </a:extLst>
          </p:cNvPr>
          <p:cNvGrpSpPr/>
          <p:nvPr/>
        </p:nvGrpSpPr>
        <p:grpSpPr>
          <a:xfrm>
            <a:off x="9579098" y="1030446"/>
            <a:ext cx="2517271" cy="2122326"/>
            <a:chOff x="7817581" y="1092772"/>
            <a:chExt cx="3573102" cy="301250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24E958-BBFA-07F6-B913-9582BAB940CA}"/>
                </a:ext>
              </a:extLst>
            </p:cNvPr>
            <p:cNvSpPr/>
            <p:nvPr/>
          </p:nvSpPr>
          <p:spPr>
            <a:xfrm>
              <a:off x="9356609" y="1092772"/>
              <a:ext cx="389605" cy="4145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2203B12-0CE5-9C2A-CA34-5F45E778874E}"/>
                </a:ext>
              </a:extLst>
            </p:cNvPr>
            <p:cNvSpPr/>
            <p:nvPr/>
          </p:nvSpPr>
          <p:spPr>
            <a:xfrm>
              <a:off x="8613332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8DB9E20-44A4-19CB-3378-5C722B2558AC}"/>
                </a:ext>
              </a:extLst>
            </p:cNvPr>
            <p:cNvSpPr/>
            <p:nvPr/>
          </p:nvSpPr>
          <p:spPr>
            <a:xfrm>
              <a:off x="9356609" y="1907590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D85F716-265C-52FF-BA8E-A93D7254F7A8}"/>
                </a:ext>
              </a:extLst>
            </p:cNvPr>
            <p:cNvSpPr/>
            <p:nvPr/>
          </p:nvSpPr>
          <p:spPr>
            <a:xfrm>
              <a:off x="10204170" y="1907589"/>
              <a:ext cx="389605" cy="4145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A3809EF-C1FE-5AC7-65F1-EBD34FA9826C}"/>
                </a:ext>
              </a:extLst>
            </p:cNvPr>
            <p:cNvSpPr/>
            <p:nvPr/>
          </p:nvSpPr>
          <p:spPr>
            <a:xfrm>
              <a:off x="8223727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EF792F-9DDF-8BB2-FA4B-6C9AD6CAE5E5}"/>
                </a:ext>
              </a:extLst>
            </p:cNvPr>
            <p:cNvSpPr/>
            <p:nvPr/>
          </p:nvSpPr>
          <p:spPr>
            <a:xfrm>
              <a:off x="8948835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88BA6E9-0775-6A0E-F83E-D4C0CD38A9D2}"/>
                </a:ext>
              </a:extLst>
            </p:cNvPr>
            <p:cNvSpPr/>
            <p:nvPr/>
          </p:nvSpPr>
          <p:spPr>
            <a:xfrm>
              <a:off x="1057554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0EC6197-C898-59BC-F130-DBA247A20FF3}"/>
                </a:ext>
              </a:extLst>
            </p:cNvPr>
            <p:cNvCxnSpPr>
              <a:stCxn id="6" idx="3"/>
              <a:endCxn id="7" idx="7"/>
            </p:cNvCxnSpPr>
            <p:nvPr/>
          </p:nvCxnSpPr>
          <p:spPr>
            <a:xfrm flipH="1">
              <a:off x="8945880" y="1446569"/>
              <a:ext cx="467785" cy="52172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843A24C-ED48-DE75-857E-5E07F87FCDC4}"/>
                </a:ext>
              </a:extLst>
            </p:cNvPr>
            <p:cNvCxnSpPr>
              <a:stCxn id="6" idx="4"/>
              <a:endCxn id="8" idx="0"/>
            </p:cNvCxnSpPr>
            <p:nvPr/>
          </p:nvCxnSpPr>
          <p:spPr>
            <a:xfrm>
              <a:off x="9551412" y="1507272"/>
              <a:ext cx="0" cy="4003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D936540-5A93-C33F-554A-6895C4BDC45C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9689157" y="1446569"/>
              <a:ext cx="572069" cy="521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2EE16D1-AA30-75F1-560A-6B006D168824}"/>
                </a:ext>
              </a:extLst>
            </p:cNvPr>
            <p:cNvCxnSpPr>
              <a:stCxn id="7" idx="3"/>
              <a:endCxn id="10" idx="0"/>
            </p:cNvCxnSpPr>
            <p:nvPr/>
          </p:nvCxnSpPr>
          <p:spPr>
            <a:xfrm flipH="1">
              <a:off x="8418530" y="2261387"/>
              <a:ext cx="251858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CC20A5A-EC84-25F3-710C-383D7C6B6BF6}"/>
                </a:ext>
              </a:extLst>
            </p:cNvPr>
            <p:cNvCxnSpPr>
              <a:cxnSpLocks/>
              <a:stCxn id="7" idx="5"/>
              <a:endCxn id="11" idx="0"/>
            </p:cNvCxnSpPr>
            <p:nvPr/>
          </p:nvCxnSpPr>
          <p:spPr>
            <a:xfrm>
              <a:off x="8945881" y="2261388"/>
              <a:ext cx="19775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7160058-D41F-658C-7E18-0AE7108DD43F}"/>
                </a:ext>
              </a:extLst>
            </p:cNvPr>
            <p:cNvCxnSpPr>
              <a:stCxn id="9" idx="5"/>
              <a:endCxn id="12" idx="0"/>
            </p:cNvCxnSpPr>
            <p:nvPr/>
          </p:nvCxnSpPr>
          <p:spPr>
            <a:xfrm>
              <a:off x="10536719" y="2261386"/>
              <a:ext cx="233633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BB6AD82-11BC-1438-63C6-EF60F9390AF4}"/>
                </a:ext>
              </a:extLst>
            </p:cNvPr>
            <p:cNvSpPr/>
            <p:nvPr/>
          </p:nvSpPr>
          <p:spPr>
            <a:xfrm>
              <a:off x="9734489" y="2852576"/>
              <a:ext cx="389605" cy="414500"/>
            </a:xfrm>
            <a:prstGeom prst="ellipse">
              <a:avLst/>
            </a:prstGeom>
            <a:solidFill>
              <a:schemeClr val="accent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12553EA-C6BC-3087-B5D1-BE911481BF4B}"/>
                </a:ext>
              </a:extLst>
            </p:cNvPr>
            <p:cNvCxnSpPr>
              <a:stCxn id="8" idx="5"/>
              <a:endCxn id="19" idx="0"/>
            </p:cNvCxnSpPr>
            <p:nvPr/>
          </p:nvCxnSpPr>
          <p:spPr>
            <a:xfrm>
              <a:off x="9689158" y="2261388"/>
              <a:ext cx="240134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0481C8-C6DB-1E68-AD53-8B901EAF8281}"/>
                </a:ext>
              </a:extLst>
            </p:cNvPr>
            <p:cNvCxnSpPr>
              <a:stCxn id="8" idx="3"/>
              <a:endCxn id="11" idx="0"/>
            </p:cNvCxnSpPr>
            <p:nvPr/>
          </p:nvCxnSpPr>
          <p:spPr>
            <a:xfrm flipH="1">
              <a:off x="9143638" y="2261388"/>
              <a:ext cx="270027" cy="5911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6787251-3190-599D-33D9-94E6D228B6D5}"/>
                </a:ext>
              </a:extLst>
            </p:cNvPr>
            <p:cNvCxnSpPr>
              <a:stCxn id="9" idx="3"/>
              <a:endCxn id="19" idx="0"/>
            </p:cNvCxnSpPr>
            <p:nvPr/>
          </p:nvCxnSpPr>
          <p:spPr>
            <a:xfrm flipH="1">
              <a:off x="9929292" y="2261387"/>
              <a:ext cx="331934" cy="59118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E2BE010-C87C-5100-9710-F616496CEC51}"/>
                </a:ext>
              </a:extLst>
            </p:cNvPr>
            <p:cNvSpPr/>
            <p:nvPr/>
          </p:nvSpPr>
          <p:spPr>
            <a:xfrm>
              <a:off x="7817581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I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CA2F691-FE57-0E3F-3A99-5A6DEEF1418B}"/>
                </a:ext>
              </a:extLst>
            </p:cNvPr>
            <p:cNvSpPr/>
            <p:nvPr/>
          </p:nvSpPr>
          <p:spPr>
            <a:xfrm>
              <a:off x="8556275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J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F1CE04-F4FD-10A1-F355-EA16F52C5603}"/>
                </a:ext>
              </a:extLst>
            </p:cNvPr>
            <p:cNvSpPr/>
            <p:nvPr/>
          </p:nvSpPr>
          <p:spPr>
            <a:xfrm>
              <a:off x="9356220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K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D2B81BF-BACA-EE84-A418-4FC1E0AFE795}"/>
                </a:ext>
              </a:extLst>
            </p:cNvPr>
            <p:cNvSpPr/>
            <p:nvPr/>
          </p:nvSpPr>
          <p:spPr>
            <a:xfrm>
              <a:off x="10178649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1A1980C-E20E-4063-B5C9-DD7AA2D2738A}"/>
                </a:ext>
              </a:extLst>
            </p:cNvPr>
            <p:cNvSpPr/>
            <p:nvPr/>
          </p:nvSpPr>
          <p:spPr>
            <a:xfrm>
              <a:off x="11001078" y="3690776"/>
              <a:ext cx="389605" cy="4145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M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134E32-58D1-3334-3B4D-6D4AADAD76E5}"/>
                </a:ext>
              </a:extLst>
            </p:cNvPr>
            <p:cNvCxnSpPr>
              <a:stCxn id="10" idx="3"/>
              <a:endCxn id="28" idx="0"/>
            </p:cNvCxnSpPr>
            <p:nvPr/>
          </p:nvCxnSpPr>
          <p:spPr>
            <a:xfrm flipH="1">
              <a:off x="8012384" y="3206374"/>
              <a:ext cx="26839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E01B691-A213-19FE-5A49-048B1C7FC7FD}"/>
                </a:ext>
              </a:extLst>
            </p:cNvPr>
            <p:cNvCxnSpPr>
              <a:stCxn id="10" idx="5"/>
              <a:endCxn id="29" idx="0"/>
            </p:cNvCxnSpPr>
            <p:nvPr/>
          </p:nvCxnSpPr>
          <p:spPr>
            <a:xfrm>
              <a:off x="8556276" y="3206374"/>
              <a:ext cx="19480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96AA608-E716-C650-F9B5-0BEC4E96C7F2}"/>
                </a:ext>
              </a:extLst>
            </p:cNvPr>
            <p:cNvCxnSpPr>
              <a:stCxn id="11" idx="3"/>
              <a:endCxn id="29" idx="0"/>
            </p:cNvCxnSpPr>
            <p:nvPr/>
          </p:nvCxnSpPr>
          <p:spPr>
            <a:xfrm flipH="1">
              <a:off x="8751078" y="3206374"/>
              <a:ext cx="25481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4D3673E-8687-5B8E-D73E-729B2E14CDA1}"/>
                </a:ext>
              </a:extLst>
            </p:cNvPr>
            <p:cNvCxnSpPr>
              <a:stCxn id="11" idx="5"/>
              <a:endCxn id="30" idx="0"/>
            </p:cNvCxnSpPr>
            <p:nvPr/>
          </p:nvCxnSpPr>
          <p:spPr>
            <a:xfrm>
              <a:off x="9281384" y="3206374"/>
              <a:ext cx="269639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9BEA9B3-4311-1C96-9A3C-2965046C6691}"/>
                </a:ext>
              </a:extLst>
            </p:cNvPr>
            <p:cNvCxnSpPr>
              <a:stCxn id="19" idx="3"/>
              <a:endCxn id="30" idx="0"/>
            </p:cNvCxnSpPr>
            <p:nvPr/>
          </p:nvCxnSpPr>
          <p:spPr>
            <a:xfrm flipH="1">
              <a:off x="9551023" y="3206374"/>
              <a:ext cx="240522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D990282-CF14-6D39-83D3-A220537A095B}"/>
                </a:ext>
              </a:extLst>
            </p:cNvPr>
            <p:cNvCxnSpPr>
              <a:stCxn id="19" idx="5"/>
              <a:endCxn id="31" idx="0"/>
            </p:cNvCxnSpPr>
            <p:nvPr/>
          </p:nvCxnSpPr>
          <p:spPr>
            <a:xfrm>
              <a:off x="10067038" y="3206374"/>
              <a:ext cx="306414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12BEB3D-8432-D604-5E5C-66954173D148}"/>
                </a:ext>
              </a:extLst>
            </p:cNvPr>
            <p:cNvCxnSpPr>
              <a:stCxn id="12" idx="3"/>
              <a:endCxn id="31" idx="0"/>
            </p:cNvCxnSpPr>
            <p:nvPr/>
          </p:nvCxnSpPr>
          <p:spPr>
            <a:xfrm flipH="1">
              <a:off x="10373452" y="3206374"/>
              <a:ext cx="25915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4A13A41-8E85-7EA7-EDE2-288336778355}"/>
                </a:ext>
              </a:extLst>
            </p:cNvPr>
            <p:cNvCxnSpPr>
              <a:stCxn id="12" idx="5"/>
              <a:endCxn id="32" idx="0"/>
            </p:cNvCxnSpPr>
            <p:nvPr/>
          </p:nvCxnSpPr>
          <p:spPr>
            <a:xfrm>
              <a:off x="10908098" y="3206374"/>
              <a:ext cx="287783" cy="48440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194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F34F-3033-D503-E12F-EE6957DA26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Depth First Search (DFS)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9F848C-DCCF-2E60-B5F5-BBE34FDA7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0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C9551-77A0-EEFA-8546-5F4A15CE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530E1-2324-02F1-A6FF-CCBB5922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2881647"/>
            <a:ext cx="7226487" cy="3803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highlight>
                  <a:srgbClr val="00FF00"/>
                </a:highlight>
              </a:rPr>
              <a:t>Working Principle</a:t>
            </a:r>
          </a:p>
          <a:p>
            <a:r>
              <a:rPr lang="en-GB" sz="2000" dirty="0"/>
              <a:t>Start from the </a:t>
            </a:r>
            <a:r>
              <a:rPr lang="en-GB" sz="2000" b="1" dirty="0"/>
              <a:t>initial (root) node</a:t>
            </a:r>
            <a:r>
              <a:rPr lang="en-GB" sz="2000" dirty="0"/>
              <a:t>.</a:t>
            </a:r>
          </a:p>
          <a:p>
            <a:r>
              <a:rPr lang="en-GB" sz="2000" dirty="0"/>
              <a:t>Visit the </a:t>
            </a:r>
            <a:r>
              <a:rPr lang="en-GB" sz="2000" b="1" dirty="0"/>
              <a:t>unvisited adjacent node</a:t>
            </a:r>
            <a:r>
              <a:rPr lang="en-GB" sz="2000" dirty="0"/>
              <a:t> and mark it as visited.</a:t>
            </a:r>
          </a:p>
          <a:p>
            <a:r>
              <a:rPr lang="en-GB" sz="2000" dirty="0"/>
              <a:t>If no adjacent unvisited node exists, </a:t>
            </a:r>
            <a:r>
              <a:rPr lang="en-GB" sz="2000" b="1" dirty="0"/>
              <a:t>backtrack</a:t>
            </a:r>
            <a:r>
              <a:rPr lang="en-GB" sz="2000" dirty="0"/>
              <a:t> to the previous node.</a:t>
            </a:r>
          </a:p>
          <a:p>
            <a:r>
              <a:rPr lang="en-GB" sz="2000" dirty="0"/>
              <a:t>Repeat the process until the goal is found or all nodes are explored.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D861A-D969-BF55-F72C-AC09AF741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42" name="Picture 2" descr="Depth-First Search through a binary tree">
            <a:extLst>
              <a:ext uri="{FF2B5EF4-FFF2-40B4-BE49-F238E27FC236}">
                <a16:creationId xmlns:a16="http://schemas.microsoft.com/office/drawing/2014/main" id="{355C79F3-6413-7956-890E-00901AD4D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253" y="2881647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1FD552-0038-C052-7F73-54E01C85B8B8}"/>
              </a:ext>
            </a:extLst>
          </p:cNvPr>
          <p:cNvSpPr txBox="1"/>
          <p:nvPr/>
        </p:nvSpPr>
        <p:spPr>
          <a:xfrm>
            <a:off x="285083" y="920482"/>
            <a:ext cx="117984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800" dirty="0"/>
              <a:t>Depth First Search (DFS) is an </a:t>
            </a:r>
            <a:r>
              <a:rPr lang="en-GB" sz="2800" b="1" dirty="0"/>
              <a:t>uninformed search algorithm</a:t>
            </a:r>
            <a:r>
              <a:rPr lang="en-GB" sz="2800" dirty="0"/>
              <a:t> that explores as far as possible along each branch </a:t>
            </a:r>
            <a:r>
              <a:rPr lang="en-GB" sz="2800" b="1" dirty="0"/>
              <a:t>before backtracking</a:t>
            </a:r>
            <a:r>
              <a:rPr lang="en-GB" sz="2800" dirty="0"/>
              <a:t>. It uses a </a:t>
            </a:r>
            <a:r>
              <a:rPr lang="en-GB" sz="2800" b="1" dirty="0"/>
              <a:t>stack (LIFO)</a:t>
            </a:r>
            <a:r>
              <a:rPr lang="en-GB" sz="2800" dirty="0"/>
              <a:t> structure, either </a:t>
            </a:r>
            <a:r>
              <a:rPr lang="en-GB" sz="2800" b="1" dirty="0"/>
              <a:t>explicitly</a:t>
            </a:r>
            <a:r>
              <a:rPr lang="en-GB" sz="2800" dirty="0"/>
              <a:t> (with a stack data structure) or </a:t>
            </a:r>
            <a:r>
              <a:rPr lang="en-GB" sz="2800" b="1" dirty="0"/>
              <a:t>implicitly</a:t>
            </a:r>
            <a:r>
              <a:rPr lang="en-GB" sz="2800" dirty="0"/>
              <a:t> via </a:t>
            </a:r>
            <a:r>
              <a:rPr lang="en-GB" sz="2800" b="1" dirty="0"/>
              <a:t>recursion</a:t>
            </a:r>
            <a:r>
              <a:rPr lang="en-GB" sz="2800" dirty="0"/>
              <a:t>.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60495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B42E4-769C-E6D5-5E09-A75496DAF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11589-F6BF-16DF-B1A8-B454D755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0DFB4-61E6-2287-F9B0-365B9627C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pPr lvl="1"/>
            <a:r>
              <a:rPr lang="en-GB" dirty="0"/>
              <a:t>Uses less memory than BFS (stores only one path).</a:t>
            </a:r>
          </a:p>
          <a:p>
            <a:pPr lvl="1"/>
            <a:r>
              <a:rPr lang="en-GB" dirty="0"/>
              <a:t>Can find a solution without exploring all nodes (if goal is deep).</a:t>
            </a:r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dirty="0"/>
              <a:t>May get </a:t>
            </a:r>
            <a:r>
              <a:rPr lang="en-GB" b="1" dirty="0"/>
              <a:t>stuck in an infinite loop</a:t>
            </a:r>
            <a:r>
              <a:rPr lang="en-GB" dirty="0"/>
              <a:t> in cyclic graphs.</a:t>
            </a:r>
          </a:p>
          <a:p>
            <a:pPr lvl="1"/>
            <a:r>
              <a:rPr lang="en-GB" dirty="0"/>
              <a:t>Not </a:t>
            </a:r>
            <a:r>
              <a:rPr lang="en-GB" b="1" dirty="0"/>
              <a:t>optimal</a:t>
            </a:r>
            <a:r>
              <a:rPr lang="en-GB" dirty="0"/>
              <a:t> — may find longer path first.</a:t>
            </a:r>
          </a:p>
          <a:p>
            <a:pPr lvl="1"/>
            <a:r>
              <a:rPr lang="en-GB" dirty="0"/>
              <a:t>Not </a:t>
            </a:r>
            <a:r>
              <a:rPr lang="en-GB" b="1" dirty="0"/>
              <a:t>complete</a:t>
            </a:r>
            <a:r>
              <a:rPr lang="en-GB" dirty="0"/>
              <a:t> — might miss the goal if depth limit not set.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Applications</a:t>
            </a:r>
          </a:p>
          <a:p>
            <a:pPr lvl="1"/>
            <a:r>
              <a:rPr lang="en-GB" dirty="0"/>
              <a:t>Solving </a:t>
            </a:r>
            <a:r>
              <a:rPr lang="en-GB" b="1" dirty="0"/>
              <a:t>mazes</a:t>
            </a:r>
            <a:r>
              <a:rPr lang="en-GB" dirty="0"/>
              <a:t> or </a:t>
            </a:r>
            <a:r>
              <a:rPr lang="en-GB" b="1" dirty="0"/>
              <a:t>puzzles</a:t>
            </a:r>
            <a:r>
              <a:rPr lang="en-GB" dirty="0"/>
              <a:t> (like N-Queens).</a:t>
            </a:r>
          </a:p>
          <a:p>
            <a:pPr lvl="1"/>
            <a:r>
              <a:rPr lang="en-GB" b="1" dirty="0"/>
              <a:t>Pathfinding</a:t>
            </a:r>
            <a:r>
              <a:rPr lang="en-GB" dirty="0"/>
              <a:t> in AI (where full exploration is required).</a:t>
            </a:r>
          </a:p>
          <a:p>
            <a:pPr lvl="1"/>
            <a:r>
              <a:rPr lang="en-GB" b="1" dirty="0"/>
              <a:t>Topological sorting</a:t>
            </a:r>
            <a:r>
              <a:rPr lang="en-GB" dirty="0"/>
              <a:t> and </a:t>
            </a:r>
            <a:r>
              <a:rPr lang="en-GB" b="1" dirty="0"/>
              <a:t>cycle detection</a:t>
            </a:r>
            <a:r>
              <a:rPr lang="en-GB" dirty="0"/>
              <a:t> in graphs.</a:t>
            </a:r>
          </a:p>
          <a:p>
            <a:pPr lvl="1"/>
            <a:r>
              <a:rPr lang="en-GB" b="1" dirty="0"/>
              <a:t>Backtracking problems</a:t>
            </a:r>
            <a:r>
              <a:rPr lang="en-GB" dirty="0"/>
              <a:t> (e.g., Sudoku, crosswords).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2CF1B-640F-95C6-BFC2-22A1977D5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2290" name="Picture 2" descr="Graphs in Java: Depth-First Search (DFS)">
            <a:extLst>
              <a:ext uri="{FF2B5EF4-FFF2-40B4-BE49-F238E27FC236}">
                <a16:creationId xmlns:a16="http://schemas.microsoft.com/office/drawing/2014/main" id="{EB3F6601-5B67-BBBF-F7C4-BF120AEC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658" y="2035043"/>
            <a:ext cx="4703363" cy="461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9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CE933-B2D4-4E3E-F356-9F3B4220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2FDA3E-6003-B619-8850-1E4824D46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11" t="9037" r="5700" b="14512"/>
          <a:stretch>
            <a:fillRect/>
          </a:stretch>
        </p:blipFill>
        <p:spPr bwMode="auto">
          <a:xfrm>
            <a:off x="7247940" y="1091682"/>
            <a:ext cx="4760983" cy="4898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8D1510-5985-6D51-E6F3-981BE1A5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2D280-3EE4-9853-E10E-8A5A8254A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Time and Space Complexity</a:t>
            </a:r>
          </a:p>
          <a:p>
            <a:pPr marL="0" indent="0">
              <a:buNone/>
            </a:pPr>
            <a:r>
              <a:rPr lang="en-GB" dirty="0"/>
              <a:t>Let:</a:t>
            </a:r>
          </a:p>
          <a:p>
            <a:pPr lvl="1"/>
            <a:r>
              <a:rPr lang="en-GB" b="1" dirty="0"/>
              <a:t>b</a:t>
            </a:r>
            <a:r>
              <a:rPr lang="en-GB" dirty="0"/>
              <a:t> = branching factor (number of children per node)</a:t>
            </a:r>
          </a:p>
          <a:p>
            <a:pPr lvl="1"/>
            <a:r>
              <a:rPr lang="en-GB" b="1" dirty="0"/>
              <a:t>d</a:t>
            </a:r>
            <a:r>
              <a:rPr lang="en-GB" dirty="0"/>
              <a:t> = depth of the goal node</a:t>
            </a:r>
          </a:p>
          <a:p>
            <a:pPr lvl="1"/>
            <a:r>
              <a:rPr lang="en-GB" b="1" dirty="0"/>
              <a:t>m</a:t>
            </a:r>
            <a:r>
              <a:rPr lang="en-GB" dirty="0"/>
              <a:t> = maximum depth of the search tree</a:t>
            </a:r>
          </a:p>
          <a:p>
            <a:pPr marL="0" indent="0">
              <a:buNone/>
            </a:pPr>
            <a:r>
              <a:rPr lang="en-GB" dirty="0"/>
              <a:t>Then:</a:t>
            </a:r>
          </a:p>
          <a:p>
            <a:pPr lvl="1"/>
            <a:r>
              <a:rPr lang="en-GB" b="1" dirty="0"/>
              <a:t>Time Complexity:</a:t>
            </a:r>
            <a:r>
              <a:rPr lang="en-GB" dirty="0"/>
              <a:t> O(bᵐ)</a:t>
            </a:r>
          </a:p>
          <a:p>
            <a:pPr lvl="1"/>
            <a:r>
              <a:rPr lang="en-GB" b="1" dirty="0"/>
              <a:t>Space Complexity:</a:t>
            </a:r>
            <a:r>
              <a:rPr lang="en-GB" dirty="0"/>
              <a:t> O(b*m)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F41F4-A6CC-CE74-CFED-60BBC8FA2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4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C05F8-DAFC-8A57-7BA2-C426FAFA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7518-7EEB-5A10-3988-21B820AA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7D486-FCE3-E75E-80E1-F1F6A7B81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8828241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Traversal</a:t>
            </a:r>
          </a:p>
          <a:p>
            <a:pPr marL="0" indent="0">
              <a:buNone/>
            </a:pPr>
            <a:r>
              <a:rPr lang="en-GB" dirty="0"/>
              <a:t>Traversal in a Binary Search Tree (BST) is the process of visiting each node in the tree exactly once in a systematic order. </a:t>
            </a:r>
          </a:p>
          <a:p>
            <a:pPr marL="0" indent="0">
              <a:buNone/>
            </a:pPr>
            <a:r>
              <a:rPr lang="en-GB" dirty="0"/>
              <a:t>Since trees are non-linear, there are several ways to traverse them, with common methods including in-order, pre-order, and post-order (all depth-first traversals).</a:t>
            </a:r>
          </a:p>
          <a:p>
            <a:pPr marL="0" indent="0">
              <a:buNone/>
            </a:pPr>
            <a:r>
              <a:rPr lang="en-GB" b="1" dirty="0"/>
              <a:t>1. </a:t>
            </a:r>
            <a:r>
              <a:rPr lang="en-GB" b="1" dirty="0">
                <a:highlight>
                  <a:srgbClr val="FFFF00"/>
                </a:highlight>
              </a:rPr>
              <a:t>Pre-Order</a:t>
            </a:r>
          </a:p>
          <a:p>
            <a:pPr lvl="1"/>
            <a:r>
              <a:rPr lang="en-GB" b="1" dirty="0">
                <a:highlight>
                  <a:srgbClr val="FFFF00"/>
                </a:highlight>
              </a:rPr>
              <a:t>Order:</a:t>
            </a:r>
            <a:r>
              <a:rPr lang="en-GB" dirty="0">
                <a:highlight>
                  <a:srgbClr val="FFFF00"/>
                </a:highlight>
              </a:rPr>
              <a:t> Root, Left, Right </a:t>
            </a:r>
          </a:p>
          <a:p>
            <a:pPr lvl="1"/>
            <a:r>
              <a:rPr lang="en-GB" b="1" dirty="0"/>
              <a:t>Process:</a:t>
            </a:r>
            <a:r>
              <a:rPr lang="en-GB" dirty="0"/>
              <a:t> Visit the current node first, then recursively traverse the left subtree, and finally the right subtree. 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 Useful for creating a copy of the tree or for prefix notation in expression trees. </a:t>
            </a:r>
          </a:p>
          <a:p>
            <a:pPr marL="0" indent="0">
              <a:buNone/>
            </a:pPr>
            <a:endParaRPr lang="en-GB" sz="1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BA890-18FE-DF4F-F6C3-8420FB266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30" name="Picture 6" descr="Trees, Binary Search Trees and traversal methods, the difference and why. |  by Saman Batool | Medium">
            <a:extLst>
              <a:ext uri="{FF2B5EF4-FFF2-40B4-BE49-F238E27FC236}">
                <a16:creationId xmlns:a16="http://schemas.microsoft.com/office/drawing/2014/main" id="{8ADD2092-A30D-98E1-7E1F-7D469ABC33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1" t="3426" r="50076"/>
          <a:stretch>
            <a:fillRect/>
          </a:stretch>
        </p:blipFill>
        <p:spPr bwMode="auto">
          <a:xfrm>
            <a:off x="9218645" y="1007992"/>
            <a:ext cx="2790278" cy="5676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523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0D4E-69F7-A786-F4B2-77641824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70A6-7F88-7A12-9CF1-39C4CA39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6FAF-DDCD-A428-6A9F-7D41E6A23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8548874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Traversal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b="1" dirty="0"/>
              <a:t>2. </a:t>
            </a:r>
            <a:r>
              <a:rPr lang="en-GB" b="1" dirty="0">
                <a:highlight>
                  <a:srgbClr val="00FF00"/>
                </a:highlight>
              </a:rPr>
              <a:t>In-Order</a:t>
            </a:r>
          </a:p>
          <a:p>
            <a:pPr lvl="1"/>
            <a:r>
              <a:rPr lang="en-GB" b="1" dirty="0">
                <a:highlight>
                  <a:srgbClr val="00FF00"/>
                </a:highlight>
              </a:rPr>
              <a:t>Order:</a:t>
            </a:r>
            <a:r>
              <a:rPr lang="en-GB" dirty="0">
                <a:highlight>
                  <a:srgbClr val="00FF00"/>
                </a:highlight>
              </a:rPr>
              <a:t> Left, Root, Right</a:t>
            </a:r>
          </a:p>
          <a:p>
            <a:pPr lvl="1"/>
            <a:r>
              <a:rPr lang="en-GB" b="1" dirty="0"/>
              <a:t>Process:</a:t>
            </a:r>
            <a:r>
              <a:rPr lang="en-GB" dirty="0"/>
              <a:t> Recursively traverse the left subtree, then visit the current node, and finally the right subtree.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 For a Binary Search Tree (BST), in-order traversal visits the nodes in ascending order.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180E6-505A-B6EE-354B-EDFCDB00F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6" descr="Trees, Binary Search Trees and traversal methods, the difference and why. |  by Saman Batool | Medium">
            <a:extLst>
              <a:ext uri="{FF2B5EF4-FFF2-40B4-BE49-F238E27FC236}">
                <a16:creationId xmlns:a16="http://schemas.microsoft.com/office/drawing/2014/main" id="{71CF2564-23CD-41EE-2ED4-1FB4AA6AE8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4" t="1811" r="24565"/>
          <a:stretch>
            <a:fillRect/>
          </a:stretch>
        </p:blipFill>
        <p:spPr bwMode="auto">
          <a:xfrm>
            <a:off x="8836640" y="960121"/>
            <a:ext cx="3254207" cy="5883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27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3EAFC-2119-DB1F-F1AF-D3DD0A3B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E248-6626-26A7-8E39-718157D3F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Depth First Search (DFS)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1B6A-9EB6-484A-D7A4-2BF4DF13C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8548874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/>
              <a:t>Traversal</a:t>
            </a:r>
          </a:p>
          <a:p>
            <a:pPr marL="0" indent="0">
              <a:buNone/>
            </a:pPr>
            <a:endParaRPr lang="en-GB" b="1" u="sng" dirty="0"/>
          </a:p>
          <a:p>
            <a:pPr marL="0" indent="0">
              <a:buNone/>
            </a:pPr>
            <a:r>
              <a:rPr lang="en-GB" b="1" dirty="0">
                <a:highlight>
                  <a:srgbClr val="00FFFF"/>
                </a:highlight>
              </a:rPr>
              <a:t>3. Post-Order</a:t>
            </a:r>
          </a:p>
          <a:p>
            <a:pPr lvl="1"/>
            <a:r>
              <a:rPr lang="en-GB" b="1" dirty="0">
                <a:highlight>
                  <a:srgbClr val="00FFFF"/>
                </a:highlight>
              </a:rPr>
              <a:t>Order:</a:t>
            </a:r>
            <a:r>
              <a:rPr lang="en-GB" dirty="0">
                <a:highlight>
                  <a:srgbClr val="00FFFF"/>
                </a:highlight>
              </a:rPr>
              <a:t> Left, Right, Root </a:t>
            </a:r>
          </a:p>
          <a:p>
            <a:pPr lvl="1"/>
            <a:r>
              <a:rPr lang="en-GB" b="1" dirty="0"/>
              <a:t>Process:</a:t>
            </a:r>
            <a:r>
              <a:rPr lang="en-GB" dirty="0"/>
              <a:t> Recursively traverse the left subtree, then the right subtree, and finally visit the current node. </a:t>
            </a:r>
          </a:p>
          <a:p>
            <a:pPr lvl="1"/>
            <a:r>
              <a:rPr lang="en-GB" b="1" dirty="0"/>
              <a:t>Use case:</a:t>
            </a:r>
            <a:r>
              <a:rPr lang="en-GB" dirty="0"/>
              <a:t> Useful for deleting a tree, as the children are processed before the parent. It is also used for postfix (reverse Polish) notation.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0A016-8947-9438-1D9D-71148A5D05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6" name="Picture 6" descr="Trees, Binary Search Trees and traversal methods, the difference and why. |  by Saman Batool | Medium">
            <a:extLst>
              <a:ext uri="{FF2B5EF4-FFF2-40B4-BE49-F238E27FC236}">
                <a16:creationId xmlns:a16="http://schemas.microsoft.com/office/drawing/2014/main" id="{7B023B9D-C672-A87F-1698-D79E020CC2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" r="73767"/>
          <a:stretch>
            <a:fillRect/>
          </a:stretch>
        </p:blipFill>
        <p:spPr bwMode="auto">
          <a:xfrm>
            <a:off x="8907077" y="960121"/>
            <a:ext cx="3176066" cy="5746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73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4A9E5-9828-F7A5-3881-7E82D8EC65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Depth Limited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32B36-B70A-D032-B51C-DBD4A2196E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3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31F7-C2F8-B735-825F-7B5A635C7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Depth Limited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9F257-C31E-26FE-715D-19FA091F8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Depth-Limited Search (DLS)</a:t>
            </a:r>
            <a:r>
              <a:rPr lang="en-GB" dirty="0"/>
              <a:t> is a </a:t>
            </a:r>
            <a:r>
              <a:rPr lang="en-GB" b="1" dirty="0"/>
              <a:t>variant of Depth-First Search (DFS)</a:t>
            </a:r>
            <a:r>
              <a:rPr lang="en-GB" dirty="0"/>
              <a:t> in which the </a:t>
            </a:r>
            <a:r>
              <a:rPr lang="en-GB" b="1" dirty="0"/>
              <a:t>search depth is restricted to a fixed limit (L)</a:t>
            </a:r>
            <a:r>
              <a:rPr lang="en-GB" dirty="0"/>
              <a:t>. It explores the graph like DFS but </a:t>
            </a:r>
            <a:r>
              <a:rPr lang="en-GB" b="1" dirty="0"/>
              <a:t>stops exploring any branch once it reaches the specified depth limit.</a:t>
            </a:r>
          </a:p>
          <a:p>
            <a:pPr marL="0" indent="0">
              <a:buNone/>
            </a:pPr>
            <a:r>
              <a:rPr lang="en-GB" dirty="0"/>
              <a:t>DFS may get trapped in </a:t>
            </a:r>
            <a:r>
              <a:rPr lang="en-GB" b="1" dirty="0"/>
              <a:t>infinite loops</a:t>
            </a:r>
            <a:r>
              <a:rPr lang="en-GB" dirty="0"/>
              <a:t> (especially in graphs with cycles or infinite depth). DLS solves this problem by imposing a </a:t>
            </a:r>
            <a:r>
              <a:rPr lang="en-GB" b="1" dirty="0"/>
              <a:t>limit on how deep the algorithm can go</a:t>
            </a:r>
            <a:r>
              <a:rPr lang="en-GB" dirty="0"/>
              <a:t>, preventing infinite descent.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b="1" dirty="0"/>
              <a:t>Working Principle</a:t>
            </a:r>
          </a:p>
          <a:p>
            <a:pPr lvl="1"/>
            <a:r>
              <a:rPr lang="en-GB" dirty="0"/>
              <a:t>Start from the </a:t>
            </a:r>
            <a:r>
              <a:rPr lang="en-GB" b="1" dirty="0"/>
              <a:t>root node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Explore successors </a:t>
            </a:r>
            <a:r>
              <a:rPr lang="en-GB" b="1" dirty="0"/>
              <a:t>up to the depth limit L</a:t>
            </a:r>
            <a:r>
              <a:rPr lang="en-GB" dirty="0"/>
              <a:t> (defined by user).</a:t>
            </a:r>
          </a:p>
          <a:p>
            <a:pPr lvl="1"/>
            <a:r>
              <a:rPr lang="en-GB" dirty="0"/>
              <a:t>If the goal is not found before the limit → </a:t>
            </a:r>
            <a:r>
              <a:rPr lang="en-GB" b="1" dirty="0"/>
              <a:t>cut off the search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If no goal is found within the limit, the algorithm </a:t>
            </a:r>
            <a:r>
              <a:rPr lang="en-GB" b="1" dirty="0"/>
              <a:t>returns failure or cutoff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A2BB1-6A5F-ECAD-2A84-B89FE88A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6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9B44-1F2C-87B6-71D4-6FB8026C0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9560-0C21-86F7-BFB1-5A96E6AA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3. Depth Limited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518CC-7F72-ED0C-2071-8B8D21A48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pPr lvl="1"/>
            <a:r>
              <a:rPr lang="en-GB" dirty="0"/>
              <a:t>Prevents infinite loops in DFS.</a:t>
            </a:r>
          </a:p>
          <a:p>
            <a:pPr lvl="1"/>
            <a:r>
              <a:rPr lang="en-GB" dirty="0"/>
              <a:t>Requires </a:t>
            </a:r>
            <a:r>
              <a:rPr lang="en-GB" b="1" dirty="0"/>
              <a:t>less memory</a:t>
            </a:r>
            <a:r>
              <a:rPr lang="en-GB" dirty="0"/>
              <a:t> (similar to DFS).</a:t>
            </a:r>
          </a:p>
          <a:p>
            <a:pPr lvl="1"/>
            <a:r>
              <a:rPr lang="en-GB" dirty="0"/>
              <a:t>Useful for </a:t>
            </a:r>
            <a:r>
              <a:rPr lang="en-GB" b="1" dirty="0"/>
              <a:t>deep but finite search trees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dirty="0"/>
              <a:t>If the </a:t>
            </a:r>
            <a:r>
              <a:rPr lang="en-GB" b="1" dirty="0"/>
              <a:t>depth limit is too low</a:t>
            </a:r>
            <a:r>
              <a:rPr lang="en-GB" dirty="0"/>
              <a:t>, it might </a:t>
            </a:r>
            <a:r>
              <a:rPr lang="en-GB" b="1" dirty="0"/>
              <a:t>miss the goal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If too high, behaves like normal DFS → </a:t>
            </a:r>
            <a:r>
              <a:rPr lang="en-GB" b="1" dirty="0"/>
              <a:t>inefficient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Choosing the right limit (L) is </a:t>
            </a:r>
            <a:r>
              <a:rPr lang="en-GB" b="1" dirty="0"/>
              <a:t>problem-dependent</a:t>
            </a:r>
            <a:r>
              <a:rPr lang="en-GB" dirty="0"/>
              <a:t>.</a:t>
            </a:r>
            <a:endParaRPr lang="en-US" dirty="0"/>
          </a:p>
          <a:p>
            <a:pPr marL="0" indent="0">
              <a:buNone/>
            </a:pPr>
            <a:endParaRPr lang="en-GB" sz="1050" b="1" dirty="0"/>
          </a:p>
          <a:p>
            <a:r>
              <a:rPr lang="en-GB" b="1" dirty="0"/>
              <a:t>Applications</a:t>
            </a:r>
          </a:p>
          <a:p>
            <a:pPr lvl="1"/>
            <a:r>
              <a:rPr lang="en-GB" dirty="0"/>
              <a:t>Used when the </a:t>
            </a:r>
            <a:r>
              <a:rPr lang="en-GB" b="1" dirty="0"/>
              <a:t>depth of the goal is known approximately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Helps </a:t>
            </a:r>
            <a:r>
              <a:rPr lang="en-GB" b="1" dirty="0"/>
              <a:t>avoid infinite paths</a:t>
            </a:r>
            <a:r>
              <a:rPr lang="en-GB" dirty="0"/>
              <a:t> in DFS.</a:t>
            </a:r>
          </a:p>
          <a:p>
            <a:pPr lvl="1"/>
            <a:r>
              <a:rPr lang="en-GB" dirty="0"/>
              <a:t>Forms the </a:t>
            </a:r>
            <a:r>
              <a:rPr lang="en-GB" b="1" dirty="0"/>
              <a:t>basis of Iterative Deepening DFS (IDDFS)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389-FCE1-1A7A-F05E-9D1278ECE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0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403A-C22A-B451-8461-CBF16251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Iterative Deepening Depth First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F70899-E108-3ABC-11A3-0E8653B70E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5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7E44E-69CB-BB70-E613-1CFE2652D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03"/>
          <a:stretch>
            <a:fillRect/>
          </a:stretch>
        </p:blipFill>
        <p:spPr>
          <a:xfrm>
            <a:off x="7704097" y="4553340"/>
            <a:ext cx="4181475" cy="2318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D56D18-FE12-D42D-6546-787C09A61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Iterative Deepening Depth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0DEB9-2C1A-5B5F-F6C0-3A658A790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11721157" cy="5724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Iterative Deepening Depth First Search (IDDFS)</a:t>
            </a:r>
            <a:r>
              <a:rPr lang="en-GB" dirty="0"/>
              <a:t> is a </a:t>
            </a:r>
            <a:r>
              <a:rPr lang="en-GB" b="1" dirty="0"/>
              <a:t>search algorithm</a:t>
            </a:r>
            <a:r>
              <a:rPr lang="en-GB" dirty="0"/>
              <a:t> that combines the </a:t>
            </a:r>
            <a:r>
              <a:rPr lang="en-GB" b="1" dirty="0"/>
              <a:t>space-efficiency of DFS</a:t>
            </a:r>
            <a:r>
              <a:rPr lang="en-GB" dirty="0"/>
              <a:t> with the </a:t>
            </a:r>
            <a:r>
              <a:rPr lang="en-GB" b="1" dirty="0"/>
              <a:t>completeness and optimality of BFS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It works by </a:t>
            </a:r>
            <a:r>
              <a:rPr lang="en-GB" b="1" dirty="0"/>
              <a:t>repeatedly running Depth-Limited Search (DLS)</a:t>
            </a:r>
            <a:r>
              <a:rPr lang="en-GB" dirty="0"/>
              <a:t> with increasing depth limits until the goal is found. Instead of exploring deeply and possibly getting stuck (like DFS), IDDFS:</a:t>
            </a:r>
          </a:p>
          <a:p>
            <a:pPr lvl="1"/>
            <a:r>
              <a:rPr lang="en-GB" dirty="0"/>
              <a:t>Explores to depth 1</a:t>
            </a:r>
          </a:p>
          <a:p>
            <a:pPr lvl="1"/>
            <a:r>
              <a:rPr lang="en-GB" dirty="0"/>
              <a:t>Then to depth 2</a:t>
            </a:r>
          </a:p>
          <a:p>
            <a:pPr lvl="1"/>
            <a:r>
              <a:rPr lang="en-GB" dirty="0"/>
              <a:t>Then to depth 3, and so on Each time, it </a:t>
            </a:r>
            <a:r>
              <a:rPr lang="en-GB" b="1" dirty="0"/>
              <a:t>starts a new DFS</a:t>
            </a:r>
            <a:r>
              <a:rPr lang="en-GB" dirty="0"/>
              <a:t> but only goes down to the </a:t>
            </a:r>
            <a:r>
              <a:rPr lang="en-GB" b="1" dirty="0"/>
              <a:t>current depth limit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This ensures:</a:t>
            </a:r>
          </a:p>
          <a:p>
            <a:pPr lvl="1"/>
            <a:r>
              <a:rPr lang="en-GB" b="1" dirty="0"/>
              <a:t>Completeness</a:t>
            </a:r>
            <a:r>
              <a:rPr lang="en-GB" dirty="0"/>
              <a:t> (like BFS)</a:t>
            </a:r>
          </a:p>
          <a:p>
            <a:pPr lvl="1"/>
            <a:r>
              <a:rPr lang="en-GB" b="1" dirty="0"/>
              <a:t>Low memory usage</a:t>
            </a:r>
            <a:r>
              <a:rPr lang="en-GB" dirty="0"/>
              <a:t> (like DFS)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3921-771E-A407-C347-7919C50A8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4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45BE-C6E8-05B1-4E5E-FF0D74CD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it-2(Chapter-6) Iterative Deepening Depth First Search">
            <a:extLst>
              <a:ext uri="{FF2B5EF4-FFF2-40B4-BE49-F238E27FC236}">
                <a16:creationId xmlns:a16="http://schemas.microsoft.com/office/drawing/2014/main" id="{5896CB8B-3057-98D6-5EA6-E3C2747DF0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3" t="30475" r="15356" b="22041"/>
          <a:stretch>
            <a:fillRect/>
          </a:stretch>
        </p:blipFill>
        <p:spPr bwMode="auto">
          <a:xfrm>
            <a:off x="3181739" y="3611607"/>
            <a:ext cx="8332238" cy="321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D4675-C291-79BD-01CC-3A7D8405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Iterative Deepening Depth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F3BD4-0B8E-20C8-108E-BE103B9A9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How It Works (Step-by-Step)</a:t>
            </a:r>
          </a:p>
          <a:p>
            <a:pPr lvl="1"/>
            <a:r>
              <a:rPr lang="en-GB" dirty="0"/>
              <a:t>Start with a depth limit = 0.</a:t>
            </a:r>
          </a:p>
          <a:p>
            <a:pPr lvl="1"/>
            <a:r>
              <a:rPr lang="en-GB" dirty="0"/>
              <a:t>Perform </a:t>
            </a:r>
            <a:r>
              <a:rPr lang="en-GB" b="1" dirty="0"/>
              <a:t>Depth-Limited Search (DLS)</a:t>
            </a:r>
            <a:r>
              <a:rPr lang="en-GB" dirty="0"/>
              <a:t> up to that limit.</a:t>
            </a:r>
          </a:p>
          <a:p>
            <a:pPr lvl="1"/>
            <a:r>
              <a:rPr lang="en-GB" dirty="0"/>
              <a:t>If the goal is not found:</a:t>
            </a:r>
          </a:p>
          <a:p>
            <a:pPr lvl="2"/>
            <a:r>
              <a:rPr lang="en-GB" dirty="0"/>
              <a:t>Increase the depth limit by 1.</a:t>
            </a:r>
          </a:p>
          <a:p>
            <a:pPr lvl="2"/>
            <a:r>
              <a:rPr lang="en-GB" dirty="0"/>
              <a:t>Repeat the DLS process.</a:t>
            </a:r>
          </a:p>
          <a:p>
            <a:pPr lvl="1"/>
            <a:r>
              <a:rPr lang="en-GB" dirty="0"/>
              <a:t>Stop when the </a:t>
            </a:r>
            <a:r>
              <a:rPr lang="en-GB" b="1" dirty="0"/>
              <a:t>goal node is found</a:t>
            </a:r>
            <a:r>
              <a:rPr lang="en-GB" dirty="0"/>
              <a:t> or the </a:t>
            </a:r>
            <a:r>
              <a:rPr lang="en-GB" b="1" dirty="0"/>
              <a:t>search space is exhausted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73FAF-E4E2-7095-8CD2-7109C9C0C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9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AA0A-5FCE-D7B9-2A1F-0850565A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107C2-7C34-A8DB-0E10-59482D94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Iterative Deepening Depth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DB4F-67BD-B9A1-CED6-F2CD96136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pPr lvl="1"/>
            <a:r>
              <a:rPr lang="en-GB" b="1" dirty="0"/>
              <a:t>Complete:</a:t>
            </a:r>
            <a:r>
              <a:rPr lang="en-GB" dirty="0"/>
              <a:t> Always finds a solution if one exists.</a:t>
            </a:r>
          </a:p>
          <a:p>
            <a:pPr lvl="1"/>
            <a:r>
              <a:rPr lang="en-GB" b="1" dirty="0"/>
              <a:t>Optimal:</a:t>
            </a:r>
            <a:r>
              <a:rPr lang="en-GB" dirty="0"/>
              <a:t> Finds the shortest path (like BFS) when all edge costs are equal.</a:t>
            </a:r>
          </a:p>
          <a:p>
            <a:pPr lvl="1"/>
            <a:r>
              <a:rPr lang="en-GB" b="1" dirty="0"/>
              <a:t>Space-Efficient:</a:t>
            </a:r>
            <a:r>
              <a:rPr lang="en-GB" dirty="0"/>
              <a:t> Requires only </a:t>
            </a:r>
            <a:r>
              <a:rPr lang="en-GB" b="1" dirty="0"/>
              <a:t>O(b × d)</a:t>
            </a:r>
            <a:r>
              <a:rPr lang="en-GB" dirty="0"/>
              <a:t> space (like DFS).</a:t>
            </a:r>
          </a:p>
          <a:p>
            <a:pPr lvl="1"/>
            <a:r>
              <a:rPr lang="en-GB" b="1" dirty="0"/>
              <a:t>Good for large/deep search trees.</a:t>
            </a:r>
            <a:endParaRPr lang="en-GB" dirty="0"/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b="1" dirty="0"/>
              <a:t>Repetitive work:</a:t>
            </a:r>
            <a:r>
              <a:rPr lang="en-GB" dirty="0"/>
              <a:t> Nodes near the top are explored multiple times.</a:t>
            </a:r>
          </a:p>
          <a:p>
            <a:pPr lvl="1"/>
            <a:r>
              <a:rPr lang="en-GB" dirty="0"/>
              <a:t>Not ideal if </a:t>
            </a:r>
            <a:r>
              <a:rPr lang="en-GB" b="1" dirty="0"/>
              <a:t>solution is deep</a:t>
            </a:r>
            <a:r>
              <a:rPr lang="en-GB" dirty="0"/>
              <a:t> or </a:t>
            </a:r>
            <a:r>
              <a:rPr lang="en-GB" b="1" dirty="0"/>
              <a:t>step costs vary.</a:t>
            </a:r>
            <a:endParaRPr lang="en-GB" dirty="0"/>
          </a:p>
          <a:p>
            <a:pPr lvl="1"/>
            <a:r>
              <a:rPr lang="en-GB" dirty="0"/>
              <a:t>Inefficient for </a:t>
            </a:r>
            <a:r>
              <a:rPr lang="en-GB" b="1" dirty="0"/>
              <a:t>infinite or cyclic</a:t>
            </a:r>
            <a:r>
              <a:rPr lang="en-GB" dirty="0"/>
              <a:t> graphs without visited checks.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0E829-EC59-7E15-5E8A-A48465122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62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2177E-ACC8-4597-AC5F-70D0CD27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A99A-3CB9-B948-3005-F239C9B3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4. Iterative Deepening Depth 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426E-8B36-8264-A829-7F5A4411E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Real-Life Applications</a:t>
            </a:r>
            <a:endParaRPr lang="en-GB" dirty="0"/>
          </a:p>
          <a:p>
            <a:pPr lvl="1"/>
            <a:r>
              <a:rPr lang="en-GB" dirty="0"/>
              <a:t>Used in AI-based game playing (like Chess, Checkers, or Go) where the depth of the solution is not known in advance — allows gradual deepening for better decisions.</a:t>
            </a:r>
          </a:p>
          <a:p>
            <a:pPr lvl="1"/>
            <a:r>
              <a:rPr lang="en-GB" dirty="0"/>
              <a:t>Applied in robot path planning when the target location is unknown or variable — helps robots explore efficiently without running out of memory.</a:t>
            </a:r>
          </a:p>
          <a:p>
            <a:pPr lvl="1"/>
            <a:r>
              <a:rPr lang="en-GB" dirty="0"/>
              <a:t>Common in route finding problems, such as maps or GPS systems, where the destination may be unknown or discovered dynamically.</a:t>
            </a:r>
          </a:p>
          <a:p>
            <a:pPr lvl="1"/>
            <a:r>
              <a:rPr lang="en-GB" dirty="0"/>
              <a:t>Useful in search-based AI planning (e.g., STRIPS, automated reasoning) to progressively explore possible action sequences.</a:t>
            </a:r>
          </a:p>
          <a:p>
            <a:pPr lvl="1"/>
            <a:r>
              <a:rPr lang="en-GB" dirty="0"/>
              <a:t>Used in state-space search problems such as 8-puzzle or 15-puzzle, where solutions exist at unpredictable depths.</a:t>
            </a:r>
          </a:p>
          <a:p>
            <a:pPr lvl="1"/>
            <a:r>
              <a:rPr lang="en-GB" dirty="0"/>
              <a:t>Used in web crawling and tree-like data exploration, where the depth of content hierarchy is unknown.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9FE6-DFA1-D96A-2530-CD3CEF328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6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75FE-741C-80CD-0604-940678E1A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Uniform Cost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FF41D-F35E-1402-581A-F6E52BC103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3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D0EBE-CACC-E194-F412-08801BC3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Uniform 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8ADE1-94B1-23EE-2EDE-EA40A3E51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Uniform Cost Search (UCS)</a:t>
            </a:r>
            <a:r>
              <a:rPr lang="en-GB" dirty="0"/>
              <a:t> is a </a:t>
            </a:r>
            <a:r>
              <a:rPr lang="en-GB" b="1" dirty="0"/>
              <a:t>search algorithm that </a:t>
            </a:r>
            <a:r>
              <a:rPr lang="en-GB" b="1" dirty="0">
                <a:highlight>
                  <a:srgbClr val="00FFFF"/>
                </a:highlight>
              </a:rPr>
              <a:t>expands the least-cost node first</a:t>
            </a:r>
            <a:r>
              <a:rPr lang="en-GB" dirty="0"/>
              <a:t>, rather than the lowest node (like BFS).</a:t>
            </a:r>
          </a:p>
          <a:p>
            <a:r>
              <a:rPr lang="en-GB" dirty="0"/>
              <a:t>It guarantees finding the </a:t>
            </a:r>
            <a:r>
              <a:rPr lang="en-GB" b="1" dirty="0"/>
              <a:t>optimal (lowest cost) path</a:t>
            </a:r>
            <a:r>
              <a:rPr lang="en-GB" dirty="0"/>
              <a:t> to the goal </a:t>
            </a:r>
            <a:r>
              <a:rPr lang="en-GB" b="1" dirty="0"/>
              <a:t>if all step costs are non-negative</a:t>
            </a:r>
            <a:r>
              <a:rPr lang="en-GB" dirty="0"/>
              <a:t>.</a:t>
            </a:r>
          </a:p>
          <a:p>
            <a:r>
              <a:rPr lang="en-GB" dirty="0"/>
              <a:t>UCS is basically a </a:t>
            </a:r>
            <a:r>
              <a:rPr lang="en-GB" b="1" dirty="0"/>
              <a:t>Breadth-First Search with costs</a:t>
            </a:r>
            <a:r>
              <a:rPr lang="en-GB" dirty="0"/>
              <a:t>, </a:t>
            </a:r>
            <a:r>
              <a:rPr lang="en-GB" dirty="0">
                <a:highlight>
                  <a:srgbClr val="00FFFF"/>
                </a:highlight>
              </a:rPr>
              <a:t>where the priority is given to </a:t>
            </a:r>
            <a:r>
              <a:rPr lang="en-GB" b="1" dirty="0">
                <a:highlight>
                  <a:srgbClr val="00FFFF"/>
                </a:highlight>
              </a:rPr>
              <a:t>path cost</a:t>
            </a:r>
            <a:r>
              <a:rPr lang="en-GB" dirty="0">
                <a:highlight>
                  <a:srgbClr val="00FFFF"/>
                </a:highlight>
              </a:rPr>
              <a:t> instead of </a:t>
            </a:r>
            <a:r>
              <a:rPr lang="en-GB" b="1" dirty="0">
                <a:highlight>
                  <a:srgbClr val="00FFFF"/>
                </a:highlight>
              </a:rPr>
              <a:t>depth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Imagine you’re finding the </a:t>
            </a:r>
            <a:r>
              <a:rPr lang="en-GB" b="1" dirty="0"/>
              <a:t>cheapest route</a:t>
            </a:r>
            <a:r>
              <a:rPr lang="en-GB" dirty="0"/>
              <a:t> between two cities on a map. You don’t just look for the </a:t>
            </a:r>
            <a:r>
              <a:rPr lang="en-GB" b="1" dirty="0"/>
              <a:t>shortest number of roads</a:t>
            </a:r>
            <a:r>
              <a:rPr lang="en-GB" dirty="0"/>
              <a:t>, but the </a:t>
            </a:r>
            <a:r>
              <a:rPr lang="en-GB" b="1" dirty="0"/>
              <a:t>least total travel cost (distance or time)</a:t>
            </a:r>
            <a:r>
              <a:rPr lang="en-GB" dirty="0"/>
              <a:t>. That’s what UCS does, it </a:t>
            </a:r>
            <a:r>
              <a:rPr lang="en-GB" b="1" dirty="0"/>
              <a:t>always picks the path with the smallest accumulated cost so far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4CE49-2E39-79CE-E7B7-C73D2B194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127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691E-564C-7A08-E90B-F52D6F31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D09E-D5CC-72AE-FF7D-312BB84E4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Uniform 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65CFD-49DB-C40C-E0E3-CEBAACD9E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Working Principle</a:t>
            </a:r>
          </a:p>
          <a:p>
            <a:pPr lvl="1"/>
            <a:r>
              <a:rPr lang="en-GB" dirty="0"/>
              <a:t>Start from the </a:t>
            </a:r>
            <a:r>
              <a:rPr lang="en-GB" b="1" dirty="0"/>
              <a:t>root node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Maintain a </a:t>
            </a:r>
            <a:r>
              <a:rPr lang="en-GB" b="1" dirty="0"/>
              <a:t>priority queue (min-heap)</a:t>
            </a:r>
            <a:r>
              <a:rPr lang="en-GB" dirty="0"/>
              <a:t> where priority = </a:t>
            </a:r>
            <a:r>
              <a:rPr lang="en-GB" b="1" dirty="0"/>
              <a:t>path cost (g(n))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At each step, </a:t>
            </a:r>
            <a:r>
              <a:rPr lang="en-GB" b="1" dirty="0"/>
              <a:t>expand the node with the lowest cost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Add successors to the queue with their </a:t>
            </a:r>
            <a:r>
              <a:rPr lang="en-GB" b="1" dirty="0"/>
              <a:t>cumulative path costs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Stop when the </a:t>
            </a:r>
            <a:r>
              <a:rPr lang="en-GB" b="1" dirty="0"/>
              <a:t>goal node is reached</a:t>
            </a:r>
            <a:r>
              <a:rPr lang="en-GB" dirty="0"/>
              <a:t> — this guarantees the </a:t>
            </a:r>
            <a:r>
              <a:rPr lang="en-GB" b="1" dirty="0"/>
              <a:t>minimum cost path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0E49E-C494-58D0-2048-5773ED6FA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026" name="Picture 2" descr="Uniform Cost Search (UCS) Algorithm in Python">
            <a:extLst>
              <a:ext uri="{FF2B5EF4-FFF2-40B4-BE49-F238E27FC236}">
                <a16:creationId xmlns:a16="http://schemas.microsoft.com/office/drawing/2014/main" id="{F61EEAD4-C9CF-B5C3-8691-A1C7C7AE42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08" b="33323"/>
          <a:stretch>
            <a:fillRect/>
          </a:stretch>
        </p:blipFill>
        <p:spPr bwMode="auto">
          <a:xfrm>
            <a:off x="4235223" y="3658411"/>
            <a:ext cx="6625609" cy="296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16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B52AF-5AA6-7015-AF28-F80C8320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CE0E-C4ED-002A-A161-0B3C84B38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Uniform 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A288F-5A32-05BC-56C7-86D050929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pPr lvl="1"/>
            <a:r>
              <a:rPr lang="en-GB" dirty="0"/>
              <a:t>Always finds the </a:t>
            </a:r>
            <a:r>
              <a:rPr lang="en-GB" b="1" dirty="0"/>
              <a:t>optimal (least-cost)</a:t>
            </a:r>
            <a:r>
              <a:rPr lang="en-GB" dirty="0"/>
              <a:t> path.</a:t>
            </a:r>
          </a:p>
          <a:p>
            <a:pPr lvl="1"/>
            <a:r>
              <a:rPr lang="en-GB" dirty="0"/>
              <a:t>Works with </a:t>
            </a:r>
            <a:r>
              <a:rPr lang="en-GB" b="1" dirty="0"/>
              <a:t>different step costs</a:t>
            </a:r>
            <a:r>
              <a:rPr lang="en-GB" dirty="0"/>
              <a:t>, unlike BFS.</a:t>
            </a:r>
          </a:p>
          <a:p>
            <a:pPr lvl="1"/>
            <a:r>
              <a:rPr lang="en-GB" dirty="0"/>
              <a:t>Guarantees solution if one exists.</a:t>
            </a:r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b="1" dirty="0"/>
              <a:t>Slow</a:t>
            </a:r>
            <a:r>
              <a:rPr lang="en-GB" dirty="0"/>
              <a:t> if many small-cost paths exist.</a:t>
            </a:r>
          </a:p>
          <a:p>
            <a:pPr lvl="1"/>
            <a:r>
              <a:rPr lang="en-GB" b="1" dirty="0"/>
              <a:t>High memory usage</a:t>
            </a:r>
            <a:r>
              <a:rPr lang="en-GB" dirty="0"/>
              <a:t> due to the priority queue.</a:t>
            </a:r>
          </a:p>
          <a:p>
            <a:pPr lvl="1"/>
            <a:r>
              <a:rPr lang="en-GB" b="1" dirty="0"/>
              <a:t>Not efficient</a:t>
            </a:r>
            <a:r>
              <a:rPr lang="en-GB" dirty="0"/>
              <a:t> for extremely large or infinite graphs.</a:t>
            </a:r>
          </a:p>
          <a:p>
            <a:pPr marL="0" indent="0">
              <a:buNone/>
            </a:pPr>
            <a:endParaRPr lang="en-GB" sz="1800" b="1" dirty="0"/>
          </a:p>
          <a:p>
            <a:pPr marL="0" indent="0">
              <a:buNone/>
            </a:pPr>
            <a:r>
              <a:rPr lang="en-GB" b="1" dirty="0"/>
              <a:t>Real-Life Applications</a:t>
            </a:r>
          </a:p>
          <a:p>
            <a:pPr lvl="1"/>
            <a:r>
              <a:rPr lang="en-GB" dirty="0"/>
              <a:t>GPS Navigation systems (Google Maps, Apple Maps)</a:t>
            </a:r>
          </a:p>
          <a:p>
            <a:pPr lvl="1"/>
            <a:r>
              <a:rPr lang="en-GB" dirty="0"/>
              <a:t>Network routing protocols (finding cheapest path)</a:t>
            </a:r>
          </a:p>
          <a:p>
            <a:pPr lvl="1"/>
            <a:r>
              <a:rPr lang="en-GB" dirty="0"/>
              <a:t>Robot path planning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6C3D7-496B-366C-244E-7C74AB219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1029-04BE-75C0-E27B-71912B15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Uniform Cost Search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4187-3A49-8FE7-F975-3246EA26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BB024-0E36-363D-8177-91EEB71BD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2" descr="Uniform Cost Search (UCS) Algorithm in Python">
            <a:extLst>
              <a:ext uri="{FF2B5EF4-FFF2-40B4-BE49-F238E27FC236}">
                <a16:creationId xmlns:a16="http://schemas.microsoft.com/office/drawing/2014/main" id="{7D05B790-4629-240D-CA9B-1E865287E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408" b="33323"/>
          <a:stretch>
            <a:fillRect/>
          </a:stretch>
        </p:blipFill>
        <p:spPr bwMode="auto">
          <a:xfrm>
            <a:off x="620032" y="1418253"/>
            <a:ext cx="10936236" cy="4901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20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D9FA-FA7B-D860-ACC3-4C034B3B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Uniform Cost Search (Example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3E3CF-F6B8-3CA3-3E9C-4320F65B6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1026" name="Picture 2" descr="Uniform Cost Search:. Python Pseudocode Approach | by Dipali Majetiha |  Medium">
            <a:extLst>
              <a:ext uri="{FF2B5EF4-FFF2-40B4-BE49-F238E27FC236}">
                <a16:creationId xmlns:a16="http://schemas.microsoft.com/office/drawing/2014/main" id="{9434500F-C414-F18F-3DA5-08F34A58F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37" t="27138" r="9978" b="29411"/>
          <a:stretch>
            <a:fillRect/>
          </a:stretch>
        </p:blipFill>
        <p:spPr bwMode="auto">
          <a:xfrm>
            <a:off x="2947083" y="1026367"/>
            <a:ext cx="7403842" cy="565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418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71FE-909F-7FF4-69F6-35D420C3E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Bidirectional 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FE294-3C78-51A8-BD4D-273162C57C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7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B9D0-38FD-3E5C-D00C-86E980C66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112F-5A00-344C-E2D1-726F53FA5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766" y="960121"/>
            <a:ext cx="7538990" cy="5724764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Bidirectional Search</a:t>
            </a:r>
            <a:r>
              <a:rPr lang="en-GB" dirty="0"/>
              <a:t> is a </a:t>
            </a:r>
            <a:r>
              <a:rPr lang="en-GB" b="1" dirty="0"/>
              <a:t>graph search algorithm</a:t>
            </a:r>
            <a:r>
              <a:rPr lang="en-GB" dirty="0"/>
              <a:t> that runs </a:t>
            </a:r>
            <a:r>
              <a:rPr lang="en-GB" b="1" dirty="0"/>
              <a:t>two simultaneous searches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one </a:t>
            </a:r>
            <a:r>
              <a:rPr lang="en-GB" b="1" dirty="0"/>
              <a:t>forward</a:t>
            </a:r>
            <a:r>
              <a:rPr lang="en-GB" dirty="0"/>
              <a:t> from the start node, and</a:t>
            </a:r>
          </a:p>
          <a:p>
            <a:pPr lvl="1"/>
            <a:r>
              <a:rPr lang="en-GB" dirty="0"/>
              <a:t>one </a:t>
            </a:r>
            <a:r>
              <a:rPr lang="en-GB" b="1" dirty="0"/>
              <a:t>backward</a:t>
            </a:r>
            <a:r>
              <a:rPr lang="en-GB" dirty="0"/>
              <a:t> from the goal node.</a:t>
            </a:r>
          </a:p>
          <a:p>
            <a:pPr lvl="1"/>
            <a:r>
              <a:rPr lang="en-GB" dirty="0"/>
              <a:t>The search stops when the </a:t>
            </a:r>
            <a:r>
              <a:rPr lang="en-GB" b="1" dirty="0"/>
              <a:t>two meet in the middle</a:t>
            </a:r>
            <a:r>
              <a:rPr lang="en-GB" dirty="0"/>
              <a:t> — drastically reducing the total number of nodes explored.</a:t>
            </a:r>
          </a:p>
          <a:p>
            <a:endParaRPr lang="en-GB" dirty="0"/>
          </a:p>
          <a:p>
            <a:r>
              <a:rPr lang="en-GB" dirty="0"/>
              <a:t>Instead of exploring the entire path from start to goal in one direction (like BFS or DFS), Bidirectional Search </a:t>
            </a:r>
            <a:r>
              <a:rPr lang="en-GB" b="1" dirty="0"/>
              <a:t>cuts the search effort almost in half</a:t>
            </a:r>
            <a:r>
              <a:rPr lang="en-GB" dirty="0"/>
              <a:t> by working </a:t>
            </a:r>
            <a:r>
              <a:rPr lang="en-GB" b="1" dirty="0"/>
              <a:t>from both ends simultaneously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ABD1F-7ECB-22A5-0FC8-C3FCC1C65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1F226-4B70-395C-CA5C-390CB64504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46" r="5170"/>
          <a:stretch>
            <a:fillRect/>
          </a:stretch>
        </p:blipFill>
        <p:spPr>
          <a:xfrm>
            <a:off x="8013368" y="1935161"/>
            <a:ext cx="407747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15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481B7-2A08-BE0B-E2CD-2E854447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43CA-EAD8-173D-18D7-612818AF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1428A-F36C-1ED3-99D3-D691B89F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highlight>
                  <a:srgbClr val="00FFFF"/>
                </a:highlight>
              </a:rPr>
              <a:t>Working Principle</a:t>
            </a:r>
          </a:p>
          <a:p>
            <a:r>
              <a:rPr lang="en-GB" dirty="0"/>
              <a:t>Start two searches:</a:t>
            </a:r>
          </a:p>
          <a:p>
            <a:pPr lvl="1"/>
            <a:r>
              <a:rPr lang="en-GB" dirty="0"/>
              <a:t>One forward from the </a:t>
            </a:r>
            <a:r>
              <a:rPr lang="en-GB" b="1" dirty="0"/>
              <a:t>start node (S)</a:t>
            </a:r>
            <a:endParaRPr lang="en-GB" dirty="0"/>
          </a:p>
          <a:p>
            <a:pPr lvl="1"/>
            <a:r>
              <a:rPr lang="en-GB" dirty="0"/>
              <a:t>One backward from the </a:t>
            </a:r>
            <a:r>
              <a:rPr lang="en-GB" b="1" dirty="0"/>
              <a:t>goal node (G)</a:t>
            </a:r>
            <a:endParaRPr lang="en-GB" dirty="0"/>
          </a:p>
          <a:p>
            <a:r>
              <a:rPr lang="en-GB" dirty="0"/>
              <a:t>Expand both searches </a:t>
            </a:r>
            <a:r>
              <a:rPr lang="en-GB" b="1" dirty="0"/>
              <a:t>level by level</a:t>
            </a:r>
            <a:r>
              <a:rPr lang="en-GB" dirty="0"/>
              <a:t> (using BFS or UCS depending on cost).</a:t>
            </a:r>
          </a:p>
          <a:p>
            <a:r>
              <a:rPr lang="en-GB" dirty="0"/>
              <a:t>After every expansion, check whether </a:t>
            </a:r>
            <a:r>
              <a:rPr lang="en-GB" b="1" dirty="0"/>
              <a:t>any node is common</a:t>
            </a:r>
            <a:r>
              <a:rPr lang="en-GB" dirty="0"/>
              <a:t> between both frontiers.</a:t>
            </a:r>
          </a:p>
          <a:p>
            <a:r>
              <a:rPr lang="en-GB" dirty="0"/>
              <a:t>When they meet, </a:t>
            </a:r>
            <a:r>
              <a:rPr lang="en-GB" b="1" dirty="0"/>
              <a:t>combine the two partial paths</a:t>
            </a:r>
            <a:r>
              <a:rPr lang="en-GB" dirty="0"/>
              <a:t> to get the </a:t>
            </a:r>
            <a:r>
              <a:rPr lang="en-GB" b="1" dirty="0"/>
              <a:t>complete solution path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2C01-D81B-3987-8BAB-217816D73D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1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BB873-1632-8E1B-20F7-331EF6F2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72F98-12F3-1865-4430-4D43F6F7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4C005-89FB-595B-48B5-990439D3F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Advantages</a:t>
            </a:r>
          </a:p>
          <a:p>
            <a:pPr lvl="1"/>
            <a:r>
              <a:rPr lang="en-GB" b="1" dirty="0"/>
              <a:t>Faster than BFS or DFS</a:t>
            </a:r>
            <a:r>
              <a:rPr lang="en-GB" dirty="0"/>
              <a:t> for large graphs</a:t>
            </a:r>
          </a:p>
          <a:p>
            <a:pPr lvl="1"/>
            <a:r>
              <a:rPr lang="en-GB" b="1" dirty="0"/>
              <a:t>Saves time</a:t>
            </a:r>
            <a:r>
              <a:rPr lang="en-GB" dirty="0"/>
              <a:t> by exploring from both ends</a:t>
            </a:r>
          </a:p>
          <a:p>
            <a:pPr lvl="1"/>
            <a:r>
              <a:rPr lang="en-GB" dirty="0"/>
              <a:t>Can be </a:t>
            </a:r>
            <a:r>
              <a:rPr lang="en-GB" b="1" dirty="0"/>
              <a:t>optimal</a:t>
            </a:r>
            <a:r>
              <a:rPr lang="en-GB" dirty="0"/>
              <a:t> if both searches use BFS with equal edge costs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Disadvantages</a:t>
            </a:r>
          </a:p>
          <a:p>
            <a:pPr lvl="1"/>
            <a:r>
              <a:rPr lang="en-GB" dirty="0"/>
              <a:t>Needs </a:t>
            </a:r>
            <a:r>
              <a:rPr lang="en-GB" b="1" dirty="0"/>
              <a:t>goal state to be known in advance</a:t>
            </a:r>
          </a:p>
          <a:p>
            <a:pPr lvl="1"/>
            <a:r>
              <a:rPr lang="en-GB" dirty="0"/>
              <a:t>Hard to </a:t>
            </a:r>
            <a:r>
              <a:rPr lang="en-GB" b="1" dirty="0"/>
              <a:t>trace back the path</a:t>
            </a:r>
            <a:r>
              <a:rPr lang="en-GB" dirty="0"/>
              <a:t> unless both searches store parent nodes</a:t>
            </a:r>
          </a:p>
          <a:p>
            <a:pPr lvl="1"/>
            <a:r>
              <a:rPr lang="en-GB" b="1" dirty="0"/>
              <a:t>Space requirement</a:t>
            </a:r>
            <a:r>
              <a:rPr lang="en-GB" dirty="0"/>
              <a:t> is still large (storing both frontiers)</a:t>
            </a:r>
          </a:p>
          <a:p>
            <a:pPr lvl="1"/>
            <a:r>
              <a:rPr lang="en-GB" dirty="0"/>
              <a:t>Not efficient for problems with </a:t>
            </a:r>
            <a:r>
              <a:rPr lang="en-GB" b="1" dirty="0"/>
              <a:t>multiple or unknown goals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8D869-5850-3BFE-82A3-5B8378524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55F33-AC75-80CD-C13C-786243BB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ABED8-B889-B8AE-EB1E-8C7E8BA11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Applications of Bidirectional Search</a:t>
            </a:r>
          </a:p>
          <a:p>
            <a:pPr lvl="1"/>
            <a:r>
              <a:rPr lang="en-GB" dirty="0"/>
              <a:t>Used in </a:t>
            </a:r>
            <a:r>
              <a:rPr lang="en-GB" b="1" dirty="0"/>
              <a:t>GPS navigation systems</a:t>
            </a:r>
            <a:r>
              <a:rPr lang="en-GB" dirty="0"/>
              <a:t> to find the shortest or fastest route between two known locations.</a:t>
            </a:r>
          </a:p>
          <a:p>
            <a:pPr lvl="1"/>
            <a:r>
              <a:rPr lang="en-GB" dirty="0"/>
              <a:t>Applied in </a:t>
            </a:r>
            <a:r>
              <a:rPr lang="en-GB" b="1" dirty="0"/>
              <a:t>robot path planning</a:t>
            </a:r>
            <a:r>
              <a:rPr lang="en-GB" dirty="0"/>
              <a:t> to save time and energy by searching from both the start and goal positions.</a:t>
            </a:r>
          </a:p>
          <a:p>
            <a:pPr lvl="1"/>
            <a:r>
              <a:rPr lang="en-GB" dirty="0"/>
              <a:t>Helps in </a:t>
            </a:r>
            <a:r>
              <a:rPr lang="en-GB" b="1" dirty="0"/>
              <a:t>computer network routing</a:t>
            </a:r>
            <a:r>
              <a:rPr lang="en-GB" dirty="0"/>
              <a:t> to discover the lowest-cost or least-delay communication path.</a:t>
            </a:r>
          </a:p>
          <a:p>
            <a:pPr lvl="1"/>
            <a:r>
              <a:rPr lang="en-GB" dirty="0"/>
              <a:t>Used in </a:t>
            </a:r>
            <a:r>
              <a:rPr lang="en-GB" b="1" dirty="0"/>
              <a:t>AI games and puzzles</a:t>
            </a:r>
            <a:r>
              <a:rPr lang="en-GB" dirty="0"/>
              <a:t> (like the 8-puzzle or chess) to find optimal solutions faster.</a:t>
            </a:r>
          </a:p>
          <a:p>
            <a:pPr lvl="1"/>
            <a:r>
              <a:rPr lang="en-GB" dirty="0"/>
              <a:t>Helps in </a:t>
            </a:r>
            <a:r>
              <a:rPr lang="en-GB" b="1" dirty="0"/>
              <a:t>social network analysis</a:t>
            </a:r>
            <a:r>
              <a:rPr lang="en-GB" dirty="0"/>
              <a:t> to find the minimum degree of connection between two users.</a:t>
            </a:r>
          </a:p>
          <a:p>
            <a:pPr lvl="1"/>
            <a:r>
              <a:rPr lang="en-GB" dirty="0"/>
              <a:t>Used in </a:t>
            </a:r>
            <a:r>
              <a:rPr lang="en-GB" b="1" dirty="0"/>
              <a:t>database query optimization</a:t>
            </a:r>
            <a:r>
              <a:rPr lang="en-GB" dirty="0"/>
              <a:t> for efficient data retrieval between related tables.</a:t>
            </a:r>
          </a:p>
          <a:p>
            <a:pPr lvl="1"/>
            <a:r>
              <a:rPr lang="en-GB" dirty="0"/>
              <a:t>Useful in </a:t>
            </a:r>
            <a:r>
              <a:rPr lang="en-GB" b="1" dirty="0"/>
              <a:t>automated planning systems</a:t>
            </a:r>
            <a:r>
              <a:rPr lang="en-GB" dirty="0"/>
              <a:t> where both the initial and goal states are defined.</a:t>
            </a:r>
          </a:p>
          <a:p>
            <a:pPr lvl="1"/>
            <a:r>
              <a:rPr lang="en-GB" dirty="0"/>
              <a:t>Reduces overall search time by </a:t>
            </a:r>
            <a:r>
              <a:rPr lang="en-GB" b="1" dirty="0"/>
              <a:t>meeting in the middle</a:t>
            </a:r>
            <a:r>
              <a:rPr lang="en-GB" dirty="0"/>
              <a:t>, making it efficient for large problem spaces.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54861-A557-17A8-565C-0263CBB81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83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D5271-5E87-AB73-B39A-85345BAB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AE2F9A-93AC-F5D9-1DF8-7C6A85F03F26}"/>
              </a:ext>
            </a:extLst>
          </p:cNvPr>
          <p:cNvSpPr/>
          <p:nvPr/>
        </p:nvSpPr>
        <p:spPr>
          <a:xfrm>
            <a:off x="1174967" y="5827190"/>
            <a:ext cx="98420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/>
              <a:t>If you were taking a </a:t>
            </a:r>
            <a:r>
              <a:rPr lang="en-GB" sz="3200" b="1" dirty="0"/>
              <a:t>nap</a:t>
            </a:r>
            <a:r>
              <a:rPr lang="en-GB" sz="3200" dirty="0"/>
              <a:t>, </a:t>
            </a:r>
            <a:r>
              <a:rPr lang="en-GB" sz="3200" b="1" dirty="0">
                <a:highlight>
                  <a:srgbClr val="00FF00"/>
                </a:highlight>
              </a:rPr>
              <a:t>wake up</a:t>
            </a:r>
            <a:r>
              <a:rPr lang="en-GB" sz="3200" dirty="0"/>
              <a:t>… the lecture is over!</a:t>
            </a: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72759-E1E1-46A0-235C-9097038DAA31}"/>
              </a:ext>
            </a:extLst>
          </p:cNvPr>
          <p:cNvSpPr txBox="1"/>
          <p:nvPr/>
        </p:nvSpPr>
        <p:spPr>
          <a:xfrm>
            <a:off x="0" y="-38602"/>
            <a:ext cx="11372850" cy="338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solidFill>
                  <a:srgbClr val="EE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 included in Syllabus</a:t>
            </a:r>
            <a:endParaRPr lang="en-US" sz="1600" b="1" dirty="0">
              <a:solidFill>
                <a:srgbClr val="EE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16BFC8-C11B-BA22-04E9-64205A765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72CE09-311C-4CDB-87AD-5FE14EBCB3AD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3" name="Picture 2" descr="New girl GIF on GIFER - by Mogor">
            <a:extLst>
              <a:ext uri="{FF2B5EF4-FFF2-40B4-BE49-F238E27FC236}">
                <a16:creationId xmlns:a16="http://schemas.microsoft.com/office/drawing/2014/main" id="{62355DC8-3317-16E2-75A6-B1371B24B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387" y="699796"/>
            <a:ext cx="6218952" cy="4980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81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64FBF-6C2E-67FD-B801-E04C15A2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 Have A Question GIFs | Tenor">
            <a:extLst>
              <a:ext uri="{FF2B5EF4-FFF2-40B4-BE49-F238E27FC236}">
                <a16:creationId xmlns:a16="http://schemas.microsoft.com/office/drawing/2014/main" id="{AC79EF04-3A33-EAF1-5CB0-E3673F988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472" y="1081888"/>
            <a:ext cx="4815991" cy="481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DDEC0D-A255-42CF-F237-AE0CAC38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D079-F175-6CA6-E5A8-54F0CC32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Time Complexity and Space Complexity</a:t>
            </a:r>
          </a:p>
          <a:p>
            <a:pPr marL="0" indent="0">
              <a:buNone/>
            </a:pPr>
            <a:r>
              <a:rPr lang="en-US" b="1" dirty="0"/>
              <a:t>Uninformed Search Algorithms: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Breadth First Search (BFS)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Depth First Search (DFS)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Depth Limited Search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Iterative Deepening Depth First Search.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Uniform Cost Search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Bidirectional Search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5902F-7B6D-DA6B-13EC-2F9A41F9A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19823" y="6480890"/>
            <a:ext cx="1689100" cy="365125"/>
          </a:xfrm>
          <a:prstGeom prst="rect">
            <a:avLst/>
          </a:prstGeom>
        </p:spPr>
        <p:txBody>
          <a:bodyPr/>
          <a:lstStyle/>
          <a:p>
            <a:fld id="{7472CE09-311C-4CDB-87AD-5FE14EBCB3AD}" type="slidenum">
              <a:rPr lang="en-US" sz="1800" b="1" smtClean="0"/>
              <a:pPr/>
              <a:t>44</a:t>
            </a:fld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1955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window dir="ver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HITEC Color Templete">
      <a:dk1>
        <a:srgbClr val="0F1A1D"/>
      </a:dk1>
      <a:lt1>
        <a:srgbClr val="D6E5EA"/>
      </a:lt1>
      <a:dk2>
        <a:srgbClr val="0F1A1D"/>
      </a:dk2>
      <a:lt2>
        <a:srgbClr val="DBE9F7"/>
      </a:lt2>
      <a:accent1>
        <a:srgbClr val="08172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4353</TotalTime>
  <Words>3755</Words>
  <Application>Microsoft Office PowerPoint</Application>
  <PresentationFormat>Widescreen</PresentationFormat>
  <Paragraphs>619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Cambria Math</vt:lpstr>
      <vt:lpstr>Times New Roman</vt:lpstr>
      <vt:lpstr>Office Theme</vt:lpstr>
      <vt:lpstr>CS312 Artificial Intelligence</vt:lpstr>
      <vt:lpstr>Lecture Content</vt:lpstr>
      <vt:lpstr>Time Complexity</vt:lpstr>
      <vt:lpstr>Time Complexity</vt:lpstr>
      <vt:lpstr>Space Complexity</vt:lpstr>
      <vt:lpstr>Space Complexity</vt:lpstr>
      <vt:lpstr>Breadth First Search (BFS)</vt:lpstr>
      <vt:lpstr>1. Breadth First Search (BFS)</vt:lpstr>
      <vt:lpstr>1. Breadth First Search (BFS)</vt:lpstr>
      <vt:lpstr>1. Breadth First Search (BFS)</vt:lpstr>
      <vt:lpstr>1. Breadth First Search (BFS)</vt:lpstr>
      <vt:lpstr>1. BFS - Example: Simple Graph Search</vt:lpstr>
      <vt:lpstr>1. BFS - Example 1: Simple Graph Search</vt:lpstr>
      <vt:lpstr>Complex Question: Breadth-First Search (BFS)</vt:lpstr>
      <vt:lpstr>Complex Question: Breadth-First Search (BFS)</vt:lpstr>
      <vt:lpstr>Complex Question: Breadth-First Search (BFS)</vt:lpstr>
      <vt:lpstr>Depth First Search (DFS)</vt:lpstr>
      <vt:lpstr>2. Depth First Search (DFS)</vt:lpstr>
      <vt:lpstr>2. Depth First Search (DFS)</vt:lpstr>
      <vt:lpstr>2. Depth First Search (DFS)</vt:lpstr>
      <vt:lpstr>2. Depth First Search (DFS)</vt:lpstr>
      <vt:lpstr>2. Depth First Search (DFS)</vt:lpstr>
      <vt:lpstr>2. Depth First Search (DFS)</vt:lpstr>
      <vt:lpstr>Depth Limited Search</vt:lpstr>
      <vt:lpstr>3. Depth Limited Search</vt:lpstr>
      <vt:lpstr>3. Depth Limited Search</vt:lpstr>
      <vt:lpstr>Iterative Deepening Depth First Search</vt:lpstr>
      <vt:lpstr>4. Iterative Deepening Depth First Search</vt:lpstr>
      <vt:lpstr>4. Iterative Deepening Depth First Search</vt:lpstr>
      <vt:lpstr>4. Iterative Deepening Depth First Search</vt:lpstr>
      <vt:lpstr>4. Iterative Deepening Depth First Search</vt:lpstr>
      <vt:lpstr>Uniform Cost Search</vt:lpstr>
      <vt:lpstr>5. Uniform Cost Search</vt:lpstr>
      <vt:lpstr>5. Uniform Cost Search</vt:lpstr>
      <vt:lpstr>5. Uniform Cost Search</vt:lpstr>
      <vt:lpstr>5. Uniform Cost Search (Example 1)</vt:lpstr>
      <vt:lpstr>5. Uniform Cost Search (Example 2)</vt:lpstr>
      <vt:lpstr>Bidirectional Search</vt:lpstr>
      <vt:lpstr>6. Bidirectional Search</vt:lpstr>
      <vt:lpstr>6. Bidirectional Search</vt:lpstr>
      <vt:lpstr>6. Bidirectional Search</vt:lpstr>
      <vt:lpstr>6. Bidirectional Search</vt:lpstr>
      <vt:lpstr>PowerPoint Presentation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BS105 - Applied Physics</dc:title>
  <dc:creator>Mubashir Iqbal</dc:creator>
  <cp:lastModifiedBy>Mubashir Iqbal</cp:lastModifiedBy>
  <cp:revision>813</cp:revision>
  <dcterms:created xsi:type="dcterms:W3CDTF">2025-02-22T18:08:14Z</dcterms:created>
  <dcterms:modified xsi:type="dcterms:W3CDTF">2025-11-05T04:43:34Z</dcterms:modified>
</cp:coreProperties>
</file>