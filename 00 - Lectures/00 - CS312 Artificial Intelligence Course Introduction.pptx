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370" r:id="rId3"/>
    <p:sldId id="373" r:id="rId4"/>
    <p:sldId id="374" r:id="rId5"/>
    <p:sldId id="383" r:id="rId6"/>
    <p:sldId id="372" r:id="rId7"/>
    <p:sldId id="376" r:id="rId8"/>
    <p:sldId id="377" r:id="rId9"/>
    <p:sldId id="378" r:id="rId10"/>
    <p:sldId id="375" r:id="rId11"/>
    <p:sldId id="379" r:id="rId12"/>
    <p:sldId id="386" r:id="rId13"/>
    <p:sldId id="382" r:id="rId14"/>
    <p:sldId id="387" r:id="rId15"/>
    <p:sldId id="384" r:id="rId16"/>
    <p:sldId id="385" r:id="rId17"/>
    <p:sldId id="35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4D4"/>
    <a:srgbClr val="B2B3AD"/>
    <a:srgbClr val="96978D"/>
    <a:srgbClr val="A4A59D"/>
    <a:srgbClr val="C6C7C1"/>
    <a:srgbClr val="BEB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6649" autoAdjust="0"/>
  </p:normalViewPr>
  <p:slideViewPr>
    <p:cSldViewPr snapToGrid="0">
      <p:cViewPr varScale="1">
        <p:scale>
          <a:sx n="103" d="100"/>
          <a:sy n="103" d="100"/>
        </p:scale>
        <p:origin x="9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67043-1ED9-4280-B30D-13F4B4DE3247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4BD96-1AF7-4450-99A7-A00EE4A95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2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4689AE-CB4D-5E97-1D4C-63AB686A07C3}"/>
              </a:ext>
            </a:extLst>
          </p:cNvPr>
          <p:cNvSpPr/>
          <p:nvPr userDrawn="1"/>
        </p:nvSpPr>
        <p:spPr>
          <a:xfrm>
            <a:off x="0" y="-42532"/>
            <a:ext cx="12192000" cy="69005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873A6-FC85-F129-0FF3-6D9468FF2A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6515" y="2208190"/>
            <a:ext cx="10259568" cy="1305404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CS302 –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6E857-2B66-8433-D469-E0F15F210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6515" y="3602038"/>
            <a:ext cx="1025956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466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F40D-520F-F4CA-0576-5338E0573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65" y="33251"/>
            <a:ext cx="11381518" cy="820694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DA2AB-11BE-1B22-FF80-605EED1A1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11751834" cy="5478779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  <a:latin typeface="+mj-lt"/>
              </a:defRPr>
            </a:lvl1pPr>
            <a:lvl2pPr algn="just">
              <a:defRPr>
                <a:solidFill>
                  <a:schemeClr val="tx1"/>
                </a:solidFill>
                <a:latin typeface="+mj-lt"/>
              </a:defRPr>
            </a:lvl2pPr>
            <a:lvl3pPr algn="just">
              <a:defRPr>
                <a:solidFill>
                  <a:schemeClr val="tx1"/>
                </a:solidFill>
                <a:latin typeface="+mj-lt"/>
              </a:defRPr>
            </a:lvl3pPr>
            <a:lvl4pPr algn="just">
              <a:defRPr>
                <a:solidFill>
                  <a:schemeClr val="tx1"/>
                </a:solidFill>
                <a:latin typeface="+mj-lt"/>
              </a:defRPr>
            </a:lvl4pPr>
            <a:lvl5pPr algn="just"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17B780-5025-987F-3DC3-184DB53C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45378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52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390B-285F-2C66-D3FE-5B823F0A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5860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7D06B-72EC-43BE-409D-39B6E53EB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62451"/>
            <a:ext cx="10515600" cy="17272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F5279-CD73-19B5-AEA6-B78C3CC5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8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74FB-C9E5-C168-20A6-B3138D43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2E0BE-046F-1656-A145-BBACA25D7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C35C7-5AD0-4BB9-3A77-57B8F6E98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E76BB-C4E6-01DD-0010-DFAB60E0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9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54BE-9621-56F0-9219-A17957FD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43CC7-D7C2-023B-1C8F-090430ACA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24881-EEE8-DDD3-EDE0-54CB2733B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64512-393A-A3D4-FBDE-1188EEFE4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3AABB-DAFA-7136-A2A0-006C345DB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6C1CE-5C88-9011-ACE6-158D2F0C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6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E0DF-359C-3772-3B71-EFDA2F53A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212C9-60ED-12F0-F460-F845501C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C46D-2B95-949D-3D28-C145FC36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5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4F23-B588-F794-09EC-A2398E2B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56CA-F0FE-7F30-B301-68E86B42D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5B6BF-FC9D-7271-45F2-8A2CDC471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51AB9-EA21-649F-D191-F1AC7A87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9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EF64-BD0E-7FFD-41EF-96D6A291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307B4-313F-A6E9-69DA-57E1B9E03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F3271-8CA8-9B7C-8ED5-D3E0D8F23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F880D-EF92-559D-6033-0C6E972C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6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8D9B-387D-38BF-CFF6-74C54DBC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FC8C8-5343-9FD0-1205-5ED3586DA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01AF-A25D-1B2E-85CC-A8223D7F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3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F6999-1A20-3F30-1A01-EF7DEE430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1003C-3203-B1B0-D7FA-247447BB0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57813-20CF-6AD1-51DD-95ACB0B1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6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27C1B2-D306-5234-FCB6-417DA2E74BB8}"/>
              </a:ext>
            </a:extLst>
          </p:cNvPr>
          <p:cNvSpPr/>
          <p:nvPr userDrawn="1"/>
        </p:nvSpPr>
        <p:spPr>
          <a:xfrm>
            <a:off x="0" y="6366"/>
            <a:ext cx="12199583" cy="688353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92000"/>
                </a:schemeClr>
              </a:gs>
              <a:gs pos="20000">
                <a:schemeClr val="bg1">
                  <a:lumMod val="75000"/>
                  <a:alpha val="92000"/>
                </a:schemeClr>
              </a:gs>
              <a:gs pos="100000">
                <a:schemeClr val="bg1">
                  <a:lumMod val="90000"/>
                  <a:alpha val="92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CCBC0-7F92-F92F-3AA1-0BDB8B916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4741" y="994522"/>
            <a:ext cx="11817767" cy="5423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</a:t>
            </a:r>
            <a:r>
              <a:rPr lang="en-US" dirty="0" err="1"/>
              <a:t>fksdfkljaslkfjlkasjflkajslfkjalskf</a:t>
            </a:r>
            <a:r>
              <a:rPr lang="en-US" dirty="0"/>
              <a:t> </a:t>
            </a:r>
            <a:r>
              <a:rPr lang="en-US" dirty="0" err="1"/>
              <a:t>jas</a:t>
            </a:r>
            <a:r>
              <a:rPr lang="en-US" dirty="0"/>
              <a:t> </a:t>
            </a:r>
            <a:r>
              <a:rPr lang="en-US" dirty="0" err="1"/>
              <a:t>fkljasl</a:t>
            </a:r>
            <a:r>
              <a:rPr lang="en-US" dirty="0"/>
              <a:t> </a:t>
            </a:r>
            <a:r>
              <a:rPr lang="en-US" dirty="0" err="1"/>
              <a:t>fjlas</a:t>
            </a:r>
            <a:r>
              <a:rPr lang="en-US" dirty="0"/>
              <a:t> </a:t>
            </a:r>
            <a:r>
              <a:rPr lang="en-US" dirty="0" err="1"/>
              <a:t>flkajsfjjaslfjalskfjlasjflsajlfjaslfjl</a:t>
            </a:r>
            <a:endParaRPr lang="en-US" dirty="0"/>
          </a:p>
          <a:p>
            <a:pPr lvl="0"/>
            <a:r>
              <a:rPr lang="en-US" dirty="0"/>
              <a:t>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C389EA-4E88-4DB2-DE6D-8FD6A4839D49}"/>
              </a:ext>
            </a:extLst>
          </p:cNvPr>
          <p:cNvSpPr/>
          <p:nvPr userDrawn="1"/>
        </p:nvSpPr>
        <p:spPr>
          <a:xfrm>
            <a:off x="10633" y="-12512"/>
            <a:ext cx="12192000" cy="905228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0000">
                <a:schemeClr val="bg1">
                  <a:lumMod val="75000"/>
                </a:schemeClr>
              </a:gs>
              <a:gs pos="100000">
                <a:schemeClr val="bg1">
                  <a:lumMod val="90000"/>
                </a:schemeClr>
              </a:gs>
            </a:gsLst>
            <a:lin ang="10800000" scaled="1"/>
          </a:gra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68E77-43C7-C229-9E42-88482BF4F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AA29F4-108E-4774-317D-15F8F3E82F0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475" y="-25532"/>
            <a:ext cx="1047475" cy="10491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BC85BD5-EE8B-11F4-28D8-9421929526E2}"/>
              </a:ext>
            </a:extLst>
          </p:cNvPr>
          <p:cNvSpPr/>
          <p:nvPr userDrawn="1"/>
        </p:nvSpPr>
        <p:spPr>
          <a:xfrm>
            <a:off x="11461072" y="6459624"/>
            <a:ext cx="621437" cy="3651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/>
          <a:p>
            <a:pPr lvl="0"/>
            <a:endParaRPr lang="en-US" sz="1600" b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1503D-3365-9FDA-1D27-9F09309E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39" y="47830"/>
            <a:ext cx="11503151" cy="873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90BF7-2D25-BFDB-733C-742A7A37279C}"/>
              </a:ext>
            </a:extLst>
          </p:cNvPr>
          <p:cNvSpPr/>
          <p:nvPr userDrawn="1"/>
        </p:nvSpPr>
        <p:spPr>
          <a:xfrm>
            <a:off x="0" y="6366"/>
            <a:ext cx="264741" cy="6870684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66000">
                <a:schemeClr val="bg1">
                  <a:lumMod val="75000"/>
                </a:schemeClr>
              </a:gs>
              <a:gs pos="100000">
                <a:schemeClr val="bg1">
                  <a:lumMod val="9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8CC72BD-F9D4-1C23-2FA6-E96748298632}"/>
              </a:ext>
            </a:extLst>
          </p:cNvPr>
          <p:cNvSpPr txBox="1">
            <a:spLocks/>
          </p:cNvSpPr>
          <p:nvPr userDrawn="1"/>
        </p:nvSpPr>
        <p:spPr>
          <a:xfrm>
            <a:off x="0" y="6464095"/>
            <a:ext cx="2183907" cy="3651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83281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78D8-39C5-136D-7DE7-C372254E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6515" y="2208190"/>
            <a:ext cx="10259568" cy="2541092"/>
          </a:xfrm>
        </p:spPr>
        <p:txBody>
          <a:bodyPr>
            <a:normAutofit fontScale="90000"/>
          </a:bodyPr>
          <a:lstStyle/>
          <a:p>
            <a:r>
              <a:rPr lang="en-US" dirty="0"/>
              <a:t>CS312</a:t>
            </a:r>
            <a:br>
              <a:rPr lang="en-US" dirty="0"/>
            </a:br>
            <a:r>
              <a:rPr lang="en-US" dirty="0"/>
              <a:t>Artificial Intelligence</a:t>
            </a:r>
            <a:br>
              <a:rPr lang="en-US" dirty="0"/>
            </a:br>
            <a:br>
              <a:rPr lang="en-US" dirty="0"/>
            </a:br>
            <a:r>
              <a:rPr lang="en-US" sz="4400" b="0" dirty="0"/>
              <a:t>Course Introduction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AE1AE-E1E7-EFE4-AB97-134DB7127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3225" y="4814596"/>
            <a:ext cx="9144000" cy="1873541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highlight>
                  <a:srgbClr val="00FFFF"/>
                </a:highlight>
              </a:rPr>
              <a:t>Lecture  #  00</a:t>
            </a:r>
          </a:p>
          <a:p>
            <a:pPr algn="r"/>
            <a:r>
              <a:rPr lang="en-US" b="1" dirty="0"/>
              <a:t>HITEC University, Taxila</a:t>
            </a:r>
          </a:p>
          <a:p>
            <a:pPr algn="r"/>
            <a:r>
              <a:rPr lang="en-US" b="1" dirty="0"/>
              <a:t>Mr. Mubashir Iqbal</a:t>
            </a:r>
          </a:p>
          <a:p>
            <a:pPr algn="r"/>
            <a:r>
              <a:rPr lang="en-US" b="1" dirty="0"/>
              <a:t>Fall-2025</a:t>
            </a:r>
          </a:p>
        </p:txBody>
      </p:sp>
    </p:spTree>
    <p:extLst>
      <p:ext uri="{BB962C8B-B14F-4D97-AF65-F5344CB8AC3E}">
        <p14:creationId xmlns:p14="http://schemas.microsoft.com/office/powerpoint/2010/main" val="3931721149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87C1-D4EE-33EA-BC5B-174D98FA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ED41D6-E90C-047E-0A5A-6BDBA50AA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257040"/>
              </p:ext>
            </p:extLst>
          </p:nvPr>
        </p:nvGraphicFramePr>
        <p:xfrm>
          <a:off x="1334278" y="1231641"/>
          <a:ext cx="9386595" cy="509451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497750">
                  <a:extLst>
                    <a:ext uri="{9D8B030D-6E8A-4147-A177-3AD203B41FA5}">
                      <a16:colId xmlns:a16="http://schemas.microsoft.com/office/drawing/2014/main" val="342337108"/>
                    </a:ext>
                  </a:extLst>
                </a:gridCol>
                <a:gridCol w="6888845">
                  <a:extLst>
                    <a:ext uri="{9D8B030D-6E8A-4147-A177-3AD203B41FA5}">
                      <a16:colId xmlns:a16="http://schemas.microsoft.com/office/drawing/2014/main" val="1134476851"/>
                    </a:ext>
                  </a:extLst>
                </a:gridCol>
              </a:tblGrid>
              <a:tr h="842641">
                <a:tc>
                  <a:txBody>
                    <a:bodyPr/>
                    <a:lstStyle/>
                    <a:p>
                      <a:pPr marL="50165" marR="0">
                        <a:spcBef>
                          <a:spcPts val="400"/>
                        </a:spcBef>
                        <a:buNone/>
                      </a:pPr>
                      <a:r>
                        <a:rPr lang="en-US" sz="2800" b="1" dirty="0">
                          <a:effectLst/>
                        </a:rPr>
                        <a:t>Course</a:t>
                      </a:r>
                      <a:r>
                        <a:rPr lang="en-US" sz="2800" b="1" spc="-15" dirty="0">
                          <a:effectLst/>
                        </a:rPr>
                        <a:t> </a:t>
                      </a:r>
                      <a:r>
                        <a:rPr lang="en-US" sz="2800" b="1" dirty="0">
                          <a:effectLst/>
                        </a:rPr>
                        <a:t>Code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3340" marR="0">
                        <a:spcBef>
                          <a:spcPts val="400"/>
                        </a:spcBef>
                        <a:buNone/>
                      </a:pPr>
                      <a:r>
                        <a:rPr lang="en-US" sz="2800">
                          <a:effectLst/>
                        </a:rPr>
                        <a:t>CS-312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89582649"/>
                  </a:ext>
                </a:extLst>
              </a:tr>
              <a:tr h="845863">
                <a:tc>
                  <a:txBody>
                    <a:bodyPr/>
                    <a:lstStyle/>
                    <a:p>
                      <a:pPr marL="50165" marR="0">
                        <a:spcBef>
                          <a:spcPts val="400"/>
                        </a:spcBef>
                        <a:buNone/>
                      </a:pPr>
                      <a:r>
                        <a:rPr lang="en-US" sz="2800" b="1" dirty="0">
                          <a:effectLst/>
                        </a:rPr>
                        <a:t>Course</a:t>
                      </a:r>
                      <a:r>
                        <a:rPr lang="en-US" sz="2800" b="1" spc="-15" dirty="0">
                          <a:effectLst/>
                        </a:rPr>
                        <a:t> </a:t>
                      </a:r>
                      <a:r>
                        <a:rPr lang="en-US" sz="2800" b="1" dirty="0">
                          <a:effectLst/>
                        </a:rPr>
                        <a:t>Title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3340" marR="0">
                        <a:spcBef>
                          <a:spcPts val="400"/>
                        </a:spcBef>
                        <a:buNone/>
                      </a:pPr>
                      <a:r>
                        <a:rPr lang="en-US" sz="2800">
                          <a:effectLst/>
                        </a:rPr>
                        <a:t>Artificial</a:t>
                      </a:r>
                      <a:r>
                        <a:rPr lang="en-US" sz="2800" spc="-15">
                          <a:effectLst/>
                        </a:rPr>
                        <a:t> </a:t>
                      </a:r>
                      <a:r>
                        <a:rPr lang="en-US" sz="2800">
                          <a:effectLst/>
                        </a:rPr>
                        <a:t>Intelligence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567917"/>
                  </a:ext>
                </a:extLst>
              </a:tr>
              <a:tr h="845863">
                <a:tc>
                  <a:txBody>
                    <a:bodyPr/>
                    <a:lstStyle/>
                    <a:p>
                      <a:pPr marL="50165" marR="0">
                        <a:spcBef>
                          <a:spcPts val="415"/>
                        </a:spcBef>
                        <a:buNone/>
                      </a:pPr>
                      <a:r>
                        <a:rPr lang="en-US" sz="2800" b="1" dirty="0">
                          <a:effectLst/>
                        </a:rPr>
                        <a:t>Credit</a:t>
                      </a:r>
                      <a:r>
                        <a:rPr lang="en-US" sz="2800" b="1" spc="-10" dirty="0">
                          <a:effectLst/>
                        </a:rPr>
                        <a:t> </a:t>
                      </a:r>
                      <a:r>
                        <a:rPr lang="en-US" sz="2800" b="1" dirty="0">
                          <a:effectLst/>
                        </a:rPr>
                        <a:t>Hours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3340" marR="0">
                        <a:spcBef>
                          <a:spcPts val="415"/>
                        </a:spcBef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r>
                        <a:rPr lang="en-US" sz="2800" spc="-5">
                          <a:effectLst/>
                        </a:rPr>
                        <a:t> </a:t>
                      </a:r>
                      <a:r>
                        <a:rPr lang="en-US" sz="2800">
                          <a:effectLst/>
                        </a:rPr>
                        <a:t>(2+0)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85522304"/>
                  </a:ext>
                </a:extLst>
              </a:tr>
              <a:tr h="845863">
                <a:tc>
                  <a:txBody>
                    <a:bodyPr/>
                    <a:lstStyle/>
                    <a:p>
                      <a:pPr marL="50165" marR="0">
                        <a:spcBef>
                          <a:spcPts val="415"/>
                        </a:spcBef>
                        <a:buNone/>
                      </a:pPr>
                      <a:r>
                        <a:rPr lang="en-US" sz="2800" b="1" dirty="0">
                          <a:effectLst/>
                        </a:rPr>
                        <a:t>Contact</a:t>
                      </a:r>
                      <a:r>
                        <a:rPr lang="en-US" sz="2800" b="1" spc="-10" dirty="0">
                          <a:effectLst/>
                        </a:rPr>
                        <a:t> </a:t>
                      </a:r>
                      <a:r>
                        <a:rPr lang="en-US" sz="2800" b="1" dirty="0">
                          <a:effectLst/>
                        </a:rPr>
                        <a:t>Hours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3340" marR="0">
                        <a:spcBef>
                          <a:spcPts val="415"/>
                        </a:spcBef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r>
                        <a:rPr lang="en-US" sz="2800" spc="-5">
                          <a:effectLst/>
                        </a:rPr>
                        <a:t> </a:t>
                      </a:r>
                      <a:r>
                        <a:rPr lang="en-US" sz="2800">
                          <a:effectLst/>
                        </a:rPr>
                        <a:t>(2+0)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5953446"/>
                  </a:ext>
                </a:extLst>
              </a:tr>
              <a:tr h="841030">
                <a:tc>
                  <a:txBody>
                    <a:bodyPr/>
                    <a:lstStyle/>
                    <a:p>
                      <a:pPr marL="50165" marR="0">
                        <a:spcBef>
                          <a:spcPts val="415"/>
                        </a:spcBef>
                        <a:buNone/>
                      </a:pPr>
                      <a:r>
                        <a:rPr lang="en-US" sz="2800" b="1" dirty="0">
                          <a:effectLst/>
                        </a:rPr>
                        <a:t>Semester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3340" marR="0">
                        <a:spcBef>
                          <a:spcPts val="415"/>
                        </a:spcBef>
                        <a:buNone/>
                      </a:pPr>
                      <a:r>
                        <a:rPr lang="en-US" sz="2800">
                          <a:effectLst/>
                        </a:rPr>
                        <a:t>BS CyS</a:t>
                      </a:r>
                      <a:r>
                        <a:rPr lang="en-US" sz="2800" spc="-10">
                          <a:effectLst/>
                        </a:rPr>
                        <a:t> </a:t>
                      </a:r>
                      <a:r>
                        <a:rPr lang="en-US" sz="2800">
                          <a:effectLst/>
                        </a:rPr>
                        <a:t>3</a:t>
                      </a:r>
                      <a:r>
                        <a:rPr lang="en-US" sz="2800" baseline="30000">
                          <a:effectLst/>
                        </a:rPr>
                        <a:t>rd</a:t>
                      </a:r>
                      <a:r>
                        <a:rPr lang="en-US" sz="2800">
                          <a:effectLst/>
                        </a:rPr>
                        <a:t> Semester</a:t>
                      </a:r>
                      <a:r>
                        <a:rPr lang="en-US" sz="2800" spc="-10">
                          <a:effectLst/>
                        </a:rPr>
                        <a:t> </a:t>
                      </a:r>
                      <a:r>
                        <a:rPr lang="en-US" sz="2800">
                          <a:effectLst/>
                        </a:rPr>
                        <a:t>—</a:t>
                      </a:r>
                      <a:r>
                        <a:rPr lang="en-US" sz="2800" spc="-10">
                          <a:effectLst/>
                        </a:rPr>
                        <a:t> </a:t>
                      </a:r>
                      <a:r>
                        <a:rPr lang="en-US" sz="2800">
                          <a:effectLst/>
                        </a:rPr>
                        <a:t>Fall</a:t>
                      </a:r>
                      <a:r>
                        <a:rPr lang="en-US" sz="2800" spc="-10">
                          <a:effectLst/>
                        </a:rPr>
                        <a:t> </a:t>
                      </a:r>
                      <a:r>
                        <a:rPr lang="en-US" sz="2800">
                          <a:effectLst/>
                        </a:rPr>
                        <a:t>2025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34148390"/>
                  </a:ext>
                </a:extLst>
              </a:tr>
              <a:tr h="873254">
                <a:tc>
                  <a:txBody>
                    <a:bodyPr/>
                    <a:lstStyle/>
                    <a:p>
                      <a:pPr marL="50165" marR="0">
                        <a:spcBef>
                          <a:spcPts val="400"/>
                        </a:spcBef>
                        <a:buNone/>
                      </a:pPr>
                      <a:r>
                        <a:rPr lang="en-US" sz="2800" b="1" dirty="0">
                          <a:effectLst/>
                          <a:highlight>
                            <a:srgbClr val="FFFF00"/>
                          </a:highlight>
                        </a:rPr>
                        <a:t>Prerequisite</a:t>
                      </a:r>
                      <a:endParaRPr lang="en-US" sz="2400" b="1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1435" marR="0">
                        <a:spcBef>
                          <a:spcPts val="400"/>
                        </a:spcBef>
                        <a:buNone/>
                      </a:pPr>
                      <a:r>
                        <a:rPr lang="en-US" sz="2800" dirty="0">
                          <a:effectLst/>
                          <a:highlight>
                            <a:srgbClr val="FFFF00"/>
                          </a:highlight>
                        </a:rPr>
                        <a:t>CS1xx - Object Oriented Programming</a:t>
                      </a:r>
                      <a:endParaRPr lang="en-US" sz="24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5437907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95B0B-1CC7-54C3-7A1A-50788A3AC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76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0B37-AAAF-2EC5-0993-C885B3F0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CC2F1-7E0E-70EC-B867-A8D72C6EA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Recommended Books:</a:t>
            </a:r>
          </a:p>
          <a:p>
            <a:pPr lvl="0"/>
            <a:r>
              <a:rPr lang="en-US" dirty="0"/>
              <a:t>Russell, Stuart J., and Peter Norvig. </a:t>
            </a:r>
            <a:r>
              <a:rPr lang="en-US" b="1" i="1" dirty="0">
                <a:highlight>
                  <a:srgbClr val="00FFFF"/>
                </a:highlight>
              </a:rPr>
              <a:t>Artificial intelligence: a modern approach</a:t>
            </a:r>
            <a:r>
              <a:rPr lang="en-US" dirty="0"/>
              <a:t>. Pearson Education Limited, 3</a:t>
            </a:r>
            <a:r>
              <a:rPr lang="en-US" baseline="30000" dirty="0"/>
              <a:t>rd</a:t>
            </a:r>
            <a:r>
              <a:rPr lang="en-US" dirty="0"/>
              <a:t> Edition. </a:t>
            </a:r>
            <a:r>
              <a:rPr lang="en-US" b="1" dirty="0"/>
              <a:t>ISBN-13: </a:t>
            </a:r>
            <a:r>
              <a:rPr lang="en-US" dirty="0"/>
              <a:t>978-0136042594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Reference Books:</a:t>
            </a:r>
          </a:p>
          <a:p>
            <a:pPr lvl="0"/>
            <a:r>
              <a:rPr lang="en-US" dirty="0"/>
              <a:t>Michalski, Ryszard S., Jaime G. Carbonell, and Tom M. Mitchell, eds. </a:t>
            </a:r>
            <a:r>
              <a:rPr lang="en-US" i="1" u="sng" dirty="0"/>
              <a:t>Machine learning: An artificial intelligence approach</a:t>
            </a:r>
            <a:r>
              <a:rPr lang="en-US" dirty="0"/>
              <a:t>. Springer Science &amp; Business Media, 2013. ISBN 978-3-662-12405-5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lvl="0"/>
            <a:r>
              <a:rPr lang="en-US" dirty="0"/>
              <a:t>Richard O. Duda, Peter E. Hart and David G. Stork, “</a:t>
            </a:r>
            <a:r>
              <a:rPr lang="en-US" u="sng" dirty="0"/>
              <a:t>Pattern Classification, Wiley Inter-science,</a:t>
            </a:r>
            <a:r>
              <a:rPr lang="en-US" dirty="0"/>
              <a:t> 2nd edition, 2006.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39E37-5135-F0FD-2991-15BEF26F3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6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F687-E955-48A4-752A-A9985FA9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A23D7-FE9C-A176-C3CE-94C8B1B7D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highlight>
                  <a:srgbClr val="FF0000"/>
                </a:highlight>
              </a:rPr>
              <a:t>75% class attendance is mandatory to appear in the examination. </a:t>
            </a:r>
            <a:r>
              <a:rPr lang="en-US" dirty="0"/>
              <a:t>Course grades will be determined by the following weights:</a:t>
            </a:r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48E86-08E6-1D50-0247-CFB70AC30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9F511F-91DA-7CCA-4B85-660D4D051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64080"/>
              </p:ext>
            </p:extLst>
          </p:nvPr>
        </p:nvGraphicFramePr>
        <p:xfrm>
          <a:off x="1007706" y="2146041"/>
          <a:ext cx="10814178" cy="416145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374433">
                  <a:extLst>
                    <a:ext uri="{9D8B030D-6E8A-4147-A177-3AD203B41FA5}">
                      <a16:colId xmlns:a16="http://schemas.microsoft.com/office/drawing/2014/main" val="2171050135"/>
                    </a:ext>
                  </a:extLst>
                </a:gridCol>
                <a:gridCol w="2369975">
                  <a:extLst>
                    <a:ext uri="{9D8B030D-6E8A-4147-A177-3AD203B41FA5}">
                      <a16:colId xmlns:a16="http://schemas.microsoft.com/office/drawing/2014/main" val="1458767496"/>
                    </a:ext>
                  </a:extLst>
                </a:gridCol>
                <a:gridCol w="3069770">
                  <a:extLst>
                    <a:ext uri="{9D8B030D-6E8A-4147-A177-3AD203B41FA5}">
                      <a16:colId xmlns:a16="http://schemas.microsoft.com/office/drawing/2014/main" val="2162387958"/>
                    </a:ext>
                  </a:extLst>
                </a:gridCol>
              </a:tblGrid>
              <a:tr h="662334"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b="1" dirty="0">
                          <a:effectLst/>
                        </a:rPr>
                        <a:t>Theory (100%)</a:t>
                      </a:r>
                      <a:endParaRPr lang="en-US" sz="3200" b="1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Helvetica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316901"/>
                  </a:ext>
                </a:extLst>
              </a:tr>
              <a:tr h="6998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3200" dirty="0">
                          <a:effectLst/>
                        </a:rPr>
                        <a:t>Assignments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Helvetica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>
                          <a:effectLst/>
                        </a:rPr>
                        <a:t>10.0%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0609904"/>
                  </a:ext>
                </a:extLst>
              </a:tr>
              <a:tr h="6998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3200" dirty="0">
                          <a:effectLst/>
                        </a:rPr>
                        <a:t>Quizzes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Helvetica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>
                          <a:effectLst/>
                        </a:rPr>
                        <a:t>10.0%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8253727"/>
                  </a:ext>
                </a:extLst>
              </a:tr>
              <a:tr h="6998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3200" dirty="0">
                          <a:effectLst/>
                        </a:rPr>
                        <a:t>Mid Exam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Helvetica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>
                          <a:effectLst/>
                        </a:rPr>
                        <a:t>30.0%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5595714"/>
                  </a:ext>
                </a:extLst>
              </a:tr>
              <a:tr h="6998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3200" dirty="0">
                          <a:effectLst/>
                        </a:rPr>
                        <a:t>Final Exam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Helvetica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>
                          <a:effectLst/>
                        </a:rPr>
                        <a:t>50.0%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7058019"/>
                  </a:ext>
                </a:extLst>
              </a:tr>
              <a:tr h="6998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3200" b="1" dirty="0">
                          <a:effectLst/>
                        </a:rPr>
                        <a:t>Course Total (100%)</a:t>
                      </a:r>
                      <a:endParaRPr lang="en-US" sz="3200" b="1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Helvetica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endParaRPr lang="en-US" sz="3200" b="1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Helvetica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3200" dirty="0">
                          <a:effectLst/>
                        </a:rPr>
                        <a:t>100%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4323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115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7CF0-D8E1-22DB-0A3A-89CBF65787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List of Topics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1EF1B-B27A-B584-CEFA-5071E73E2D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00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CB083-717D-9663-9ECF-BB60B0F1F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611B-23AB-A651-6AB7-95958FE1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covers till Mid-Term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96C76-9E1D-5B6D-2B00-029ED5052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237C37-ED3F-E791-68B7-F5E4273B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1638" indent="-401638">
              <a:buFont typeface="Wingdings" panose="05000000000000000000" pitchFamily="2" charset="2"/>
              <a:buChar char="v"/>
            </a:pPr>
            <a:r>
              <a:rPr lang="en-US" b="1" dirty="0"/>
              <a:t>An Introduction to Artificial Intelligence and its applications towards Knowledge Based Systems; </a:t>
            </a:r>
          </a:p>
          <a:p>
            <a:pPr marL="401638" indent="-401638">
              <a:buFont typeface="Wingdings" panose="05000000000000000000" pitchFamily="2" charset="2"/>
              <a:buChar char="v"/>
            </a:pPr>
            <a:r>
              <a:rPr lang="en-US" b="1" dirty="0"/>
              <a:t>Uninformed Search Algorithms:</a:t>
            </a:r>
          </a:p>
          <a:p>
            <a:pPr lvl="1"/>
            <a:r>
              <a:rPr lang="en-US" dirty="0"/>
              <a:t>Breadth First Search (BFS)</a:t>
            </a:r>
          </a:p>
          <a:p>
            <a:pPr lvl="1"/>
            <a:r>
              <a:rPr lang="en-US" dirty="0"/>
              <a:t>Depth First Search (DFS)</a:t>
            </a:r>
          </a:p>
          <a:p>
            <a:pPr lvl="1"/>
            <a:r>
              <a:rPr lang="en-US" dirty="0"/>
              <a:t>Depth Limited Search</a:t>
            </a:r>
          </a:p>
          <a:p>
            <a:pPr lvl="1"/>
            <a:r>
              <a:rPr lang="en-US" dirty="0"/>
              <a:t>Uniform Cost Search</a:t>
            </a:r>
          </a:p>
          <a:p>
            <a:pPr lvl="1"/>
            <a:r>
              <a:rPr lang="en-US" dirty="0"/>
              <a:t>Bidirectional Search</a:t>
            </a:r>
          </a:p>
          <a:p>
            <a:pPr lvl="1"/>
            <a:r>
              <a:rPr lang="en-US" dirty="0"/>
              <a:t>Iterative Deepening Depth First Search.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52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4FD22-2647-FBB4-3023-B70D5D430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0969-5E61-D1C0-6B9F-8FBE8AB7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covers till Mid-Term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99A4E-F4F9-5CD0-4FE7-B010B56A1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0377A-76A6-FD80-1B82-9BF6D7BBB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1638" indent="-401638">
              <a:buFont typeface="Wingdings" panose="05000000000000000000" pitchFamily="2" charset="2"/>
              <a:buChar char="v"/>
            </a:pPr>
            <a:r>
              <a:rPr lang="en-US" b="1" dirty="0"/>
              <a:t>Informed Search Algorithms - I: </a:t>
            </a:r>
          </a:p>
          <a:p>
            <a:pPr lvl="1"/>
            <a:r>
              <a:rPr lang="en-US" dirty="0"/>
              <a:t>Heuristic Function and its role </a:t>
            </a:r>
          </a:p>
          <a:p>
            <a:pPr lvl="1"/>
            <a:r>
              <a:rPr lang="en-US" dirty="0"/>
              <a:t>Best First Search (BFS)</a:t>
            </a:r>
          </a:p>
          <a:p>
            <a:pPr lvl="1"/>
            <a:r>
              <a:rPr lang="en-US" dirty="0"/>
              <a:t>Beam Search - Optimized Best First Search </a:t>
            </a:r>
          </a:p>
          <a:p>
            <a:pPr lvl="1"/>
            <a:r>
              <a:rPr lang="en-US" dirty="0"/>
              <a:t>A Star(A*) Search Algorithm </a:t>
            </a:r>
          </a:p>
          <a:p>
            <a:pPr lvl="1"/>
            <a:r>
              <a:rPr lang="en-US" dirty="0"/>
              <a:t>AO Star (AO-) Search Algorithm </a:t>
            </a:r>
          </a:p>
          <a:p>
            <a:pPr marL="401638" indent="-401638">
              <a:buFont typeface="Wingdings" panose="05000000000000000000" pitchFamily="2" charset="2"/>
              <a:buChar char="v"/>
            </a:pPr>
            <a:r>
              <a:rPr lang="en-US" b="1" dirty="0"/>
              <a:t>Informed Search Algorithms - II: </a:t>
            </a:r>
          </a:p>
          <a:p>
            <a:pPr lvl="1"/>
            <a:r>
              <a:rPr lang="en-US" dirty="0"/>
              <a:t>Hill Climbing Search </a:t>
            </a:r>
          </a:p>
          <a:p>
            <a:pPr lvl="1"/>
            <a:r>
              <a:rPr lang="en-US" dirty="0"/>
              <a:t>Branch and Bound Technique </a:t>
            </a:r>
          </a:p>
          <a:p>
            <a:pPr lvl="1"/>
            <a:r>
              <a:rPr lang="en-US" dirty="0"/>
              <a:t>State Space Search - Eight Tile Puzzle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59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96B57-06D4-8C53-9E4F-2AC10580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9424B-91F8-6BC2-58B2-1DCABCA5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covers till Mid-Term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FB711-6091-E794-F765-6A0E31C25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9D801-6373-1265-50AC-C6E1839B7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1638" indent="-401638">
              <a:buFont typeface="Wingdings" panose="05000000000000000000" pitchFamily="2" charset="2"/>
              <a:buChar char="v"/>
            </a:pPr>
            <a:r>
              <a:rPr lang="en-US" b="1" dirty="0"/>
              <a:t>Knowledge representation:</a:t>
            </a:r>
          </a:p>
          <a:p>
            <a:pPr lvl="1"/>
            <a:r>
              <a:rPr lang="en-US" dirty="0"/>
              <a:t>Introduction to Knowledge Representation (KR)</a:t>
            </a:r>
          </a:p>
          <a:p>
            <a:pPr lvl="1"/>
            <a:r>
              <a:rPr lang="en-US" dirty="0"/>
              <a:t>Propositional Logic in AI (Syntax, Equivalence and Rules of Inference)</a:t>
            </a:r>
          </a:p>
          <a:p>
            <a:pPr lvl="1"/>
            <a:r>
              <a:rPr lang="en-US" dirty="0"/>
              <a:t>First-Order Logic (FOL) - Predicate Logic &amp; Quantifiers</a:t>
            </a:r>
          </a:p>
          <a:p>
            <a:pPr lvl="1"/>
            <a:r>
              <a:rPr lang="en-US" dirty="0"/>
              <a:t>Unification Algorithm in Artificial Intelligence with example.</a:t>
            </a:r>
          </a:p>
          <a:p>
            <a:pPr lvl="1"/>
            <a:r>
              <a:rPr lang="en-US" dirty="0"/>
              <a:t>Forward and Backward Chaining</a:t>
            </a:r>
          </a:p>
          <a:p>
            <a:pPr lvl="1"/>
            <a:r>
              <a:rPr lang="en-US" dirty="0"/>
              <a:t>Constraint Satisfaction Problems (CSP)</a:t>
            </a:r>
          </a:p>
          <a:p>
            <a:pPr marL="401638" indent="-401638">
              <a:buFont typeface="Wingdings" panose="05000000000000000000" pitchFamily="2" charset="2"/>
              <a:buChar char="v"/>
            </a:pPr>
            <a:r>
              <a:rPr lang="en-US" b="1" dirty="0"/>
              <a:t>Expert Systems &amp; Inference Mechanisms:</a:t>
            </a:r>
          </a:p>
          <a:p>
            <a:pPr lvl="1"/>
            <a:r>
              <a:rPr lang="en-US" dirty="0"/>
              <a:t>Architecture of Expert Systems</a:t>
            </a:r>
          </a:p>
          <a:p>
            <a:pPr lvl="1"/>
            <a:r>
              <a:rPr lang="en-US" dirty="0"/>
              <a:t>Significance of Inference Engine in Expert Systems</a:t>
            </a:r>
          </a:p>
          <a:p>
            <a:pPr lvl="1"/>
            <a:r>
              <a:rPr lang="en-US" dirty="0"/>
              <a:t>Knowledge Acquisition in AI</a:t>
            </a:r>
          </a:p>
          <a:p>
            <a:pPr lvl="1"/>
            <a:r>
              <a:rPr lang="en-US" dirty="0"/>
              <a:t>Rule-Based Systems vs. Case-Based Systems</a:t>
            </a:r>
          </a:p>
        </p:txBody>
      </p:sp>
    </p:spTree>
    <p:extLst>
      <p:ext uri="{BB962C8B-B14F-4D97-AF65-F5344CB8AC3E}">
        <p14:creationId xmlns:p14="http://schemas.microsoft.com/office/powerpoint/2010/main" val="3167682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D618-31FA-DEA8-5DB7-5B4F0447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7A05C-EA5D-DAAA-1D6F-F801B54E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covers till Mid-Term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62B50-942C-8AA5-5567-7E7A769B9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8BD08-B61D-33D7-B924-9CB661874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1638" indent="-401638">
              <a:buFont typeface="Wingdings" panose="05000000000000000000" pitchFamily="2" charset="2"/>
              <a:buChar char="v"/>
            </a:pPr>
            <a:r>
              <a:rPr lang="en-GB" b="1" dirty="0"/>
              <a:t>Knowledge Representation Expansion: </a:t>
            </a:r>
          </a:p>
          <a:p>
            <a:pPr marL="457200" lvl="1" indent="0">
              <a:buNone/>
            </a:pPr>
            <a:r>
              <a:rPr lang="en-GB" dirty="0"/>
              <a:t>•	Types of Knowledge in AI (Procedural, Declarative, Meta, Heuristic, Structural)</a:t>
            </a:r>
          </a:p>
          <a:p>
            <a:pPr marL="457200" lvl="1" indent="0">
              <a:buNone/>
            </a:pPr>
            <a:r>
              <a:rPr lang="en-GB" dirty="0"/>
              <a:t>•	Semantic Networks (Components and Examples)</a:t>
            </a:r>
          </a:p>
          <a:p>
            <a:pPr marL="457200" lvl="1" indent="0">
              <a:buNone/>
            </a:pPr>
            <a:r>
              <a:rPr lang="en-GB" dirty="0"/>
              <a:t>•	Frames for knowledge Representation (Attributes, Reasoning Actions)</a:t>
            </a:r>
          </a:p>
          <a:p>
            <a:pPr marL="457200" lvl="1" indent="0">
              <a:buNone/>
            </a:pPr>
            <a:r>
              <a:rPr lang="en-GB" dirty="0"/>
              <a:t>•	Scripts in knowledge Representation – (Structure and Representation)</a:t>
            </a:r>
          </a:p>
          <a:p>
            <a:pPr marL="457200" lvl="1" indent="0">
              <a:buNone/>
            </a:pPr>
            <a:r>
              <a:rPr lang="en-GB" dirty="0"/>
              <a:t>•	Bayes Theorem and Bayesian Belief Networks in AI</a:t>
            </a:r>
          </a:p>
          <a:p>
            <a:pPr marL="401638" indent="-401638">
              <a:buFont typeface="Wingdings" panose="05000000000000000000" pitchFamily="2" charset="2"/>
              <a:buChar char="v"/>
            </a:pPr>
            <a:r>
              <a:rPr lang="en-GB" b="1" dirty="0"/>
              <a:t>Adversarial Search &amp; Game Theory in AI:</a:t>
            </a:r>
          </a:p>
          <a:p>
            <a:pPr marL="457200" lvl="1" indent="0">
              <a:buNone/>
            </a:pPr>
            <a:r>
              <a:rPr lang="en-GB" dirty="0"/>
              <a:t>•	Introduction to Adversarial Search</a:t>
            </a:r>
          </a:p>
          <a:p>
            <a:pPr marL="457200" lvl="1" indent="0">
              <a:buNone/>
            </a:pPr>
            <a:r>
              <a:rPr lang="en-GB" dirty="0"/>
              <a:t>•	Minimax Algorithm and Its Applications</a:t>
            </a:r>
          </a:p>
          <a:p>
            <a:pPr marL="457200" lvl="1" indent="0">
              <a:buNone/>
            </a:pPr>
            <a:r>
              <a:rPr lang="en-GB" dirty="0"/>
              <a:t>•	Alpha-Beta Pruning for Optimization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77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B612-9595-D305-00DF-2FB5A420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919C-B40F-CE62-B7F1-58E54DF4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Covers, Mid ~ Final-Term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F2706-85D6-9057-CC1C-CAD047551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E7D129-FC6C-32DB-E9EC-7D555213D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Introduction to Datasets and Online Platforms:</a:t>
            </a:r>
            <a:endParaRPr lang="en-US" dirty="0"/>
          </a:p>
          <a:p>
            <a:pPr lvl="1"/>
            <a:r>
              <a:rPr lang="en-US" dirty="0"/>
              <a:t>Introduction to dataset, </a:t>
            </a:r>
          </a:p>
          <a:p>
            <a:pPr lvl="1"/>
            <a:r>
              <a:rPr lang="en-US" dirty="0"/>
              <a:t>Searching and Downloading datasets from different online platforms</a:t>
            </a:r>
          </a:p>
          <a:p>
            <a:pPr lvl="1"/>
            <a:r>
              <a:rPr lang="en-US" dirty="0"/>
              <a:t>Preprocessing, Exploratory Data Analysis (EDA) and Data Visualization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Introduction to Machine Learning (ML):</a:t>
            </a:r>
            <a:endParaRPr lang="en-US" dirty="0"/>
          </a:p>
          <a:p>
            <a:pPr lvl="1"/>
            <a:r>
              <a:rPr lang="en-US" dirty="0"/>
              <a:t>Types of ML: Supervised, Unsupervised, Reinforcement Learning</a:t>
            </a:r>
          </a:p>
          <a:p>
            <a:pPr lvl="1"/>
            <a:r>
              <a:rPr lang="en-US" dirty="0"/>
              <a:t>Regression (Linear and Logistic)</a:t>
            </a:r>
          </a:p>
          <a:p>
            <a:pPr lvl="1"/>
            <a:r>
              <a:rPr lang="en-US" dirty="0"/>
              <a:t>Classification Techniques</a:t>
            </a:r>
          </a:p>
          <a:p>
            <a:pPr lvl="1"/>
            <a:r>
              <a:rPr lang="en-US" dirty="0"/>
              <a:t>Model Evaluation Metrics (Accuracy, Precision, Recall, F1-Score)</a:t>
            </a:r>
          </a:p>
          <a:p>
            <a:pPr lvl="1"/>
            <a:r>
              <a:rPr lang="en-US" dirty="0"/>
              <a:t>Hyperparameter Tuning and Overfitting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94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27DA6-3395-BE38-E7EA-D7DC3A5E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Covers, Mid ~ Final-Term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B772-E787-1BB5-37BE-CE6EA6AB4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Advanced Machine Learning Algorithms – I:</a:t>
            </a:r>
            <a:endParaRPr lang="en-US" dirty="0"/>
          </a:p>
          <a:p>
            <a:pPr lvl="1"/>
            <a:r>
              <a:rPr lang="en-US" dirty="0"/>
              <a:t>Decision Trees, Random Forests, Support Vector Machines (SVM)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Advanced Machine Learning Algorithms – II:</a:t>
            </a:r>
            <a:endParaRPr lang="en-US" dirty="0"/>
          </a:p>
          <a:p>
            <a:pPr lvl="1"/>
            <a:r>
              <a:rPr lang="en-US" dirty="0"/>
              <a:t>Unsupervised Learning</a:t>
            </a:r>
          </a:p>
          <a:p>
            <a:pPr lvl="1"/>
            <a:r>
              <a:rPr lang="en-US" dirty="0"/>
              <a:t>K-Means Clustering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Introduction to Deep Learning – I:</a:t>
            </a:r>
            <a:endParaRPr lang="en-US" dirty="0"/>
          </a:p>
          <a:p>
            <a:pPr lvl="1"/>
            <a:r>
              <a:rPr lang="en-US" dirty="0"/>
              <a:t>Introduction to Artificial Neural Networks (ANN)</a:t>
            </a:r>
          </a:p>
          <a:p>
            <a:pPr lvl="1"/>
            <a:r>
              <a:rPr lang="en-US" dirty="0"/>
              <a:t>Multi-Layer Perceptron (MLP) and Backpropagation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Introduction to Deep Learning – II:</a:t>
            </a:r>
            <a:endParaRPr lang="en-US" dirty="0"/>
          </a:p>
          <a:p>
            <a:pPr lvl="1"/>
            <a:r>
              <a:rPr lang="en-US" dirty="0"/>
              <a:t>Activation Functions</a:t>
            </a:r>
          </a:p>
          <a:p>
            <a:pPr lvl="1"/>
            <a:r>
              <a:rPr lang="en-US" dirty="0"/>
              <a:t>Convolutional Neural Networks (CNNs)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3AA04-7F49-BFB7-C8EF-A9CFC8DA0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431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5479D-3560-E236-9C7A-B2D064B340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get Good Grades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F45A4-5DE7-7BB7-CAE4-67855B3F4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09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2A41-A5E4-305D-65A9-B815406DF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Good 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9AD91-5995-0B69-7C88-4CED20D45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Set Clear Goals</a:t>
            </a:r>
          </a:p>
          <a:p>
            <a:pPr marL="457200" lvl="1" indent="0">
              <a:buNone/>
            </a:pPr>
            <a:r>
              <a:rPr lang="en-GB" dirty="0"/>
              <a:t>Decide what GPA or grade you want and remind yourself regularly.</a:t>
            </a:r>
          </a:p>
          <a:p>
            <a:r>
              <a:rPr lang="en-GB" b="1" dirty="0"/>
              <a:t>Attend Classes Regularly</a:t>
            </a:r>
          </a:p>
          <a:p>
            <a:pPr marL="457200" lvl="1" indent="0">
              <a:buNone/>
            </a:pPr>
            <a:r>
              <a:rPr lang="en-GB" dirty="0"/>
              <a:t>Don’t miss lectures; being present makes learning easier.</a:t>
            </a:r>
          </a:p>
          <a:p>
            <a:r>
              <a:rPr lang="en-GB" b="1" dirty="0"/>
              <a:t>Take Smart Notes</a:t>
            </a:r>
          </a:p>
          <a:p>
            <a:pPr marL="457200" lvl="1" indent="0">
              <a:buNone/>
            </a:pPr>
            <a:r>
              <a:rPr lang="en-GB" dirty="0"/>
              <a:t>Write key points in your own words, not just what’s on the slides.</a:t>
            </a:r>
          </a:p>
          <a:p>
            <a:r>
              <a:rPr lang="en-GB" b="1" dirty="0"/>
              <a:t>Review Weekly</a:t>
            </a:r>
          </a:p>
          <a:p>
            <a:pPr marL="457200" lvl="1" indent="0">
              <a:buNone/>
            </a:pPr>
            <a:r>
              <a:rPr lang="en-GB" dirty="0"/>
              <a:t>Spend 30–60 mins each week revising; don’t wait until exams.</a:t>
            </a:r>
          </a:p>
          <a:p>
            <a:r>
              <a:rPr lang="en-GB" b="1" dirty="0"/>
              <a:t>Ask Questions</a:t>
            </a:r>
          </a:p>
          <a:p>
            <a:pPr marL="457200" lvl="1" indent="0">
              <a:buNone/>
            </a:pPr>
            <a:r>
              <a:rPr lang="en-GB" dirty="0"/>
              <a:t>Never hesitate to clarify doubts in class or with the teacher.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6BF48-D558-02E7-517B-D222E7DF7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529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3399-6008-2669-E000-7B8E3AD3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AA517A-5C95-7B90-8E9C-0F11DFF2A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88" y="1049888"/>
            <a:ext cx="11481882" cy="52202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B98FD-15A2-BE8C-2B58-2BDFD4DCF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5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BDA03-7F95-82AA-0BDB-2CF326F1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09D5-C374-628B-7CC8-ED3C442D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Good 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61F29-6AC3-D249-79E8-6A7F82914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Stay Organized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Keep track of assignments, quizzes, and exam dates.</a:t>
            </a:r>
          </a:p>
          <a:p>
            <a:r>
              <a:rPr lang="en-GB" b="1" dirty="0"/>
              <a:t>Practice Daily</a:t>
            </a:r>
          </a:p>
          <a:p>
            <a:pPr marL="457200" lvl="1" indent="0">
              <a:buNone/>
            </a:pPr>
            <a:r>
              <a:rPr lang="en-GB" dirty="0"/>
              <a:t>Solve problems, write code, or attempt MCQs to strengthen memory.</a:t>
            </a:r>
          </a:p>
          <a:p>
            <a:r>
              <a:rPr lang="en-GB" b="1" dirty="0"/>
              <a:t>Form Study Groups</a:t>
            </a:r>
          </a:p>
          <a:p>
            <a:pPr marL="457200" lvl="1" indent="0">
              <a:buNone/>
            </a:pPr>
            <a:r>
              <a:rPr lang="en-GB" dirty="0"/>
              <a:t>Discussing with classmates helps you understand better.</a:t>
            </a:r>
          </a:p>
          <a:p>
            <a:r>
              <a:rPr lang="en-GB" b="1" dirty="0"/>
              <a:t>Use Office Hours</a:t>
            </a:r>
          </a:p>
          <a:p>
            <a:pPr marL="457200" lvl="1" indent="0">
              <a:buNone/>
            </a:pPr>
            <a:r>
              <a:rPr lang="en-GB" dirty="0"/>
              <a:t>Meet your teachers for extra guidance on tough topics.</a:t>
            </a:r>
          </a:p>
          <a:p>
            <a:r>
              <a:rPr lang="en-GB" b="1" dirty="0"/>
              <a:t>Manage Time Wisely</a:t>
            </a:r>
          </a:p>
          <a:p>
            <a:pPr marL="457200" lvl="1" indent="0">
              <a:buNone/>
            </a:pPr>
            <a:r>
              <a:rPr lang="en-GB" dirty="0"/>
              <a:t>Use a planner or to-do list; avoid last-minute cramming.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4ADB3-0407-9E02-F676-FF615105A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669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7BC09-08ED-A956-2986-23E30FCB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036A-3934-211D-D16B-D1BD57E7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Good 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478E5-803F-8323-A3C6-C54B67BBA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Limit Distractions</a:t>
            </a:r>
          </a:p>
          <a:p>
            <a:pPr marL="457200" lvl="1" indent="0">
              <a:buNone/>
            </a:pPr>
            <a:r>
              <a:rPr lang="en-GB" dirty="0"/>
              <a:t>Reduce social media, gaming, and Netflix during study hours.</a:t>
            </a:r>
          </a:p>
          <a:p>
            <a:r>
              <a:rPr lang="en-GB" b="1" dirty="0"/>
              <a:t>Stay Healthy</a:t>
            </a:r>
          </a:p>
          <a:p>
            <a:pPr marL="457200" lvl="1" indent="0">
              <a:buNone/>
            </a:pPr>
            <a:r>
              <a:rPr lang="en-GB" dirty="0"/>
              <a:t>Sleep well, eat balanced meals, and exercise; a fresh mind learns faster.</a:t>
            </a:r>
          </a:p>
          <a:p>
            <a:r>
              <a:rPr lang="en-GB" b="1" dirty="0"/>
              <a:t>Practice Past Papers</a:t>
            </a:r>
          </a:p>
          <a:p>
            <a:pPr marL="457200" lvl="1" indent="0">
              <a:buNone/>
            </a:pPr>
            <a:r>
              <a:rPr lang="en-GB" dirty="0"/>
              <a:t>Train your brain with previous exam questions.</a:t>
            </a:r>
          </a:p>
          <a:p>
            <a:r>
              <a:rPr lang="en-GB" b="1" dirty="0"/>
              <a:t>Balance Studies &amp; Fun</a:t>
            </a:r>
          </a:p>
          <a:p>
            <a:pPr marL="457200" lvl="1" indent="0">
              <a:buNone/>
            </a:pPr>
            <a:r>
              <a:rPr lang="en-GB" dirty="0"/>
              <a:t>Take breaks and reward yourself for completing tasks.</a:t>
            </a:r>
          </a:p>
          <a:p>
            <a:r>
              <a:rPr lang="en-GB" b="1" dirty="0">
                <a:highlight>
                  <a:srgbClr val="00FFFF"/>
                </a:highlight>
              </a:rPr>
              <a:t>Believe in Yourself</a:t>
            </a:r>
          </a:p>
          <a:p>
            <a:pPr marL="457200" lvl="1" indent="0">
              <a:buNone/>
            </a:pPr>
            <a:r>
              <a:rPr lang="en-GB" dirty="0">
                <a:highlight>
                  <a:srgbClr val="00FFFF"/>
                </a:highlight>
              </a:rPr>
              <a:t>Confidence + consistent effort = excellent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B8C10-D528-73FE-B83D-DE2AF2F15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94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6C3158-22E7-C614-0B6D-F7F434616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714500"/>
            <a:ext cx="9144000" cy="3429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5C887-63C5-EA8F-FBBD-77CC6A615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339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ITEC Color Templete">
      <a:dk1>
        <a:srgbClr val="0F1A1D"/>
      </a:dk1>
      <a:lt1>
        <a:srgbClr val="D6E5EA"/>
      </a:lt1>
      <a:dk2>
        <a:srgbClr val="0F1A1D"/>
      </a:dk2>
      <a:lt2>
        <a:srgbClr val="DBE9F7"/>
      </a:lt2>
      <a:accent1>
        <a:srgbClr val="081726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3468</TotalTime>
  <Words>889</Words>
  <Application>Microsoft Office PowerPoint</Application>
  <PresentationFormat>Widescreen</PresentationFormat>
  <Paragraphs>162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Helvetica</vt:lpstr>
      <vt:lpstr>Times New Roman</vt:lpstr>
      <vt:lpstr>Wingdings</vt:lpstr>
      <vt:lpstr>Office Theme</vt:lpstr>
      <vt:lpstr>CS312 Artificial Intelligence  Course Introduction</vt:lpstr>
      <vt:lpstr>Introduction</vt:lpstr>
      <vt:lpstr>Books</vt:lpstr>
      <vt:lpstr>Grading Policy</vt:lpstr>
      <vt:lpstr>List of Topics</vt:lpstr>
      <vt:lpstr>Topics covers till Mid-Term</vt:lpstr>
      <vt:lpstr>Topics covers till Mid-Term</vt:lpstr>
      <vt:lpstr>Topics covers till Mid-Term</vt:lpstr>
      <vt:lpstr>Topics covers till Mid-Term</vt:lpstr>
      <vt:lpstr>Topics Covers, Mid ~ Final-Term</vt:lpstr>
      <vt:lpstr>Topics Covers, Mid ~ Final-Term</vt:lpstr>
      <vt:lpstr>How to get Good Grades</vt:lpstr>
      <vt:lpstr>How to get Good Grades</vt:lpstr>
      <vt:lpstr>Student Example</vt:lpstr>
      <vt:lpstr>How to get Good Grades</vt:lpstr>
      <vt:lpstr>How to get Good Grades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BS105 - Applied Physics</dc:title>
  <dc:creator>Mubashir Iqbal</dc:creator>
  <cp:lastModifiedBy>Mubashir Iqbal</cp:lastModifiedBy>
  <cp:revision>682</cp:revision>
  <dcterms:created xsi:type="dcterms:W3CDTF">2025-02-22T18:08:14Z</dcterms:created>
  <dcterms:modified xsi:type="dcterms:W3CDTF">2025-10-01T05:01:02Z</dcterms:modified>
</cp:coreProperties>
</file>