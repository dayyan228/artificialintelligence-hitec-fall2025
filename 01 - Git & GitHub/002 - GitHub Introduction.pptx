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61" r:id="rId3"/>
    <p:sldId id="387" r:id="rId4"/>
    <p:sldId id="390" r:id="rId5"/>
    <p:sldId id="388" r:id="rId6"/>
    <p:sldId id="389" r:id="rId7"/>
    <p:sldId id="386" r:id="rId8"/>
    <p:sldId id="391" r:id="rId9"/>
    <p:sldId id="392" r:id="rId10"/>
    <p:sldId id="393" r:id="rId11"/>
    <p:sldId id="394" r:id="rId12"/>
    <p:sldId id="395" r:id="rId13"/>
    <p:sldId id="397" r:id="rId14"/>
    <p:sldId id="398" r:id="rId15"/>
    <p:sldId id="385" r:id="rId16"/>
    <p:sldId id="35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4D4"/>
    <a:srgbClr val="B2B3AD"/>
    <a:srgbClr val="96978D"/>
    <a:srgbClr val="A4A59D"/>
    <a:srgbClr val="C6C7C1"/>
    <a:srgbClr val="BEB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96649" autoAdjust="0"/>
  </p:normalViewPr>
  <p:slideViewPr>
    <p:cSldViewPr snapToGrid="0">
      <p:cViewPr varScale="1">
        <p:scale>
          <a:sx n="103" d="100"/>
          <a:sy n="103" d="100"/>
        </p:scale>
        <p:origin x="9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67043-1ED9-4280-B30D-13F4B4DE3247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4BD96-1AF7-4450-99A7-A00EE4A95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21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4689AE-CB4D-5E97-1D4C-63AB686A07C3}"/>
              </a:ext>
            </a:extLst>
          </p:cNvPr>
          <p:cNvSpPr/>
          <p:nvPr userDrawn="1"/>
        </p:nvSpPr>
        <p:spPr>
          <a:xfrm>
            <a:off x="0" y="-42532"/>
            <a:ext cx="12192000" cy="69005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873A6-FC85-F129-0FF3-6D9468FF2A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6515" y="2208190"/>
            <a:ext cx="10259568" cy="1305404"/>
          </a:xfrm>
        </p:spPr>
        <p:txBody>
          <a:bodyPr anchor="b"/>
          <a:lstStyle>
            <a:lvl1pPr algn="ctr">
              <a:defRPr sz="6000" b="1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CS302 –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6E857-2B66-8433-D469-E0F15F210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6515" y="3602038"/>
            <a:ext cx="1025956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466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F40D-520F-F4CA-0576-5338E0573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65" y="33251"/>
            <a:ext cx="11381518" cy="820694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DA2AB-11BE-1B22-FF80-605EED1A1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11751834" cy="5478779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  <a:latin typeface="+mj-lt"/>
              </a:defRPr>
            </a:lvl1pPr>
            <a:lvl2pPr algn="just">
              <a:defRPr>
                <a:solidFill>
                  <a:schemeClr val="tx1"/>
                </a:solidFill>
                <a:latin typeface="+mj-lt"/>
              </a:defRPr>
            </a:lvl2pPr>
            <a:lvl3pPr algn="just">
              <a:defRPr>
                <a:solidFill>
                  <a:schemeClr val="tx1"/>
                </a:solidFill>
                <a:latin typeface="+mj-lt"/>
              </a:defRPr>
            </a:lvl3pPr>
            <a:lvl4pPr algn="just">
              <a:defRPr>
                <a:solidFill>
                  <a:schemeClr val="tx1"/>
                </a:solidFill>
                <a:latin typeface="+mj-lt"/>
              </a:defRPr>
            </a:lvl4pPr>
            <a:lvl5pPr algn="just"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817B780-5025-987F-3DC3-184DB53C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45378"/>
            <a:ext cx="168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472CE09-311C-4CDB-87AD-5FE14EBCB3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952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390B-285F-2C66-D3FE-5B823F0AE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5860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7D06B-72EC-43BE-409D-39B6E53EB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62451"/>
            <a:ext cx="10515600" cy="17272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F5279-CD73-19B5-AEA6-B78C3CC5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>
            <a:lvl1pPr>
              <a:defRPr sz="1800" b="1"/>
            </a:lvl1pPr>
          </a:lstStyle>
          <a:p>
            <a:fld id="{7472CE09-311C-4CDB-87AD-5FE14EBCB3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88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74FB-C9E5-C168-20A6-B3138D436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2E0BE-046F-1656-A145-BBACA25D7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C35C7-5AD0-4BB9-3A77-57B8F6E98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E76BB-C4E6-01DD-0010-DFAB60E04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9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54BE-9621-56F0-9219-A17957FDF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43CC7-D7C2-023B-1C8F-090430ACA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24881-EEE8-DDD3-EDE0-54CB2733B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64512-393A-A3D4-FBDE-1188EEFE4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3AABB-DAFA-7136-A2A0-006C345DB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6C1CE-5C88-9011-ACE6-158D2F0C1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66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BE0DF-359C-3772-3B71-EFDA2F53A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212C9-60ED-12F0-F460-F845501C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9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2C46D-2B95-949D-3D28-C145FC36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5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4F23-B588-F794-09EC-A2398E2BB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556CA-F0FE-7F30-B301-68E86B42D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5B6BF-FC9D-7271-45F2-8A2CDC471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51AB9-EA21-649F-D191-F1AC7A87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9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EF64-BD0E-7FFD-41EF-96D6A2913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D307B4-313F-A6E9-69DA-57E1B9E03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F3271-8CA8-9B7C-8ED5-D3E0D8F23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F880D-EF92-559D-6033-0C6E972C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6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28D9B-387D-38BF-CFF6-74C54DBC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FC8C8-5343-9FD0-1205-5ED3586DA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401AF-A25D-1B2E-85CC-A8223D7F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3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6F6999-1A20-3F30-1A01-EF7DEE430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1003C-3203-B1B0-D7FA-247447BB0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57813-20CF-6AD1-51DD-95ACB0B1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6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527C1B2-D306-5234-FCB6-417DA2E74BB8}"/>
              </a:ext>
            </a:extLst>
          </p:cNvPr>
          <p:cNvSpPr/>
          <p:nvPr userDrawn="1"/>
        </p:nvSpPr>
        <p:spPr>
          <a:xfrm>
            <a:off x="0" y="6366"/>
            <a:ext cx="12202633" cy="688353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alpha val="87000"/>
                </a:schemeClr>
              </a:gs>
              <a:gs pos="20000">
                <a:schemeClr val="bg1">
                  <a:lumMod val="75000"/>
                  <a:alpha val="87000"/>
                </a:schemeClr>
              </a:gs>
              <a:gs pos="100000">
                <a:schemeClr val="bg1">
                  <a:lumMod val="90000"/>
                  <a:alpha val="87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CCBC0-7F92-F92F-3AA1-0BDB8B916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4741" y="994522"/>
            <a:ext cx="11744182" cy="5423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</a:t>
            </a:r>
            <a:r>
              <a:rPr lang="en-US" dirty="0" err="1"/>
              <a:t>fksdfkljaslkfjlkasjflkajslfkjalskf</a:t>
            </a:r>
            <a:r>
              <a:rPr lang="en-US" dirty="0"/>
              <a:t> </a:t>
            </a:r>
            <a:r>
              <a:rPr lang="en-US" dirty="0" err="1"/>
              <a:t>jas</a:t>
            </a:r>
            <a:r>
              <a:rPr lang="en-US" dirty="0"/>
              <a:t> </a:t>
            </a:r>
            <a:r>
              <a:rPr lang="en-US" dirty="0" err="1"/>
              <a:t>fkljasl</a:t>
            </a:r>
            <a:r>
              <a:rPr lang="en-US" dirty="0"/>
              <a:t> </a:t>
            </a:r>
            <a:r>
              <a:rPr lang="en-US" dirty="0" err="1"/>
              <a:t>fjlas</a:t>
            </a:r>
            <a:r>
              <a:rPr lang="en-US" dirty="0"/>
              <a:t> </a:t>
            </a:r>
            <a:r>
              <a:rPr lang="en-US" dirty="0" err="1"/>
              <a:t>flkajsfjjaslfjalskfjlasjflsajlfjaslfjl</a:t>
            </a:r>
            <a:endParaRPr lang="en-US" dirty="0"/>
          </a:p>
          <a:p>
            <a:pPr lvl="0"/>
            <a:r>
              <a:rPr lang="en-US" dirty="0"/>
              <a:t>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C389EA-4E88-4DB2-DE6D-8FD6A4839D49}"/>
              </a:ext>
            </a:extLst>
          </p:cNvPr>
          <p:cNvSpPr/>
          <p:nvPr userDrawn="1"/>
        </p:nvSpPr>
        <p:spPr>
          <a:xfrm>
            <a:off x="10633" y="-12512"/>
            <a:ext cx="12192000" cy="905228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0000">
                <a:schemeClr val="bg1">
                  <a:lumMod val="75000"/>
                </a:schemeClr>
              </a:gs>
              <a:gs pos="100000">
                <a:schemeClr val="bg1">
                  <a:lumMod val="90000"/>
                </a:schemeClr>
              </a:gs>
            </a:gsLst>
            <a:lin ang="10800000" scaled="1"/>
          </a:gra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68E77-43C7-C229-9E42-88482BF4F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472CE09-311C-4CDB-87AD-5FE14EBCB3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AA29F4-108E-4774-317D-15F8F3E82F0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475" y="-25532"/>
            <a:ext cx="1047475" cy="104916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BC85BD5-EE8B-11F4-28D8-9421929526E2}"/>
              </a:ext>
            </a:extLst>
          </p:cNvPr>
          <p:cNvSpPr/>
          <p:nvPr userDrawn="1"/>
        </p:nvSpPr>
        <p:spPr>
          <a:xfrm>
            <a:off x="11461072" y="6459624"/>
            <a:ext cx="621437" cy="3651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/>
          <a:p>
            <a:pPr lvl="0"/>
            <a:endParaRPr lang="en-US" sz="1600" b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01503D-3365-9FDA-1D27-9F09309E3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39" y="47830"/>
            <a:ext cx="11503151" cy="873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090BF7-2D25-BFDB-733C-742A7A37279C}"/>
              </a:ext>
            </a:extLst>
          </p:cNvPr>
          <p:cNvSpPr/>
          <p:nvPr userDrawn="1"/>
        </p:nvSpPr>
        <p:spPr>
          <a:xfrm>
            <a:off x="0" y="6366"/>
            <a:ext cx="264741" cy="6870684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66000">
                <a:schemeClr val="bg1">
                  <a:lumMod val="75000"/>
                </a:schemeClr>
              </a:gs>
              <a:gs pos="100000">
                <a:schemeClr val="bg1">
                  <a:lumMod val="9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8CC72BD-F9D4-1C23-2FA6-E96748298632}"/>
              </a:ext>
            </a:extLst>
          </p:cNvPr>
          <p:cNvSpPr txBox="1">
            <a:spLocks/>
          </p:cNvSpPr>
          <p:nvPr userDrawn="1"/>
        </p:nvSpPr>
        <p:spPr>
          <a:xfrm>
            <a:off x="0" y="6464095"/>
            <a:ext cx="2183907" cy="3651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Git and GitHub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D95114-B7F4-9FE2-0FD1-F34133E59BA0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517" y="9981"/>
            <a:ext cx="912782" cy="91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1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678D8-39C5-136D-7DE7-C372254E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216" y="2189529"/>
            <a:ext cx="10259568" cy="1305404"/>
          </a:xfrm>
        </p:spPr>
        <p:txBody>
          <a:bodyPr>
            <a:normAutofit/>
          </a:bodyPr>
          <a:lstStyle/>
          <a:p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AE1AE-E1E7-EFE4-AB97-134DB7127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3225" y="4814596"/>
            <a:ext cx="9144000" cy="1873541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highlight>
                  <a:srgbClr val="00FFFF"/>
                </a:highlight>
              </a:rPr>
              <a:t>Lecture  #  02</a:t>
            </a:r>
          </a:p>
          <a:p>
            <a:pPr algn="r"/>
            <a:r>
              <a:rPr lang="en-US" b="1" dirty="0"/>
              <a:t>HITEC University, Taxila</a:t>
            </a:r>
          </a:p>
          <a:p>
            <a:pPr algn="r"/>
            <a:r>
              <a:rPr lang="en-US" b="1" dirty="0"/>
              <a:t>Mr. Mubashir Iqbal</a:t>
            </a:r>
          </a:p>
          <a:p>
            <a:pPr algn="r"/>
            <a:r>
              <a:rPr lang="en-US" b="1" dirty="0"/>
              <a:t>Fall-2025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FB4222-76A5-1BFD-57EE-BCDBDC32C63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5751366"/>
            <a:ext cx="3484401" cy="992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886C3D-1A43-E686-E95C-58547365E93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637" y="0"/>
            <a:ext cx="2705266" cy="118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21149"/>
      </p:ext>
    </p:extLst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C066-B27D-AA38-885C-2397EF3ED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GitHub?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6D9A2-03FB-796F-DEE1-8BF6927A2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5" y="960121"/>
            <a:ext cx="11721157" cy="5478779"/>
          </a:xfrm>
        </p:spPr>
        <p:txBody>
          <a:bodyPr>
            <a:normAutofit/>
          </a:bodyPr>
          <a:lstStyle/>
          <a:p>
            <a:endParaRPr lang="en-GB" b="1"/>
          </a:p>
          <a:p>
            <a:r>
              <a:rPr lang="en-GB" b="1"/>
              <a:t>GitHub</a:t>
            </a:r>
            <a:r>
              <a:rPr lang="en-GB"/>
              <a:t> </a:t>
            </a:r>
            <a:r>
              <a:rPr lang="en-GB" dirty="0"/>
              <a:t>is a web-based platform used for </a:t>
            </a:r>
            <a:r>
              <a:rPr lang="en-GB" b="1" dirty="0"/>
              <a:t>version control</a:t>
            </a:r>
            <a:r>
              <a:rPr lang="en-GB" dirty="0"/>
              <a:t>, </a:t>
            </a:r>
            <a:r>
              <a:rPr lang="en-GB" b="1" dirty="0"/>
              <a:t>collaboration</a:t>
            </a:r>
            <a:r>
              <a:rPr lang="en-GB" dirty="0"/>
              <a:t>, and </a:t>
            </a:r>
            <a:r>
              <a:rPr lang="en-GB" b="1" dirty="0"/>
              <a:t>code management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It allows multiple developers to work on the same project simultaneously, track changes, and store project files safely using a system called </a:t>
            </a:r>
            <a:r>
              <a:rPr lang="en-GB" b="1" dirty="0"/>
              <a:t>Git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9F48D-8FC8-EA4C-9F18-AB41CC3BC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z="1800" b="1" smtClean="0"/>
              <a:pPr/>
              <a:t>2</a:t>
            </a:fld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572776502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74993-9A3F-72C7-C0AF-D714A91B1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GitHub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688DE8C-2AA0-1086-310F-4FAACB5F0A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3588777"/>
              </p:ext>
            </p:extLst>
          </p:nvPr>
        </p:nvGraphicFramePr>
        <p:xfrm>
          <a:off x="813820" y="1266245"/>
          <a:ext cx="10980074" cy="4572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6079">
                  <a:extLst>
                    <a:ext uri="{9D8B030D-6E8A-4147-A177-3AD203B41FA5}">
                      <a16:colId xmlns:a16="http://schemas.microsoft.com/office/drawing/2014/main" val="3876886991"/>
                    </a:ext>
                  </a:extLst>
                </a:gridCol>
                <a:gridCol w="9603995">
                  <a:extLst>
                    <a:ext uri="{9D8B030D-6E8A-4147-A177-3AD203B41FA5}">
                      <a16:colId xmlns:a16="http://schemas.microsoft.com/office/drawing/2014/main" val="9544802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Year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Milestone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244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2005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Git was created by </a:t>
                      </a:r>
                      <a:r>
                        <a:rPr lang="en-GB" sz="2400" b="1"/>
                        <a:t>Linus Torvalds</a:t>
                      </a:r>
                      <a:r>
                        <a:rPr lang="en-GB" sz="2400"/>
                        <a:t>, the founder of Linux, as a tool to manage Linux kernel code efficiently.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9960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2008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/>
                        <a:t>GitHub</a:t>
                      </a:r>
                      <a:r>
                        <a:rPr lang="en-GB" sz="2400"/>
                        <a:t> was launched by </a:t>
                      </a:r>
                      <a:r>
                        <a:rPr lang="en-GB" sz="2400" b="1"/>
                        <a:t>Tom Preston-Werner</a:t>
                      </a:r>
                      <a:r>
                        <a:rPr lang="en-GB" sz="2400"/>
                        <a:t>, </a:t>
                      </a:r>
                      <a:r>
                        <a:rPr lang="en-GB" sz="2400" b="1"/>
                        <a:t>Chris Wanstrath</a:t>
                      </a:r>
                      <a:r>
                        <a:rPr lang="en-GB" sz="2400"/>
                        <a:t>, </a:t>
                      </a:r>
                      <a:r>
                        <a:rPr lang="en-GB" sz="2400" b="1"/>
                        <a:t>P. J. Hyett</a:t>
                      </a:r>
                      <a:r>
                        <a:rPr lang="en-GB" sz="2400"/>
                        <a:t>, and </a:t>
                      </a:r>
                      <a:r>
                        <a:rPr lang="en-GB" sz="2400" b="1"/>
                        <a:t>Scott Chacon</a:t>
                      </a:r>
                      <a:r>
                        <a:rPr lang="en-GB" sz="2400"/>
                        <a:t> to make Git easier to use via a web interface.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84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2012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GitHub became the most popular Git repository hosting service, reaching 1 million users.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1369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2018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/>
                        <a:t>Microsoft</a:t>
                      </a:r>
                      <a:r>
                        <a:rPr lang="en-GB" sz="2400"/>
                        <a:t> acquired GitHub for </a:t>
                      </a:r>
                      <a:r>
                        <a:rPr lang="en-GB" sz="2400" b="1"/>
                        <a:t>$7.5 billion</a:t>
                      </a:r>
                      <a:r>
                        <a:rPr lang="en-GB" sz="2400"/>
                        <a:t>, integrating it with Azure cloud services.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482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Today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GitHub is the world’s largest coding collaboration platform, hosting over </a:t>
                      </a:r>
                      <a:r>
                        <a:rPr lang="en-GB" sz="2400" b="1" dirty="0"/>
                        <a:t>100 million repositories</a:t>
                      </a:r>
                      <a:r>
                        <a:rPr lang="en-GB" sz="2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72516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D7E8E-02E6-3364-46BC-BEB9D3FD9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557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D9130-413B-10CB-EFAA-15601AA3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GitHub Works (Working Principle)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92FA4-6D2C-2A88-6B9E-5C1FE0C09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GitHub is built on top of </a:t>
            </a:r>
            <a:r>
              <a:rPr lang="en-GB" b="1" dirty="0"/>
              <a:t>Git</a:t>
            </a:r>
            <a:r>
              <a:rPr lang="en-GB" dirty="0"/>
              <a:t>, a distributed version control system.</a:t>
            </a:r>
            <a:br>
              <a:rPr lang="en-GB" dirty="0"/>
            </a:br>
            <a:r>
              <a:rPr lang="en-GB" dirty="0"/>
              <a:t>Here’s the simplified process:</a:t>
            </a:r>
          </a:p>
          <a:p>
            <a:r>
              <a:rPr lang="en-GB" b="1" dirty="0"/>
              <a:t>Repository (Repo): </a:t>
            </a:r>
            <a:r>
              <a:rPr lang="en-GB" dirty="0"/>
              <a:t>A repository is a project folder on GitHub where your code, files, and version history are stored.</a:t>
            </a:r>
          </a:p>
          <a:p>
            <a:r>
              <a:rPr lang="en-GB" b="1" dirty="0"/>
              <a:t>Clone or Fork: </a:t>
            </a:r>
            <a:r>
              <a:rPr lang="en-GB" dirty="0"/>
              <a:t>Developers copy (clone/fork) the repository to their local computer to work on it.</a:t>
            </a:r>
          </a:p>
          <a:p>
            <a:r>
              <a:rPr lang="en-GB" b="1" dirty="0"/>
              <a:t>Commit Changes: </a:t>
            </a:r>
            <a:r>
              <a:rPr lang="en-GB" dirty="0"/>
              <a:t>After making changes to the code, they </a:t>
            </a:r>
            <a:r>
              <a:rPr lang="en-GB" i="1" dirty="0"/>
              <a:t>commit</a:t>
            </a:r>
            <a:r>
              <a:rPr lang="en-GB" dirty="0"/>
              <a:t> (save) those changes locally with a short message.</a:t>
            </a:r>
          </a:p>
          <a:p>
            <a:r>
              <a:rPr lang="en-GB" b="1" dirty="0"/>
              <a:t>Push to GitHub: </a:t>
            </a:r>
            <a:r>
              <a:rPr lang="en-GB" dirty="0"/>
              <a:t>The updated code is </a:t>
            </a:r>
            <a:r>
              <a:rPr lang="en-GB" i="1" dirty="0"/>
              <a:t>pushed</a:t>
            </a:r>
            <a:r>
              <a:rPr lang="en-GB" dirty="0"/>
              <a:t> (uploaded) to GitHub, so others can see and use it.</a:t>
            </a:r>
          </a:p>
          <a:p>
            <a:r>
              <a:rPr lang="en-GB" b="1" dirty="0"/>
              <a:t>Pull Requests (PR): </a:t>
            </a:r>
            <a:r>
              <a:rPr lang="en-GB" dirty="0"/>
              <a:t>Developers request to merge their changes into the main branch. The project owner reviews, comments, and merges it if acceptable.</a:t>
            </a:r>
          </a:p>
          <a:p>
            <a:r>
              <a:rPr lang="en-GB" b="1" dirty="0"/>
              <a:t>Collaboration: </a:t>
            </a:r>
            <a:r>
              <a:rPr lang="en-GB" dirty="0"/>
              <a:t>Multiple people can work together, manage bugs (issues), and track project progress with GitHub’s built-in tools.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0A24B-79A6-14C8-09F2-C602CDBC68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131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92E01-0D9F-219C-FB1F-32B3CB943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Benefits of GitHub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A36BA-7293-812B-BB89-B27A05DA7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3299F0D-25BB-CEA8-22D6-6AFB8E92D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Version Control: </a:t>
            </a:r>
            <a:r>
              <a:rPr lang="en-GB" dirty="0"/>
              <a:t>Tracks every change in your code so you can revert to older versions anytime.</a:t>
            </a:r>
          </a:p>
          <a:p>
            <a:r>
              <a:rPr lang="en-GB" b="1" dirty="0"/>
              <a:t>Collaboration:</a:t>
            </a:r>
            <a:r>
              <a:rPr lang="en-GB" dirty="0"/>
              <a:t> Enables teamwork — multiple developers can contribute without overwriting each other’s work.</a:t>
            </a:r>
          </a:p>
          <a:p>
            <a:r>
              <a:rPr lang="en-GB" b="1" dirty="0"/>
              <a:t>Backup &amp; Security:</a:t>
            </a:r>
            <a:r>
              <a:rPr lang="en-GB" dirty="0"/>
              <a:t> Your projects are stored in the cloud, so you won’t lose your data.</a:t>
            </a:r>
          </a:p>
          <a:p>
            <a:r>
              <a:rPr lang="en-GB" b="1" dirty="0"/>
              <a:t>Open Source Community:</a:t>
            </a:r>
            <a:r>
              <a:rPr lang="en-GB" dirty="0"/>
              <a:t> Millions of open-source projects are hosted on GitHub, allowing you to learn, contribute, and grow.</a:t>
            </a:r>
          </a:p>
          <a:p>
            <a:r>
              <a:rPr lang="en-GB" b="1" dirty="0"/>
              <a:t>Integration &amp; Automation:</a:t>
            </a:r>
            <a:r>
              <a:rPr lang="en-GB" dirty="0"/>
              <a:t> Works seamlessly with tools like GitHub Actions, Jenkins, and Docker for CI/CD automation.</a:t>
            </a:r>
          </a:p>
          <a:p>
            <a:r>
              <a:rPr lang="en-GB" b="1" dirty="0"/>
              <a:t>Professional Portfolio:</a:t>
            </a:r>
            <a:r>
              <a:rPr lang="en-GB" dirty="0"/>
              <a:t> Developers showcase their coding skills and projects — GitHub acts as a resume for programmers.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602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DAD61-1E01-3948-E787-F72BBF9C9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local Folder (Project)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DD754-8751-B964-8729-2598422B5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When you upload a project from your PC to GitHub, you are basically:</a:t>
            </a:r>
          </a:p>
          <a:p>
            <a:r>
              <a:rPr lang="en-GB" dirty="0"/>
              <a:t>“Connecting your local project folder to an online GitHub repository and pushing (sending) your files there.”</a:t>
            </a:r>
          </a:p>
          <a:p>
            <a:endParaRPr lang="en-GB" b="1" dirty="0"/>
          </a:p>
          <a:p>
            <a:pPr marL="0" indent="0">
              <a:buNone/>
            </a:pPr>
            <a:r>
              <a:rPr lang="en-GB" b="1" dirty="0"/>
              <a:t>Step-by-Step Process</a:t>
            </a:r>
          </a:p>
          <a:p>
            <a:pPr marL="0" indent="0">
              <a:buNone/>
            </a:pPr>
            <a:r>
              <a:rPr lang="en-GB" b="1" dirty="0"/>
              <a:t>Step 1: Install Git</a:t>
            </a:r>
          </a:p>
          <a:p>
            <a:pPr lvl="1"/>
            <a:r>
              <a:rPr lang="en-GB" dirty="0"/>
              <a:t>First, install </a:t>
            </a:r>
            <a:r>
              <a:rPr lang="en-GB" b="1" dirty="0"/>
              <a:t>Git</a:t>
            </a:r>
            <a:r>
              <a:rPr lang="en-GB" dirty="0"/>
              <a:t> on your system. 👉 Download from: </a:t>
            </a:r>
            <a:r>
              <a:rPr lang="en-GB" dirty="0">
                <a:hlinkClick r:id="rId2"/>
              </a:rPr>
              <a:t>https://git-scm.com</a:t>
            </a:r>
            <a:endParaRPr lang="en-GB" dirty="0"/>
          </a:p>
          <a:p>
            <a:pPr lvl="1"/>
            <a:r>
              <a:rPr lang="en-GB" dirty="0"/>
              <a:t>After installation, verify it by running, and configured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EE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git --version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1B6F9-EBB3-8ADC-132A-1EFB186F2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684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F437-1AA0-0DF4-127B-9741A859F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local Folder (Project)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56A77-810A-1A5F-CE4D-A99BC8F21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2: C</a:t>
            </a:r>
            <a:r>
              <a:rPr lang="en-GB" b="1" dirty="0" err="1"/>
              <a:t>reate</a:t>
            </a:r>
            <a:r>
              <a:rPr lang="en-GB" b="1" dirty="0"/>
              <a:t> a GitHub Repository</a:t>
            </a:r>
          </a:p>
          <a:p>
            <a:pPr lvl="1"/>
            <a:r>
              <a:rPr lang="en-GB" dirty="0"/>
              <a:t>Log in to your </a:t>
            </a:r>
            <a:r>
              <a:rPr lang="en-GB" b="1" dirty="0"/>
              <a:t>GitHub account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Click the </a:t>
            </a:r>
            <a:r>
              <a:rPr lang="en-GB" b="1" dirty="0"/>
              <a:t>“+”</a:t>
            </a:r>
            <a:r>
              <a:rPr lang="en-GB" dirty="0"/>
              <a:t> button (top-right corner) → select </a:t>
            </a:r>
            <a:r>
              <a:rPr lang="en-GB" b="1" dirty="0"/>
              <a:t>“New Repository”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Give your repository a name (e.g., </a:t>
            </a:r>
            <a:r>
              <a:rPr lang="en-GB" i="1" dirty="0"/>
              <a:t>my-first-project</a:t>
            </a:r>
            <a:r>
              <a:rPr lang="en-GB" dirty="0"/>
              <a:t>).</a:t>
            </a:r>
          </a:p>
          <a:p>
            <a:pPr lvl="1"/>
            <a:r>
              <a:rPr lang="en-GB" dirty="0"/>
              <a:t>Choose public or private.</a:t>
            </a:r>
          </a:p>
          <a:p>
            <a:pPr lvl="1"/>
            <a:r>
              <a:rPr lang="en-GB" dirty="0"/>
              <a:t>Click </a:t>
            </a:r>
            <a:r>
              <a:rPr lang="en-GB" b="1" dirty="0"/>
              <a:t>“Create Repository”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Copy the repository link (it looks like this):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b="1" dirty="0">
                <a:highlight>
                  <a:srgbClr val="FFFF00"/>
                </a:highlight>
              </a:rPr>
              <a:t>https://github.com/your-username/my-first-project.git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04117-C04F-BB3E-B609-E0EB3EDD76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127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40A2-5612-D529-78D5-23C49691F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local Folder (Project)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398A9-D6C6-2F29-FE77-6E353A1AD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Step 3: Open Your Project Folder in Terminal or CMD</a:t>
            </a:r>
          </a:p>
          <a:p>
            <a:r>
              <a:rPr lang="en-GB" dirty="0"/>
              <a:t>Navigate to your project directory on your local computer:</a:t>
            </a:r>
          </a:p>
          <a:p>
            <a:pPr marL="0" indent="0">
              <a:buNone/>
            </a:pPr>
            <a:r>
              <a:rPr lang="en-GB" dirty="0"/>
              <a:t>		</a:t>
            </a:r>
            <a:r>
              <a:rPr lang="en-GB" b="1" dirty="0">
                <a:highlight>
                  <a:srgbClr val="FFFF00"/>
                </a:highlight>
              </a:rPr>
              <a:t>cd path/to/your/project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GB" b="1" dirty="0"/>
              <a:t>Step 4: Initialize Git in Your Project</a:t>
            </a:r>
          </a:p>
          <a:p>
            <a:r>
              <a:rPr lang="en-GB" dirty="0"/>
              <a:t>Initialize your folder as a Git repository: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b="1" dirty="0"/>
              <a:t>		</a:t>
            </a:r>
            <a:r>
              <a:rPr lang="en-US" b="1" dirty="0">
                <a:highlight>
                  <a:srgbClr val="FFFF00"/>
                </a:highlight>
              </a:rPr>
              <a:t>git </a:t>
            </a:r>
            <a:r>
              <a:rPr lang="en-US" b="1" dirty="0" err="1">
                <a:highlight>
                  <a:srgbClr val="FFFF00"/>
                </a:highlight>
              </a:rPr>
              <a:t>init</a:t>
            </a:r>
            <a:endParaRPr lang="en-US" b="1" dirty="0">
              <a:highlight>
                <a:srgbClr val="FFFF00"/>
              </a:highlight>
            </a:endParaRPr>
          </a:p>
          <a:p>
            <a:pPr marL="457200" lvl="1" indent="0">
              <a:buNone/>
            </a:pPr>
            <a:r>
              <a:rPr lang="en-GB" dirty="0"/>
              <a:t>This command creates a hidden folder .git that tracks your file changes.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97E42-5656-0417-F983-BCAFFCF57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261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FCC1F-6A20-10C8-1266-6AFEB487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local Folder (Project)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1658A-700D-3E01-566D-923D820D9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Step 5: Add Your Project Files</a:t>
            </a:r>
          </a:p>
          <a:p>
            <a:r>
              <a:rPr lang="en-GB" dirty="0"/>
              <a:t>Add all project files to Git:</a:t>
            </a:r>
          </a:p>
          <a:p>
            <a:pPr marL="0" indent="0">
              <a:buNone/>
            </a:pPr>
            <a:r>
              <a:rPr lang="en-GB" dirty="0"/>
              <a:t>		</a:t>
            </a:r>
            <a:r>
              <a:rPr lang="en-GB" b="1" dirty="0">
                <a:highlight>
                  <a:srgbClr val="FFFF00"/>
                </a:highlight>
              </a:rPr>
              <a:t>git add .</a:t>
            </a:r>
          </a:p>
          <a:p>
            <a:pPr marL="0" indent="0">
              <a:buNone/>
            </a:pPr>
            <a:r>
              <a:rPr lang="en-GB" dirty="0"/>
              <a:t>	(The dot . means “add everything in this folder.”)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Step 6: Commit Your Files</a:t>
            </a:r>
          </a:p>
          <a:p>
            <a:r>
              <a:rPr lang="en-GB" dirty="0"/>
              <a:t>Commit the added files with a message describing your changes:</a:t>
            </a:r>
          </a:p>
          <a:p>
            <a:pPr marL="0" indent="0">
              <a:buNone/>
            </a:pPr>
            <a:r>
              <a:rPr lang="en-GB" dirty="0"/>
              <a:t>		</a:t>
            </a:r>
            <a:r>
              <a:rPr lang="en-GB" b="1" dirty="0">
                <a:highlight>
                  <a:srgbClr val="FFFF00"/>
                </a:highlight>
              </a:rPr>
              <a:t>git commit -m "Initial project upload"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AD164-AFDA-07BD-8B72-C97F4774F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978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E1F19-0A81-8062-4FFF-081731199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local Folder (Project)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31A43-F9E6-A3CD-86D8-5F00999A8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7: Connect Local Repo with GitHub Repo</a:t>
            </a:r>
          </a:p>
          <a:p>
            <a:r>
              <a:rPr lang="en-US" dirty="0"/>
              <a:t>Link your local folder with the online GitHub repository:</a:t>
            </a:r>
          </a:p>
          <a:p>
            <a:pPr marL="457200" lvl="1" indent="0">
              <a:buNone/>
            </a:pPr>
            <a:r>
              <a:rPr lang="en-US" b="1" dirty="0">
                <a:highlight>
                  <a:srgbClr val="FFFF00"/>
                </a:highlight>
              </a:rPr>
              <a:t>git remote add origin https://github.com/your-username/my-first-project.git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Step 8: Push Your Project to GitHub</a:t>
            </a:r>
          </a:p>
          <a:p>
            <a:r>
              <a:rPr lang="en-US" dirty="0"/>
              <a:t>Now upload (push) your project files: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>
                <a:highlight>
                  <a:srgbClr val="FFFF00"/>
                </a:highlight>
              </a:rPr>
              <a:t>git push -u origin main</a:t>
            </a:r>
          </a:p>
          <a:p>
            <a:r>
              <a:rPr lang="en-US" dirty="0"/>
              <a:t>If “main” doesn’t exist, try “master”: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>
                <a:highlight>
                  <a:srgbClr val="FFFF00"/>
                </a:highlight>
              </a:rPr>
              <a:t>git push -u origin master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AE457-8DE3-6D5C-A503-7A9F7887C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874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56102-ED47-B776-D5A3-33FD3606D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local Folder (Project)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BCC0F-3E4B-42DE-13B0-F9ABC70A7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Step 9: Verify Upload</a:t>
            </a:r>
          </a:p>
          <a:p>
            <a:r>
              <a:rPr lang="en-GB" dirty="0"/>
              <a:t>Go back to your GitHub repository page and refresh it —You’ll see all your project files uploaded successfully!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5CCD4-DC18-5F5B-93BF-7D1BF2B21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0DAAC8-BF23-7F89-D24E-7F56F1DB2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09720"/>
              </p:ext>
            </p:extLst>
          </p:nvPr>
        </p:nvGraphicFramePr>
        <p:xfrm>
          <a:off x="1698462" y="3504478"/>
          <a:ext cx="9218355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3111">
                  <a:extLst>
                    <a:ext uri="{9D8B030D-6E8A-4147-A177-3AD203B41FA5}">
                      <a16:colId xmlns:a16="http://schemas.microsoft.com/office/drawing/2014/main" val="1628887437"/>
                    </a:ext>
                  </a:extLst>
                </a:gridCol>
                <a:gridCol w="3879227">
                  <a:extLst>
                    <a:ext uri="{9D8B030D-6E8A-4147-A177-3AD203B41FA5}">
                      <a16:colId xmlns:a16="http://schemas.microsoft.com/office/drawing/2014/main" val="3913154893"/>
                    </a:ext>
                  </a:extLst>
                </a:gridCol>
                <a:gridCol w="4516017">
                  <a:extLst>
                    <a:ext uri="{9D8B030D-6E8A-4147-A177-3AD203B41FA5}">
                      <a16:colId xmlns:a16="http://schemas.microsoft.com/office/drawing/2014/main" val="6670254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/>
                        <a:t>Step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Command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Purpose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64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git </a:t>
                      </a:r>
                      <a:r>
                        <a:rPr lang="en-US" sz="2400" dirty="0" err="1"/>
                        <a:t>init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Initialize git in project folder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776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git add 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Add all 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437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git commit -m "message"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Save your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786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git remote add origin URL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Link with GitHub repo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8650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git push -u origin 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Upload to GitHub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72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479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28CAC-1D9F-DE7F-4A5A-3341ABB2F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and Push 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002A4-6197-F81C-DC21-E95F91071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GitHub works as a </a:t>
            </a:r>
            <a:r>
              <a:rPr lang="en-GB" b="1" dirty="0"/>
              <a:t>remote repository</a:t>
            </a:r>
            <a:r>
              <a:rPr lang="en-GB" dirty="0"/>
              <a:t> (online), while your computer stores a </a:t>
            </a:r>
            <a:r>
              <a:rPr lang="en-GB" b="1" dirty="0"/>
              <a:t>local repository</a:t>
            </a:r>
            <a:r>
              <a:rPr lang="en-GB" dirty="0"/>
              <a:t> (offline copy). To keep both copies </a:t>
            </a:r>
            <a:r>
              <a:rPr lang="en-GB" b="1" dirty="0"/>
              <a:t>synchronized</a:t>
            </a:r>
            <a:r>
              <a:rPr lang="en-GB" dirty="0"/>
              <a:t>, we use two main commands:</a:t>
            </a:r>
          </a:p>
          <a:p>
            <a:r>
              <a:rPr lang="en-GB" b="1" dirty="0"/>
              <a:t>Push</a:t>
            </a:r>
            <a:r>
              <a:rPr lang="en-GB" dirty="0"/>
              <a:t> → Send (upload) changes from your computer </a:t>
            </a:r>
            <a:r>
              <a:rPr lang="en-GB" b="1" dirty="0"/>
              <a:t>to GitHub</a:t>
            </a:r>
            <a:endParaRPr lang="en-GB" dirty="0"/>
          </a:p>
          <a:p>
            <a:r>
              <a:rPr lang="en-GB" b="1" dirty="0"/>
              <a:t>Pull</a:t>
            </a:r>
            <a:r>
              <a:rPr lang="en-GB" dirty="0"/>
              <a:t> → Get (download) the latest changes </a:t>
            </a:r>
            <a:r>
              <a:rPr lang="en-GB" b="1" dirty="0"/>
              <a:t>from GitHub to your computer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09757-A8B0-52FF-458C-74F2308AD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245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5353-4005-93FD-72B4-3523AA30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4402B-DF56-7B4B-5F8A-35C7FBC71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1. Push Command</a:t>
            </a:r>
          </a:p>
          <a:p>
            <a:pPr marL="0" indent="0">
              <a:buNone/>
            </a:pPr>
            <a:r>
              <a:rPr lang="en-GB" dirty="0"/>
              <a:t>git push uploads your committed changes from your </a:t>
            </a:r>
            <a:r>
              <a:rPr lang="en-GB" b="1" dirty="0"/>
              <a:t>local repository</a:t>
            </a:r>
            <a:r>
              <a:rPr lang="en-GB" dirty="0"/>
              <a:t> to the </a:t>
            </a:r>
            <a:r>
              <a:rPr lang="en-GB" b="1" dirty="0"/>
              <a:t>remote repository</a:t>
            </a:r>
            <a:r>
              <a:rPr lang="en-GB" dirty="0"/>
              <a:t> (GitHub).</a:t>
            </a:r>
          </a:p>
          <a:p>
            <a:r>
              <a:rPr lang="en-GB" b="1" dirty="0"/>
              <a:t>Purpose</a:t>
            </a:r>
          </a:p>
          <a:p>
            <a:pPr marL="457200" lvl="1" indent="0">
              <a:buNone/>
            </a:pPr>
            <a:r>
              <a:rPr lang="en-GB" dirty="0"/>
              <a:t>To share your updates with others or to save your latest project version online.</a:t>
            </a:r>
          </a:p>
          <a:p>
            <a:pPr marL="0" indent="0">
              <a:buNone/>
            </a:pPr>
            <a:r>
              <a:rPr lang="en-GB" b="1" dirty="0"/>
              <a:t>Example</a:t>
            </a:r>
          </a:p>
          <a:p>
            <a:pPr marL="0" indent="0">
              <a:buNone/>
            </a:pPr>
            <a:r>
              <a:rPr lang="en-GB" dirty="0"/>
              <a:t>		</a:t>
            </a:r>
            <a:r>
              <a:rPr lang="en-GB" b="1" dirty="0">
                <a:highlight>
                  <a:srgbClr val="FFFF00"/>
                </a:highlight>
              </a:rPr>
              <a:t>git push origin main</a:t>
            </a:r>
          </a:p>
          <a:p>
            <a:r>
              <a:rPr lang="en-GB" dirty="0"/>
              <a:t>origin → the name of your GitHub repository link</a:t>
            </a:r>
          </a:p>
          <a:p>
            <a:r>
              <a:rPr lang="en-GB" dirty="0"/>
              <a:t>main → the branch you’re pushing to</a:t>
            </a:r>
          </a:p>
          <a:p>
            <a:endParaRPr lang="en-US" dirty="0"/>
          </a:p>
          <a:p>
            <a:pPr marL="0" indent="0">
              <a:buNone/>
            </a:pPr>
            <a:r>
              <a:rPr lang="en-GB" dirty="0"/>
              <a:t>Your updated code appears on GitHub immediately.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9B1AF-DEC9-1043-3329-81EAB364A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287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C8A2-8C7F-9995-8D5F-F2CD12107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A1F07-41FE-C729-956F-326611B0A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2. Pull Command</a:t>
            </a:r>
          </a:p>
          <a:p>
            <a:pPr marL="0" indent="0">
              <a:buNone/>
            </a:pPr>
            <a:r>
              <a:rPr lang="en-GB" dirty="0"/>
              <a:t>git pull downloads and merges the latest changes </a:t>
            </a:r>
            <a:r>
              <a:rPr lang="en-GB" b="1" dirty="0"/>
              <a:t>from GitHub</a:t>
            </a:r>
            <a:r>
              <a:rPr lang="en-GB" dirty="0"/>
              <a:t> into your </a:t>
            </a:r>
            <a:r>
              <a:rPr lang="en-GB" b="1" dirty="0"/>
              <a:t>local project folder</a:t>
            </a:r>
            <a:r>
              <a:rPr lang="en-GB" dirty="0"/>
              <a:t>.</a:t>
            </a:r>
          </a:p>
          <a:p>
            <a:endParaRPr lang="en-GB" b="1" dirty="0"/>
          </a:p>
          <a:p>
            <a:r>
              <a:rPr lang="en-GB" b="1" dirty="0"/>
              <a:t>Purpose</a:t>
            </a:r>
          </a:p>
          <a:p>
            <a:pPr marL="457200" lvl="1" indent="0">
              <a:buNone/>
            </a:pPr>
            <a:r>
              <a:rPr lang="en-GB" dirty="0"/>
              <a:t>To make sure your local code is up-to-date with what’s on GitHub — especially when you’re working in a team.</a:t>
            </a:r>
          </a:p>
          <a:p>
            <a:pPr marL="0" indent="0">
              <a:buNone/>
            </a:pPr>
            <a:r>
              <a:rPr lang="en-GB" b="1" dirty="0"/>
              <a:t>Example</a:t>
            </a:r>
          </a:p>
          <a:p>
            <a:pPr marL="0" indent="0">
              <a:buNone/>
            </a:pPr>
            <a:r>
              <a:rPr lang="en-GB" dirty="0"/>
              <a:t>		</a:t>
            </a:r>
            <a:r>
              <a:rPr lang="en-GB" b="1" dirty="0">
                <a:highlight>
                  <a:srgbClr val="FFFF00"/>
                </a:highlight>
              </a:rPr>
              <a:t>git pull origin main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This will fetch (download) and merge the changes from the </a:t>
            </a:r>
            <a:r>
              <a:rPr lang="en-GB" b="1" dirty="0"/>
              <a:t>main branch</a:t>
            </a:r>
            <a:r>
              <a:rPr lang="en-GB" dirty="0"/>
              <a:t> on GitHub.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7F3CE-E450-1469-8506-4A02763512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12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3457C-D029-CBFE-61A0-E81CB08EB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Congratulations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7891C-B2AB-4AE3-0F61-761A64EA8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62451"/>
            <a:ext cx="10515600" cy="113328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You just completed your first lecture on GitHub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09367-3ABF-9FEF-C357-94BAFBA5A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49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BE2E6-8787-3D1D-1192-47216B601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Picture 8" descr="Funny Gifs : rest Gif - VSGIF.com">
            <a:extLst>
              <a:ext uri="{FF2B5EF4-FFF2-40B4-BE49-F238E27FC236}">
                <a16:creationId xmlns:a16="http://schemas.microsoft.com/office/drawing/2014/main" id="{333B7F7B-89E6-D572-5979-F7C4202F8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1" y="766414"/>
            <a:ext cx="10549803" cy="5714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869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ITEC Color Templete">
      <a:dk1>
        <a:srgbClr val="0F1A1D"/>
      </a:dk1>
      <a:lt1>
        <a:srgbClr val="D6E5EA"/>
      </a:lt1>
      <a:dk2>
        <a:srgbClr val="0F1A1D"/>
      </a:dk2>
      <a:lt2>
        <a:srgbClr val="DBE9F7"/>
      </a:lt2>
      <a:accent1>
        <a:srgbClr val="081726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3691</TotalTime>
  <Words>1136</Words>
  <Application>Microsoft Office PowerPoint</Application>
  <PresentationFormat>Widescreen</PresentationFormat>
  <Paragraphs>151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Consolas</vt:lpstr>
      <vt:lpstr>Times New Roman</vt:lpstr>
      <vt:lpstr>Office Theme</vt:lpstr>
      <vt:lpstr>Github</vt:lpstr>
      <vt:lpstr>What is GitHub?</vt:lpstr>
      <vt:lpstr>History of GitHub</vt:lpstr>
      <vt:lpstr>How GitHub Works (Working Principle)</vt:lpstr>
      <vt:lpstr>Key Benefits of GitHub</vt:lpstr>
      <vt:lpstr>Uploading local Folder (Project)</vt:lpstr>
      <vt:lpstr>Uploading local Folder (Project)</vt:lpstr>
      <vt:lpstr>Uploading local Folder (Project)</vt:lpstr>
      <vt:lpstr>Uploading local Folder (Project)</vt:lpstr>
      <vt:lpstr>Uploading local Folder (Project)</vt:lpstr>
      <vt:lpstr>Uploading local Folder (Project)</vt:lpstr>
      <vt:lpstr>Pull and Push ??</vt:lpstr>
      <vt:lpstr>PowerPoint Presentation</vt:lpstr>
      <vt:lpstr>PowerPoint Presentation</vt:lpstr>
      <vt:lpstr>Congratulations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BS105 - Applied Physics</dc:title>
  <dc:creator>Mubashir Iqbal</dc:creator>
  <cp:lastModifiedBy>Mubashir Iqbal</cp:lastModifiedBy>
  <cp:revision>739</cp:revision>
  <dcterms:created xsi:type="dcterms:W3CDTF">2025-02-22T18:08:14Z</dcterms:created>
  <dcterms:modified xsi:type="dcterms:W3CDTF">2025-10-19T18:07:38Z</dcterms:modified>
</cp:coreProperties>
</file>